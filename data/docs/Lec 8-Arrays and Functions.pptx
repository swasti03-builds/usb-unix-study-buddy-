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85" r:id="rId3"/>
    <p:sldId id="286" r:id="rId4"/>
    <p:sldId id="287" r:id="rId5"/>
    <p:sldId id="288" r:id="rId6"/>
    <p:sldId id="289" r:id="rId7"/>
    <p:sldId id="290" r:id="rId8"/>
    <p:sldId id="291" r:id="rId9"/>
    <p:sldId id="292" r:id="rId10"/>
    <p:sldId id="293" r:id="rId11"/>
    <p:sldId id="294" r:id="rId12"/>
    <p:sldId id="295" r:id="rId13"/>
    <p:sldId id="29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ansha Singh" initials="AS" lastIdx="1" clrIdx="0">
    <p:extLst>
      <p:ext uri="{19B8F6BF-5375-455C-9EA6-DF929625EA0E}">
        <p15:presenceInfo xmlns:p15="http://schemas.microsoft.com/office/powerpoint/2012/main" userId="S-1-5-21-2463926442-955625513-2269077754-217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B77A64-7051-4EEE-B636-1B26E180F35A}"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1EE9DF-C0F2-4106-9960-457CEE4F2365}" type="slidenum">
              <a:rPr lang="en-US" smtClean="0"/>
              <a:t>‹#›</a:t>
            </a:fld>
            <a:endParaRPr lang="en-US"/>
          </a:p>
        </p:txBody>
      </p:sp>
    </p:spTree>
    <p:extLst>
      <p:ext uri="{BB962C8B-B14F-4D97-AF65-F5344CB8AC3E}">
        <p14:creationId xmlns:p14="http://schemas.microsoft.com/office/powerpoint/2010/main" val="1535700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8cfcde80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8cfcde80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8cfcde803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8cfcde803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8cfcde8031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8cfcde8031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8cfcde803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8cfcde803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8cfcde8031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8cfcde8031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8cfcde803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8cfcde803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8cfcde8031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8cfcde8031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cfcde8031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cfcde803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8cfcde8031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8cfcde8031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8cfcde8031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8cfcde8031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8cfcde8031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8cfcde8031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9788-D989-4E3C-B8E7-6DC2FD71D9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77FEF7-52AE-45EB-8AD6-03AB8A629B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BBFBC7-23C0-4A7B-9ED5-5EB3FB6C9DE9}"/>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5" name="Footer Placeholder 4">
            <a:extLst>
              <a:ext uri="{FF2B5EF4-FFF2-40B4-BE49-F238E27FC236}">
                <a16:creationId xmlns:a16="http://schemas.microsoft.com/office/drawing/2014/main" id="{8B073C9D-354D-4552-8885-6CAA50E450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037C5B-B80A-4E36-92ED-6C632DDBD1AF}"/>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2278717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71749-FC54-4AD2-849F-6850ADE2B3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9D761F-226C-4414-9C9C-D4B4B6A5F75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05F37-52D9-4662-B7F4-9FECEC42052B}"/>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5" name="Footer Placeholder 4">
            <a:extLst>
              <a:ext uri="{FF2B5EF4-FFF2-40B4-BE49-F238E27FC236}">
                <a16:creationId xmlns:a16="http://schemas.microsoft.com/office/drawing/2014/main" id="{FF15DBFE-D6AE-4850-94F0-145A48EDFE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894A7F-3243-4910-95F3-6F84382A5F06}"/>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137340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4A538-BB2A-471C-A7E6-706B6C929F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8F0599-7874-4E31-BC67-0B709230E8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AF84056-EFCC-4A0F-B0BE-9A4596815F46}"/>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5" name="Footer Placeholder 4">
            <a:extLst>
              <a:ext uri="{FF2B5EF4-FFF2-40B4-BE49-F238E27FC236}">
                <a16:creationId xmlns:a16="http://schemas.microsoft.com/office/drawing/2014/main" id="{D99A3DC2-DA68-4A97-8432-477573F82C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19A37D-881D-4226-8C4D-8296375549E0}"/>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2060760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C66D9-C45E-400F-BD41-26B50F76C1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AA67C8-AD6F-4C8A-93EB-42754A9EE65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52C3DD-7BE4-470E-9D00-C2F4D43F840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A5FF2C-7421-4111-B96E-EC324B97FF2C}"/>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6" name="Footer Placeholder 5">
            <a:extLst>
              <a:ext uri="{FF2B5EF4-FFF2-40B4-BE49-F238E27FC236}">
                <a16:creationId xmlns:a16="http://schemas.microsoft.com/office/drawing/2014/main" id="{29940A7D-6E9A-4F56-A896-7CDF2CC9CD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13F00B-8119-43B9-B07E-0E9BDB406FCB}"/>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3938262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E5294-1C9A-49FE-B78C-FF55256C35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1B2671-CD4D-47AD-9C25-8301A06C0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AD62AC8-C3B4-4E83-B057-C0DF361EE2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8B6191-2606-43D2-8042-29B3E695F5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2024430-6B52-48CB-B0B8-94052AC5980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70B8F6-0535-40BB-B887-2BAD815B4BB7}"/>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8" name="Footer Placeholder 7">
            <a:extLst>
              <a:ext uri="{FF2B5EF4-FFF2-40B4-BE49-F238E27FC236}">
                <a16:creationId xmlns:a16="http://schemas.microsoft.com/office/drawing/2014/main" id="{6E596ED0-B1D1-43C4-BB7B-09870EA432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5C199B-7C70-4903-9C10-421E19F71FED}"/>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4073283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DC6BE-2D8E-4B5E-89C1-1BFA1E7CE5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8F11EB-6EE3-4729-95F9-485032ADBEE5}"/>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4" name="Footer Placeholder 3">
            <a:extLst>
              <a:ext uri="{FF2B5EF4-FFF2-40B4-BE49-F238E27FC236}">
                <a16:creationId xmlns:a16="http://schemas.microsoft.com/office/drawing/2014/main" id="{47DE8925-D88E-4DD8-AF71-5D0460D54E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ACA461-CB24-4AE8-AC90-40EE20EA506C}"/>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3985635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E2B1BD-F2F9-43FB-91B1-3D76A240C308}"/>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3" name="Footer Placeholder 2">
            <a:extLst>
              <a:ext uri="{FF2B5EF4-FFF2-40B4-BE49-F238E27FC236}">
                <a16:creationId xmlns:a16="http://schemas.microsoft.com/office/drawing/2014/main" id="{7302FEEF-5905-4503-9971-0AD8B339EF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6391BD-9603-4AB4-83DF-F3ECD865FCE7}"/>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1206556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B67FF-AD70-4B86-A3C1-1D898930D9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C8BDD4-E509-421D-A0A5-94418C5F5B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38E742-093B-42B3-96E7-99D4FCF72D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B1B333-1272-4A33-A189-FC062EFA46B5}"/>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6" name="Footer Placeholder 5">
            <a:extLst>
              <a:ext uri="{FF2B5EF4-FFF2-40B4-BE49-F238E27FC236}">
                <a16:creationId xmlns:a16="http://schemas.microsoft.com/office/drawing/2014/main" id="{B1D5E413-863B-4F2C-91BD-9A91AA02B3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D49D4E-8187-4E9B-B4B5-D36B4BF2F60D}"/>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875182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F851E-7E11-4369-8502-11A7DD01E3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64EB88-720A-4C8C-90D0-8FE595D311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DEAF92-53E6-4891-8C89-A67F879882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847DBBE-DA9F-47F3-A3F0-C2A6D442E0DA}"/>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6" name="Footer Placeholder 5">
            <a:extLst>
              <a:ext uri="{FF2B5EF4-FFF2-40B4-BE49-F238E27FC236}">
                <a16:creationId xmlns:a16="http://schemas.microsoft.com/office/drawing/2014/main" id="{26DF6953-CEF5-4F66-A21D-530C27D3FD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A0C129-AC21-49EB-91CB-C45A58BB4B04}"/>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430201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D244A-D264-4A66-AD19-54C832EEE9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0DF745-118A-4CEE-9AE3-C8E1D726425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23665C-15A0-4340-A1F5-E99C4E2F89C3}"/>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5" name="Footer Placeholder 4">
            <a:extLst>
              <a:ext uri="{FF2B5EF4-FFF2-40B4-BE49-F238E27FC236}">
                <a16:creationId xmlns:a16="http://schemas.microsoft.com/office/drawing/2014/main" id="{914F309B-1EDE-4F83-B079-882322107F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F1729E-A395-44E2-98F7-1DE1B88CF2F1}"/>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1077470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F64154-5563-4022-A4A2-334872165F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F5C1ED-F98B-4B28-901C-588CC3EBF4C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6E643-D70D-49A9-AF9F-B4BB90A43E01}"/>
              </a:ext>
            </a:extLst>
          </p:cNvPr>
          <p:cNvSpPr>
            <a:spLocks noGrp="1"/>
          </p:cNvSpPr>
          <p:nvPr>
            <p:ph type="dt" sz="half" idx="10"/>
          </p:nvPr>
        </p:nvSpPr>
        <p:spPr/>
        <p:txBody>
          <a:bodyPr/>
          <a:lstStyle/>
          <a:p>
            <a:fld id="{3F7F835F-7BA2-4EE3-975E-AA38F2C4A695}" type="datetimeFigureOut">
              <a:rPr lang="en-US" smtClean="0"/>
              <a:t>9/29/2025</a:t>
            </a:fld>
            <a:endParaRPr lang="en-US"/>
          </a:p>
        </p:txBody>
      </p:sp>
      <p:sp>
        <p:nvSpPr>
          <p:cNvPr id="5" name="Footer Placeholder 4">
            <a:extLst>
              <a:ext uri="{FF2B5EF4-FFF2-40B4-BE49-F238E27FC236}">
                <a16:creationId xmlns:a16="http://schemas.microsoft.com/office/drawing/2014/main" id="{DE6C6F5C-F3D6-4E10-B871-3BFE9FD8ED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D174D9-D7BB-4756-A60E-64C7D6AE4390}"/>
              </a:ext>
            </a:extLst>
          </p:cNvPr>
          <p:cNvSpPr>
            <a:spLocks noGrp="1"/>
          </p:cNvSpPr>
          <p:nvPr>
            <p:ph type="sldNum" sz="quarter" idx="12"/>
          </p:nvPr>
        </p:nvSpPr>
        <p:spPr/>
        <p:txBody>
          <a:bodyPr/>
          <a:lstStyle/>
          <a:p>
            <a:fld id="{3A608D7A-C3D6-4425-93DD-B29376A10946}" type="slidenum">
              <a:rPr lang="en-US" smtClean="0"/>
              <a:t>‹#›</a:t>
            </a:fld>
            <a:endParaRPr lang="en-US"/>
          </a:p>
        </p:txBody>
      </p:sp>
    </p:spTree>
    <p:extLst>
      <p:ext uri="{BB962C8B-B14F-4D97-AF65-F5344CB8AC3E}">
        <p14:creationId xmlns:p14="http://schemas.microsoft.com/office/powerpoint/2010/main" val="1539583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82701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7CE80A-17E6-4376-98AB-38A96744FC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FE1BA1-710B-4E2A-8C6B-621CAB6635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5E845-C87A-4C46-B68A-6893EDDC8E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7F835F-7BA2-4EE3-975E-AA38F2C4A695}" type="datetimeFigureOut">
              <a:rPr lang="en-US" smtClean="0"/>
              <a:t>9/29/2025</a:t>
            </a:fld>
            <a:endParaRPr lang="en-US"/>
          </a:p>
        </p:txBody>
      </p:sp>
      <p:sp>
        <p:nvSpPr>
          <p:cNvPr id="5" name="Footer Placeholder 4">
            <a:extLst>
              <a:ext uri="{FF2B5EF4-FFF2-40B4-BE49-F238E27FC236}">
                <a16:creationId xmlns:a16="http://schemas.microsoft.com/office/drawing/2014/main" id="{5BFFBF61-046E-4477-8423-4E7502938C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2FC919-28A5-470F-A5DA-4A02DA3AE7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608D7A-C3D6-4425-93DD-B29376A10946}" type="slidenum">
              <a:rPr lang="en-US" smtClean="0"/>
              <a:t>‹#›</a:t>
            </a:fld>
            <a:endParaRPr lang="en-US"/>
          </a:p>
        </p:txBody>
      </p:sp>
    </p:spTree>
    <p:extLst>
      <p:ext uri="{BB962C8B-B14F-4D97-AF65-F5344CB8AC3E}">
        <p14:creationId xmlns:p14="http://schemas.microsoft.com/office/powerpoint/2010/main" val="3751375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C2FB6-31EE-4817-B4CA-EE18B5AC6DEF}"/>
              </a:ext>
            </a:extLst>
          </p:cNvPr>
          <p:cNvSpPr>
            <a:spLocks noGrp="1"/>
          </p:cNvSpPr>
          <p:nvPr>
            <p:ph type="ctrTitle"/>
          </p:nvPr>
        </p:nvSpPr>
        <p:spPr/>
        <p:txBody>
          <a:bodyPr/>
          <a:lstStyle/>
          <a:p>
            <a:r>
              <a:rPr lang="en-US" dirty="0"/>
              <a:t>Shell Scripting</a:t>
            </a:r>
          </a:p>
        </p:txBody>
      </p:sp>
      <p:sp>
        <p:nvSpPr>
          <p:cNvPr id="3" name="Subtitle 2">
            <a:extLst>
              <a:ext uri="{FF2B5EF4-FFF2-40B4-BE49-F238E27FC236}">
                <a16:creationId xmlns:a16="http://schemas.microsoft.com/office/drawing/2014/main" id="{E759CAC9-4BF6-486E-B272-53FDC6BA1DF0}"/>
              </a:ext>
            </a:extLst>
          </p:cNvPr>
          <p:cNvSpPr>
            <a:spLocks noGrp="1"/>
          </p:cNvSpPr>
          <p:nvPr>
            <p:ph type="subTitle" idx="1"/>
          </p:nvPr>
        </p:nvSpPr>
        <p:spPr/>
        <p:txBody>
          <a:bodyPr>
            <a:normAutofit/>
          </a:bodyPr>
          <a:lstStyle/>
          <a:p>
            <a:r>
              <a:rPr lang="en-US" sz="3200" dirty="0"/>
              <a:t>Arrays and Functions</a:t>
            </a:r>
          </a:p>
        </p:txBody>
      </p:sp>
    </p:spTree>
    <p:extLst>
      <p:ext uri="{BB962C8B-B14F-4D97-AF65-F5344CB8AC3E}">
        <p14:creationId xmlns:p14="http://schemas.microsoft.com/office/powerpoint/2010/main" val="3469180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5611" y="992767"/>
            <a:ext cx="11360800" cy="2736800"/>
          </a:xfrm>
          <a:prstGeom prst="rect">
            <a:avLst/>
          </a:prstGeom>
        </p:spPr>
        <p:txBody>
          <a:bodyPr spcFirstLastPara="1" vert="horz" wrap="square" lIns="121900" tIns="121900" rIns="121900" bIns="121900" rtlCol="0" anchor="b" anchorCtr="0">
            <a:normAutofit/>
          </a:bodyPr>
          <a:lstStyle/>
          <a:p>
            <a:pPr>
              <a:spcBef>
                <a:spcPts val="0"/>
              </a:spcBef>
            </a:pPr>
            <a:r>
              <a:rPr lang="en"/>
              <a:t>Arrays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lnSpc>
                <a:spcPct val="115000"/>
              </a:lnSpc>
              <a:spcBef>
                <a:spcPts val="3200"/>
              </a:spcBef>
              <a:buClr>
                <a:schemeClr val="dk1"/>
              </a:buClr>
              <a:buSzPct val="47826"/>
            </a:pPr>
            <a:r>
              <a:rPr lang="en" sz="3067" b="1"/>
              <a:t>What is an array?</a:t>
            </a:r>
            <a:endParaRPr sz="3067" b="1"/>
          </a:p>
          <a:p>
            <a:pPr>
              <a:spcBef>
                <a:spcPts val="800"/>
              </a:spcBef>
            </a:pPr>
            <a:endParaRPr sz="3067" b="1"/>
          </a:p>
        </p:txBody>
      </p:sp>
      <p:sp>
        <p:nvSpPr>
          <p:cNvPr id="60" name="Google Shape;60;p14"/>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Bef>
                <a:spcPts val="1600"/>
              </a:spcBef>
              <a:buClr>
                <a:schemeClr val="dk1"/>
              </a:buClr>
              <a:buSzPts val="1100"/>
              <a:buNone/>
            </a:pPr>
            <a:r>
              <a:rPr lang="en" sz="1600" dirty="0">
                <a:solidFill>
                  <a:schemeClr val="dk1"/>
                </a:solidFill>
              </a:rPr>
              <a:t>An </a:t>
            </a:r>
            <a:r>
              <a:rPr lang="en" sz="1600" i="1" dirty="0">
                <a:solidFill>
                  <a:schemeClr val="dk1"/>
                </a:solidFill>
              </a:rPr>
              <a:t>array</a:t>
            </a:r>
            <a:r>
              <a:rPr lang="en" sz="1600" dirty="0">
                <a:solidFill>
                  <a:schemeClr val="dk1"/>
                </a:solidFill>
              </a:rPr>
              <a:t> is a single variable that can hold multiple values (a collection). In Bash, arrays are </a:t>
            </a:r>
            <a:r>
              <a:rPr lang="en" sz="1600" b="1" dirty="0">
                <a:solidFill>
                  <a:schemeClr val="dk1"/>
                </a:solidFill>
              </a:rPr>
              <a:t>indexed</a:t>
            </a:r>
            <a:r>
              <a:rPr lang="en" sz="1600" dirty="0">
                <a:solidFill>
                  <a:schemeClr val="dk1"/>
                </a:solidFill>
              </a:rPr>
              <a:t> (numeric indices starting from 0) or </a:t>
            </a:r>
            <a:r>
              <a:rPr lang="en" sz="1600" b="1" dirty="0">
                <a:solidFill>
                  <a:schemeClr val="dk1"/>
                </a:solidFill>
              </a:rPr>
              <a:t>associative</a:t>
            </a:r>
            <a:r>
              <a:rPr lang="en" sz="1600" dirty="0">
                <a:solidFill>
                  <a:schemeClr val="dk1"/>
                </a:solidFill>
              </a:rPr>
              <a:t> (string keys, Bash 4+).</a:t>
            </a:r>
            <a:endParaRPr sz="1600" dirty="0">
              <a:solidFill>
                <a:schemeClr val="dk1"/>
              </a:solidFill>
            </a:endParaRPr>
          </a:p>
          <a:p>
            <a:pPr indent="-406390">
              <a:spcBef>
                <a:spcPts val="1600"/>
              </a:spcBef>
              <a:buClr>
                <a:schemeClr val="dk1"/>
              </a:buClr>
              <a:buSzPts val="1200"/>
            </a:pPr>
            <a:r>
              <a:rPr lang="en" sz="1600" dirty="0">
                <a:solidFill>
                  <a:schemeClr val="dk1"/>
                </a:solidFill>
              </a:rPr>
              <a:t>Indexed arrays: </a:t>
            </a:r>
            <a:r>
              <a:rPr lang="en" sz="1600" dirty="0">
                <a:solidFill>
                  <a:srgbClr val="188038"/>
                </a:solidFill>
                <a:latin typeface="Roboto Mono"/>
                <a:ea typeface="Roboto Mono"/>
                <a:cs typeface="Roboto Mono"/>
                <a:sym typeface="Roboto Mono"/>
              </a:rPr>
              <a:t>arr=(a b c)</a:t>
            </a:r>
            <a:endParaRPr sz="1600" dirty="0">
              <a:solidFill>
                <a:srgbClr val="188038"/>
              </a:solidFill>
              <a:latin typeface="Roboto Mono"/>
              <a:ea typeface="Roboto Mono"/>
              <a:cs typeface="Roboto Mono"/>
              <a:sym typeface="Roboto Mono"/>
            </a:endParaRPr>
          </a:p>
          <a:p>
            <a:pPr indent="-406390">
              <a:buClr>
                <a:schemeClr val="dk1"/>
              </a:buClr>
              <a:buSzPts val="1200"/>
            </a:pPr>
            <a:r>
              <a:rPr lang="en" sz="1600" dirty="0">
                <a:solidFill>
                  <a:schemeClr val="dk1"/>
                </a:solidFill>
              </a:rPr>
              <a:t>Associative arrays: </a:t>
            </a:r>
            <a:r>
              <a:rPr lang="en" sz="1600" dirty="0">
                <a:solidFill>
                  <a:srgbClr val="188038"/>
                </a:solidFill>
                <a:latin typeface="Roboto Mono"/>
                <a:ea typeface="Roboto Mono"/>
                <a:cs typeface="Roboto Mono"/>
                <a:sym typeface="Roboto Mono"/>
              </a:rPr>
              <a:t>declare -A map</a:t>
            </a:r>
            <a:r>
              <a:rPr lang="en" sz="1600" dirty="0">
                <a:solidFill>
                  <a:schemeClr val="dk1"/>
                </a:solidFill>
              </a:rPr>
              <a:t> (Bash 4+)</a:t>
            </a:r>
            <a:endParaRPr sz="1600" dirty="0">
              <a:solidFill>
                <a:schemeClr val="dk1"/>
              </a:solidFill>
            </a:endParaRPr>
          </a:p>
          <a:p>
            <a:pPr marL="507987" marR="507987" indent="0">
              <a:spcBef>
                <a:spcPts val="1600"/>
              </a:spcBef>
              <a:buNone/>
            </a:pPr>
            <a:r>
              <a:rPr lang="en" sz="1600" dirty="0">
                <a:solidFill>
                  <a:schemeClr val="dk1"/>
                </a:solidFill>
              </a:rPr>
              <a:t>Note: Arrays are a Bash feature. Portable </a:t>
            </a:r>
            <a:r>
              <a:rPr lang="en" sz="1600" dirty="0">
                <a:solidFill>
                  <a:srgbClr val="188038"/>
                </a:solidFill>
                <a:latin typeface="Roboto Mono"/>
                <a:ea typeface="Roboto Mono"/>
                <a:cs typeface="Roboto Mono"/>
                <a:sym typeface="Roboto Mono"/>
              </a:rPr>
              <a:t>/bin/sh</a:t>
            </a:r>
            <a:r>
              <a:rPr lang="en" sz="1600" dirty="0">
                <a:solidFill>
                  <a:schemeClr val="dk1"/>
                </a:solidFill>
              </a:rPr>
              <a:t> scripts typically do </a:t>
            </a:r>
            <a:r>
              <a:rPr lang="en" sz="1600" b="1" dirty="0">
                <a:solidFill>
                  <a:schemeClr val="dk1"/>
                </a:solidFill>
              </a:rPr>
              <a:t>not</a:t>
            </a:r>
            <a:r>
              <a:rPr lang="en" sz="1600" dirty="0">
                <a:solidFill>
                  <a:schemeClr val="dk1"/>
                </a:solidFill>
              </a:rPr>
              <a:t> support arrays.</a:t>
            </a:r>
            <a:endParaRPr sz="1600" dirty="0">
              <a:solidFill>
                <a:schemeClr val="dk1"/>
              </a:solidFill>
            </a:endParaRPr>
          </a:p>
          <a:p>
            <a:pPr marL="0" indent="0">
              <a:spcBef>
                <a:spcPts val="3200"/>
              </a:spcBef>
              <a:buNone/>
            </a:pPr>
            <a:r>
              <a:rPr lang="en" sz="3067" b="1" dirty="0">
                <a:solidFill>
                  <a:schemeClr val="dk1"/>
                </a:solidFill>
              </a:rPr>
              <a:t>Why use arrays?</a:t>
            </a:r>
            <a:endParaRPr sz="3067" b="1" dirty="0">
              <a:solidFill>
                <a:schemeClr val="dk1"/>
              </a:solidFill>
            </a:endParaRPr>
          </a:p>
          <a:p>
            <a:pPr indent="-406390">
              <a:spcBef>
                <a:spcPts val="1600"/>
              </a:spcBef>
              <a:buClr>
                <a:schemeClr val="dk1"/>
              </a:buClr>
              <a:buSzPts val="1200"/>
            </a:pPr>
            <a:r>
              <a:rPr lang="en" sz="1600" dirty="0">
                <a:solidFill>
                  <a:schemeClr val="dk1"/>
                </a:solidFill>
              </a:rPr>
              <a:t>Store lists (filenames, user names, numbers) in one variable.</a:t>
            </a:r>
            <a:endParaRPr sz="1600" dirty="0">
              <a:solidFill>
                <a:schemeClr val="dk1"/>
              </a:solidFill>
            </a:endParaRPr>
          </a:p>
          <a:p>
            <a:pPr indent="-406390">
              <a:buClr>
                <a:schemeClr val="dk1"/>
              </a:buClr>
              <a:buSzPts val="1200"/>
            </a:pPr>
            <a:r>
              <a:rPr lang="en" sz="1600" dirty="0">
                <a:solidFill>
                  <a:schemeClr val="dk1"/>
                </a:solidFill>
              </a:rPr>
              <a:t>Easier iteration and batch processing.</a:t>
            </a:r>
            <a:endParaRPr sz="1600" dirty="0">
              <a:solidFill>
                <a:schemeClr val="dk1"/>
              </a:solidFill>
            </a:endParaRPr>
          </a:p>
          <a:p>
            <a:pPr indent="-406390">
              <a:buClr>
                <a:schemeClr val="dk1"/>
              </a:buClr>
              <a:buSzPts val="1200"/>
            </a:pPr>
            <a:r>
              <a:rPr lang="en" sz="1600" dirty="0">
                <a:solidFill>
                  <a:schemeClr val="dk1"/>
                </a:solidFill>
              </a:rPr>
              <a:t>Better structure than many separate scalar variables.</a:t>
            </a:r>
            <a:endParaRPr sz="1600" dirty="0">
              <a:solidFill>
                <a:schemeClr val="dk1"/>
              </a:solidFill>
            </a:endParaRPr>
          </a:p>
          <a:p>
            <a:pPr marL="507987" marR="507987" indent="0">
              <a:spcBef>
                <a:spcPts val="1600"/>
              </a:spcBef>
              <a:buClr>
                <a:schemeClr val="dk1"/>
              </a:buClr>
              <a:buSzPts val="1100"/>
              <a:buNone/>
            </a:pPr>
            <a:endParaRPr sz="1600" dirty="0">
              <a:solidFill>
                <a:schemeClr val="dk1"/>
              </a:solidFill>
            </a:endParaRPr>
          </a:p>
          <a:p>
            <a:pPr marL="0" indent="0">
              <a:spcBef>
                <a:spcPts val="1600"/>
              </a:spcBef>
              <a:spcAft>
                <a:spcPts val="16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415600" y="160867"/>
            <a:ext cx="11360800" cy="763600"/>
          </a:xfrm>
          <a:prstGeom prst="rect">
            <a:avLst/>
          </a:prstGeom>
        </p:spPr>
        <p:txBody>
          <a:bodyPr spcFirstLastPara="1" vert="horz" wrap="square" lIns="121900" tIns="121900" rIns="121900" bIns="121900" rtlCol="0" anchor="t" anchorCtr="0">
            <a:normAutofit fontScale="90000"/>
          </a:bodyPr>
          <a:lstStyle/>
          <a:p>
            <a:r>
              <a:rPr lang="en"/>
              <a:t>Creating (declaring) arrays</a:t>
            </a:r>
            <a:endParaRPr/>
          </a:p>
        </p:txBody>
      </p:sp>
      <p:sp>
        <p:nvSpPr>
          <p:cNvPr id="66" name="Google Shape;66;p15"/>
          <p:cNvSpPr txBox="1">
            <a:spLocks noGrp="1"/>
          </p:cNvSpPr>
          <p:nvPr>
            <p:ph type="body" idx="1"/>
          </p:nvPr>
        </p:nvSpPr>
        <p:spPr>
          <a:xfrm>
            <a:off x="366167" y="924467"/>
            <a:ext cx="11360800" cy="5834800"/>
          </a:xfrm>
          <a:prstGeom prst="rect">
            <a:avLst/>
          </a:prstGeom>
        </p:spPr>
        <p:txBody>
          <a:bodyPr spcFirstLastPara="1" vert="horz" wrap="square" lIns="121900" tIns="121900" rIns="121900" bIns="121900" rtlCol="0" anchor="t" anchorCtr="0">
            <a:normAutofit fontScale="92500" lnSpcReduction="20000"/>
          </a:bodyPr>
          <a:lstStyle/>
          <a:p>
            <a:pPr indent="-405543">
              <a:spcBef>
                <a:spcPts val="2400"/>
              </a:spcBef>
              <a:buClr>
                <a:schemeClr val="dk1"/>
              </a:buClr>
              <a:buSzPct val="100000"/>
              <a:buAutoNum type="arabicPeriod"/>
            </a:pPr>
            <a:r>
              <a:rPr lang="en" sz="2267" b="1">
                <a:solidFill>
                  <a:schemeClr val="dk1"/>
                </a:solidFill>
              </a:rPr>
              <a:t>Explicit assignment (preferred shorthand)</a:t>
            </a:r>
            <a:endParaRPr sz="2267" b="1">
              <a:solidFill>
                <a:schemeClr val="dk1"/>
              </a:solidFill>
            </a:endParaRPr>
          </a:p>
          <a:p>
            <a:pPr marL="0" indent="0">
              <a:spcBef>
                <a:spcPts val="533"/>
              </a:spcBef>
              <a:buNone/>
            </a:pPr>
            <a:r>
              <a:rPr lang="en" sz="2267" b="1">
                <a:solidFill>
                  <a:schemeClr val="dk1"/>
                </a:solidFill>
              </a:rPr>
              <a:t># </a:t>
            </a:r>
            <a:r>
              <a:rPr lang="en" sz="2267">
                <a:solidFill>
                  <a:schemeClr val="dk1"/>
                </a:solidFill>
              </a:rPr>
              <a:t>Create an indexed array with four elements</a:t>
            </a:r>
            <a:endParaRPr sz="2267">
              <a:solidFill>
                <a:schemeClr val="dk1"/>
              </a:solidFill>
            </a:endParaRPr>
          </a:p>
          <a:p>
            <a:pPr marL="0" indent="0">
              <a:buNone/>
            </a:pPr>
            <a:r>
              <a:rPr lang="en" sz="2267" b="1">
                <a:solidFill>
                  <a:srgbClr val="0000FF"/>
                </a:solidFill>
              </a:rPr>
              <a:t>arr=(apple banana cherry "fruit salad")</a:t>
            </a:r>
            <a:endParaRPr sz="2267" b="1">
              <a:solidFill>
                <a:srgbClr val="0000FF"/>
              </a:solidFill>
            </a:endParaRPr>
          </a:p>
          <a:p>
            <a:pPr marL="0" indent="0">
              <a:buNone/>
            </a:pPr>
            <a:endParaRPr sz="2267" b="1">
              <a:solidFill>
                <a:schemeClr val="dk1"/>
              </a:solidFill>
            </a:endParaRPr>
          </a:p>
          <a:p>
            <a:pPr indent="-405543">
              <a:buClr>
                <a:schemeClr val="dk1"/>
              </a:buClr>
              <a:buSzPct val="100000"/>
              <a:buAutoNum type="arabicPeriod"/>
            </a:pPr>
            <a:r>
              <a:rPr lang="en" sz="2267" b="1">
                <a:solidFill>
                  <a:schemeClr val="dk1"/>
                </a:solidFill>
              </a:rPr>
              <a:t>Assign element-by-element</a:t>
            </a:r>
            <a:endParaRPr sz="2267" b="1">
              <a:solidFill>
                <a:schemeClr val="dk1"/>
              </a:solidFill>
            </a:endParaRPr>
          </a:p>
          <a:p>
            <a:pPr marL="0" indent="0">
              <a:buNone/>
            </a:pPr>
            <a:r>
              <a:rPr lang="en" sz="2267">
                <a:solidFill>
                  <a:schemeClr val="dk1"/>
                </a:solidFill>
              </a:rPr>
              <a:t># Put value into index 0</a:t>
            </a:r>
            <a:endParaRPr sz="2267">
              <a:solidFill>
                <a:schemeClr val="dk1"/>
              </a:solidFill>
            </a:endParaRPr>
          </a:p>
          <a:p>
            <a:pPr marL="0" indent="0">
              <a:buNone/>
            </a:pPr>
            <a:r>
              <a:rPr lang="en" sz="2267" b="1">
                <a:solidFill>
                  <a:srgbClr val="0000FF"/>
                </a:solidFill>
              </a:rPr>
              <a:t>arr[0]=apple </a:t>
            </a:r>
            <a:endParaRPr sz="2267" b="1">
              <a:solidFill>
                <a:srgbClr val="0000FF"/>
              </a:solidFill>
            </a:endParaRPr>
          </a:p>
          <a:p>
            <a:pPr marL="0" indent="0">
              <a:buNone/>
            </a:pPr>
            <a:r>
              <a:rPr lang="en" sz="2267" b="1">
                <a:solidFill>
                  <a:srgbClr val="0000FF"/>
                </a:solidFill>
              </a:rPr>
              <a:t>arr[1]=banana </a:t>
            </a:r>
            <a:endParaRPr sz="2267" b="1">
              <a:solidFill>
                <a:srgbClr val="0000FF"/>
              </a:solidFill>
            </a:endParaRPr>
          </a:p>
          <a:p>
            <a:pPr marL="0" indent="0">
              <a:buNone/>
            </a:pPr>
            <a:r>
              <a:rPr lang="en" sz="2267" b="1">
                <a:solidFill>
                  <a:srgbClr val="0000FF"/>
                </a:solidFill>
              </a:rPr>
              <a:t>arr[5]=grape </a:t>
            </a:r>
            <a:endParaRPr sz="2267" b="1">
              <a:solidFill>
                <a:srgbClr val="0000FF"/>
              </a:solidFill>
            </a:endParaRPr>
          </a:p>
          <a:p>
            <a:pPr marL="0" indent="0">
              <a:buNone/>
            </a:pPr>
            <a:endParaRPr sz="2267" b="1">
              <a:solidFill>
                <a:schemeClr val="dk1"/>
              </a:solidFill>
            </a:endParaRPr>
          </a:p>
          <a:p>
            <a:pPr indent="-405543">
              <a:buClr>
                <a:schemeClr val="dk1"/>
              </a:buClr>
              <a:buSzPct val="100000"/>
              <a:buAutoNum type="arabicPeriod"/>
            </a:pPr>
            <a:r>
              <a:rPr lang="en" sz="2267" b="1">
                <a:solidFill>
                  <a:schemeClr val="dk1"/>
                </a:solidFill>
              </a:rPr>
              <a:t>Declare an empty array and append later</a:t>
            </a:r>
            <a:endParaRPr sz="2267" b="1">
              <a:solidFill>
                <a:schemeClr val="dk1"/>
              </a:solidFill>
            </a:endParaRPr>
          </a:p>
          <a:p>
            <a:pPr marL="0" indent="0">
              <a:buNone/>
            </a:pPr>
            <a:r>
              <a:rPr lang="en" sz="2267" b="1">
                <a:solidFill>
                  <a:srgbClr val="0000FF"/>
                </a:solidFill>
              </a:rPr>
              <a:t>declare -a list</a:t>
            </a:r>
            <a:r>
              <a:rPr lang="en" sz="2267" b="1">
                <a:solidFill>
                  <a:schemeClr val="dk1"/>
                </a:solidFill>
              </a:rPr>
              <a:t> </a:t>
            </a:r>
            <a:r>
              <a:rPr lang="en" sz="2267">
                <a:solidFill>
                  <a:schemeClr val="dk1"/>
                </a:solidFill>
              </a:rPr>
              <a:t># optional: declare as an indexed array (for clarity)</a:t>
            </a:r>
            <a:endParaRPr sz="2267">
              <a:solidFill>
                <a:schemeClr val="dk1"/>
              </a:solidFill>
            </a:endParaRPr>
          </a:p>
          <a:p>
            <a:pPr marL="0" indent="0">
              <a:buNone/>
            </a:pPr>
            <a:r>
              <a:rPr lang="en" sz="2267" b="1">
                <a:solidFill>
                  <a:srgbClr val="0000FF"/>
                </a:solidFill>
              </a:rPr>
              <a:t>list=()</a:t>
            </a:r>
            <a:r>
              <a:rPr lang="en" sz="2267" b="1">
                <a:solidFill>
                  <a:schemeClr val="dk1"/>
                </a:solidFill>
              </a:rPr>
              <a:t> </a:t>
            </a:r>
            <a:r>
              <a:rPr lang="en" sz="2267">
                <a:solidFill>
                  <a:schemeClr val="dk1"/>
                </a:solidFill>
              </a:rPr>
              <a:t># empty arra</a:t>
            </a:r>
            <a:r>
              <a:rPr lang="en" sz="2267" b="1">
                <a:solidFill>
                  <a:schemeClr val="dk1"/>
                </a:solidFill>
              </a:rPr>
              <a:t>y</a:t>
            </a:r>
            <a:endParaRPr sz="2267" b="1">
              <a:solidFill>
                <a:schemeClr val="dk1"/>
              </a:solidFill>
            </a:endParaRPr>
          </a:p>
          <a:p>
            <a:pPr marL="0" indent="0">
              <a:buNone/>
            </a:pPr>
            <a:r>
              <a:rPr lang="en" sz="2267" b="1">
                <a:solidFill>
                  <a:schemeClr val="dk1"/>
                </a:solidFill>
              </a:rPr>
              <a:t>list+=(one) </a:t>
            </a:r>
            <a:r>
              <a:rPr lang="en" sz="2267">
                <a:solidFill>
                  <a:schemeClr val="dk1"/>
                </a:solidFill>
              </a:rPr>
              <a:t># append 'one'</a:t>
            </a:r>
            <a:endParaRPr sz="2267">
              <a:solidFill>
                <a:schemeClr val="dk1"/>
              </a:solidFill>
            </a:endParaRPr>
          </a:p>
          <a:p>
            <a:pPr marL="0" indent="0">
              <a:buNone/>
            </a:pPr>
            <a:r>
              <a:rPr lang="en" sz="2267" b="1">
                <a:solidFill>
                  <a:schemeClr val="dk1"/>
                </a:solidFill>
              </a:rPr>
              <a:t>list+=(two three)</a:t>
            </a:r>
            <a:endParaRPr sz="2267" b="1">
              <a:solidFill>
                <a:schemeClr val="dk1"/>
              </a:solidFill>
            </a:endParaRPr>
          </a:p>
          <a:p>
            <a:pPr marL="0" indent="0">
              <a:buNone/>
            </a:pPr>
            <a:endParaRPr sz="2267" b="1">
              <a:solidFill>
                <a:schemeClr val="dk1"/>
              </a:solidFill>
            </a:endParaRPr>
          </a:p>
          <a:p>
            <a:pPr indent="-405543">
              <a:buClr>
                <a:schemeClr val="dk1"/>
              </a:buClr>
              <a:buSzPct val="100000"/>
              <a:buAutoNum type="arabicPeriod"/>
            </a:pPr>
            <a:r>
              <a:rPr lang="en" sz="2267" b="1">
                <a:solidFill>
                  <a:schemeClr val="dk1"/>
                </a:solidFill>
              </a:rPr>
              <a:t>Create array from command output</a:t>
            </a:r>
            <a:endParaRPr sz="2267" b="1">
              <a:solidFill>
                <a:schemeClr val="dk1"/>
              </a:solidFill>
            </a:endParaRPr>
          </a:p>
          <a:p>
            <a:pPr marL="0" indent="0">
              <a:buNone/>
            </a:pPr>
            <a:r>
              <a:rPr lang="en" sz="2267" b="1">
                <a:solidFill>
                  <a:srgbClr val="0000FF"/>
                </a:solidFill>
              </a:rPr>
              <a:t>arr=(red green blue)</a:t>
            </a:r>
            <a:endParaRPr sz="2267" b="1">
              <a:solidFill>
                <a:srgbClr val="0000FF"/>
              </a:solidFill>
            </a:endParaRPr>
          </a:p>
          <a:p>
            <a:pPr marL="0" indent="0">
              <a:buNone/>
            </a:pPr>
            <a:r>
              <a:rPr lang="en" sz="2267" b="1">
                <a:solidFill>
                  <a:srgbClr val="0000FF"/>
                </a:solidFill>
              </a:rPr>
              <a:t>echo "\${arr[0]}" </a:t>
            </a:r>
            <a:r>
              <a:rPr lang="en" sz="2267" b="1">
                <a:solidFill>
                  <a:schemeClr val="dk1"/>
                </a:solidFill>
              </a:rPr>
              <a:t>           # prints 'red'</a:t>
            </a:r>
            <a:endParaRPr sz="2267" b="1">
              <a:solidFill>
                <a:schemeClr val="dk1"/>
              </a:solidFill>
            </a:endParaRPr>
          </a:p>
          <a:p>
            <a:pPr marL="0" indent="0">
              <a:buNone/>
            </a:pPr>
            <a:r>
              <a:rPr lang="en" sz="2267" b="1">
                <a:solidFill>
                  <a:srgbClr val="0000FF"/>
                </a:solidFill>
              </a:rPr>
              <a:t>echo ${arr[@]}   </a:t>
            </a:r>
            <a:r>
              <a:rPr lang="en" sz="2267" b="1">
                <a:solidFill>
                  <a:schemeClr val="dk1"/>
                </a:solidFill>
              </a:rPr>
              <a:t>            # word-splits and expands each element</a:t>
            </a:r>
            <a:endParaRPr sz="2267" b="1">
              <a:solidFill>
                <a:schemeClr val="dk1"/>
              </a:solidFill>
            </a:endParaRPr>
          </a:p>
          <a:p>
            <a:pPr marL="0" indent="0">
              <a:buNone/>
            </a:pPr>
            <a:r>
              <a:rPr lang="en" sz="2267" b="1">
                <a:solidFill>
                  <a:srgbClr val="0000FF"/>
                </a:solidFill>
              </a:rPr>
              <a:t>echo "\${arr[@]}" </a:t>
            </a:r>
            <a:r>
              <a:rPr lang="en" sz="2267" b="1">
                <a:solidFill>
                  <a:schemeClr val="dk1"/>
                </a:solidFill>
              </a:rPr>
              <a:t>         # each element preserved as a single word</a:t>
            </a:r>
            <a:endParaRPr sz="2267" b="1">
              <a:solidFill>
                <a:schemeClr val="dk1"/>
              </a:solidFill>
            </a:endParaRPr>
          </a:p>
          <a:p>
            <a:pPr marL="0" indent="0">
              <a:buNone/>
            </a:pPr>
            <a:r>
              <a:rPr lang="en" sz="2267" b="1">
                <a:solidFill>
                  <a:srgbClr val="0000FF"/>
                </a:solidFill>
              </a:rPr>
              <a:t>echo "\${arr[*]}" </a:t>
            </a:r>
            <a:r>
              <a:rPr lang="en" sz="2267" b="1">
                <a:solidFill>
                  <a:schemeClr val="dk1"/>
                </a:solidFill>
              </a:rPr>
              <a:t>           # joins elements with first character of IFS (default space)</a:t>
            </a:r>
            <a:endParaRPr sz="2267" b="1">
              <a:solidFill>
                <a:schemeClr val="dk1"/>
              </a:solidFill>
            </a:endParaRPr>
          </a:p>
          <a:p>
            <a:pPr marL="0" indent="0">
              <a:buNone/>
            </a:pPr>
            <a:endParaRPr sz="2267"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53800" y="148533"/>
            <a:ext cx="11360800" cy="763600"/>
          </a:xfrm>
          <a:prstGeom prst="rect">
            <a:avLst/>
          </a:prstGeom>
        </p:spPr>
        <p:txBody>
          <a:bodyPr spcFirstLastPara="1" vert="horz" wrap="square" lIns="121900" tIns="121900" rIns="121900" bIns="121900" rtlCol="0" anchor="t" anchorCtr="0">
            <a:normAutofit fontScale="90000"/>
          </a:bodyPr>
          <a:lstStyle/>
          <a:p>
            <a:r>
              <a:rPr lang="en"/>
              <a:t>Useful array properties and operations</a:t>
            </a:r>
            <a:endParaRPr/>
          </a:p>
        </p:txBody>
      </p:sp>
      <p:sp>
        <p:nvSpPr>
          <p:cNvPr id="72" name="Google Shape;72;p16"/>
          <p:cNvSpPr txBox="1">
            <a:spLocks noGrp="1"/>
          </p:cNvSpPr>
          <p:nvPr>
            <p:ph type="body" idx="1"/>
          </p:nvPr>
        </p:nvSpPr>
        <p:spPr>
          <a:xfrm>
            <a:off x="415600" y="1151400"/>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
                <a:solidFill>
                  <a:srgbClr val="0000FF"/>
                </a:solidFill>
              </a:rPr>
              <a:t>arr=(10 20 30 40)</a:t>
            </a:r>
            <a:endParaRPr>
              <a:solidFill>
                <a:srgbClr val="0000FF"/>
              </a:solidFill>
            </a:endParaRPr>
          </a:p>
          <a:p>
            <a:pPr marL="0" indent="0">
              <a:spcBef>
                <a:spcPts val="1600"/>
              </a:spcBef>
              <a:buClr>
                <a:schemeClr val="dk1"/>
              </a:buClr>
              <a:buSzPts val="1100"/>
              <a:buNone/>
            </a:pPr>
            <a:r>
              <a:rPr lang="en">
                <a:solidFill>
                  <a:srgbClr val="0000FF"/>
                </a:solidFill>
              </a:rPr>
              <a:t>echo "Length = ${#arr[@]}" # prints 4</a:t>
            </a:r>
            <a:endParaRPr>
              <a:solidFill>
                <a:srgbClr val="0000FF"/>
              </a:solidFill>
            </a:endParaRPr>
          </a:p>
          <a:p>
            <a:pPr marL="0" indent="0">
              <a:spcBef>
                <a:spcPts val="1600"/>
              </a:spcBef>
              <a:buClr>
                <a:schemeClr val="dk1"/>
              </a:buClr>
              <a:buSzPts val="1100"/>
              <a:buNone/>
            </a:pPr>
            <a:r>
              <a:rPr lang="en">
                <a:solidFill>
                  <a:srgbClr val="0000FF"/>
                </a:solidFill>
              </a:rPr>
              <a:t>echo "Indices = ${!arr[@]}" # prints "0 1 2 3"</a:t>
            </a:r>
            <a:endParaRPr>
              <a:solidFill>
                <a:srgbClr val="0000FF"/>
              </a:solidFill>
            </a:endParaRPr>
          </a:p>
          <a:p>
            <a:pPr marL="0" indent="0">
              <a:spcBef>
                <a:spcPts val="1600"/>
              </a:spcBef>
              <a:buClr>
                <a:schemeClr val="dk1"/>
              </a:buClr>
              <a:buSzPts val="1100"/>
              <a:buNone/>
            </a:pPr>
            <a:r>
              <a:rPr lang="en">
                <a:solidFill>
                  <a:srgbClr val="0000FF"/>
                </a:solidFill>
              </a:rPr>
              <a:t>unset 'arr[2]'</a:t>
            </a:r>
            <a:endParaRPr>
              <a:solidFill>
                <a:srgbClr val="0000FF"/>
              </a:solidFill>
            </a:endParaRPr>
          </a:p>
          <a:p>
            <a:pPr marL="0" indent="0">
              <a:spcBef>
                <a:spcPts val="1600"/>
              </a:spcBef>
              <a:buClr>
                <a:schemeClr val="dk1"/>
              </a:buClr>
              <a:buSzPts val="1100"/>
              <a:buNone/>
            </a:pPr>
            <a:r>
              <a:rPr lang="en">
                <a:solidFill>
                  <a:srgbClr val="0000FF"/>
                </a:solidFill>
              </a:rPr>
              <a:t>arr+=(50)</a:t>
            </a:r>
            <a:endParaRPr>
              <a:solidFill>
                <a:srgbClr val="0000FF"/>
              </a:solidFill>
            </a:endParaRPr>
          </a:p>
          <a:p>
            <a:pPr marL="0" indent="0">
              <a:spcBef>
                <a:spcPts val="1600"/>
              </a:spcBef>
              <a:spcAft>
                <a:spcPts val="1600"/>
              </a:spcAft>
              <a:buNone/>
            </a:pPr>
            <a:r>
              <a:rPr lang="en">
                <a:solidFill>
                  <a:srgbClr val="0000FF"/>
                </a:solidFill>
              </a:rPr>
              <a:t>arr[1]=99</a:t>
            </a:r>
            <a:endParaRPr>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415600" y="136167"/>
            <a:ext cx="11360800" cy="763600"/>
          </a:xfrm>
          <a:prstGeom prst="rect">
            <a:avLst/>
          </a:prstGeom>
        </p:spPr>
        <p:txBody>
          <a:bodyPr spcFirstLastPara="1" vert="horz" wrap="square" lIns="121900" tIns="121900" rIns="121900" bIns="121900" rtlCol="0" anchor="t" anchorCtr="0">
            <a:normAutofit fontScale="90000"/>
          </a:bodyPr>
          <a:lstStyle/>
          <a:p>
            <a:r>
              <a:rPr lang="en"/>
              <a:t>Iterating over arrays</a:t>
            </a:r>
            <a:endParaRPr/>
          </a:p>
        </p:txBody>
      </p:sp>
      <p:sp>
        <p:nvSpPr>
          <p:cNvPr id="78" name="Google Shape;78;p17"/>
          <p:cNvSpPr txBox="1">
            <a:spLocks noGrp="1"/>
          </p:cNvSpPr>
          <p:nvPr>
            <p:ph type="body" idx="1"/>
          </p:nvPr>
        </p:nvSpPr>
        <p:spPr>
          <a:xfrm>
            <a:off x="415600" y="899767"/>
            <a:ext cx="11360800" cy="5834800"/>
          </a:xfrm>
          <a:prstGeom prst="rect">
            <a:avLst/>
          </a:prstGeom>
        </p:spPr>
        <p:txBody>
          <a:bodyPr spcFirstLastPara="1" vert="horz" wrap="square" lIns="121900" tIns="121900" rIns="121900" bIns="121900" rtlCol="0" anchor="t" anchorCtr="0">
            <a:normAutofit/>
          </a:bodyPr>
          <a:lstStyle/>
          <a:p>
            <a:pPr>
              <a:buClr>
                <a:schemeClr val="dk1"/>
              </a:buClr>
              <a:buAutoNum type="arabicPeriod"/>
            </a:pPr>
            <a:r>
              <a:rPr lang="en">
                <a:solidFill>
                  <a:schemeClr val="dk1"/>
                </a:solidFill>
              </a:rPr>
              <a:t>Iterate over values </a:t>
            </a:r>
            <a:endParaRPr>
              <a:solidFill>
                <a:schemeClr val="dk1"/>
              </a:solidFill>
            </a:endParaRPr>
          </a:p>
          <a:p>
            <a:pPr marL="0" indent="0">
              <a:spcBef>
                <a:spcPts val="1600"/>
              </a:spcBef>
              <a:buNone/>
            </a:pPr>
            <a:endParaRPr>
              <a:solidFill>
                <a:schemeClr val="dk1"/>
              </a:solidFill>
            </a:endParaRPr>
          </a:p>
          <a:p>
            <a:pPr marL="0" indent="0">
              <a:spcBef>
                <a:spcPts val="1600"/>
              </a:spcBef>
              <a:buNone/>
            </a:pPr>
            <a:endParaRPr>
              <a:solidFill>
                <a:schemeClr val="dk1"/>
              </a:solidFill>
            </a:endParaRPr>
          </a:p>
          <a:p>
            <a:pPr>
              <a:spcBef>
                <a:spcPts val="1600"/>
              </a:spcBef>
              <a:buClr>
                <a:schemeClr val="dk1"/>
              </a:buClr>
              <a:buAutoNum type="arabicPeriod"/>
            </a:pPr>
            <a:r>
              <a:rPr lang="en">
                <a:solidFill>
                  <a:schemeClr val="dk1"/>
                </a:solidFill>
              </a:rPr>
              <a:t>Iterate over indices</a:t>
            </a:r>
            <a:endParaRPr>
              <a:solidFill>
                <a:schemeClr val="dk1"/>
              </a:solidFill>
            </a:endParaRPr>
          </a:p>
          <a:p>
            <a:pPr marL="0" indent="0">
              <a:spcBef>
                <a:spcPts val="1600"/>
              </a:spcBef>
              <a:buNone/>
            </a:pPr>
            <a:endParaRPr>
              <a:solidFill>
                <a:schemeClr val="dk1"/>
              </a:solidFill>
            </a:endParaRPr>
          </a:p>
          <a:p>
            <a:pPr marL="0" indent="0">
              <a:spcBef>
                <a:spcPts val="1600"/>
              </a:spcBef>
              <a:buNone/>
            </a:pPr>
            <a:endParaRPr>
              <a:solidFill>
                <a:schemeClr val="dk1"/>
              </a:solidFill>
            </a:endParaRPr>
          </a:p>
          <a:p>
            <a:pPr>
              <a:spcBef>
                <a:spcPts val="1600"/>
              </a:spcBef>
              <a:buClr>
                <a:schemeClr val="dk1"/>
              </a:buClr>
              <a:buAutoNum type="arabicPeriod"/>
            </a:pPr>
            <a:r>
              <a:rPr lang="en">
                <a:solidFill>
                  <a:schemeClr val="dk1"/>
                </a:solidFill>
              </a:rPr>
              <a:t>C-style loop (index math)</a:t>
            </a:r>
            <a:endParaRPr>
              <a:solidFill>
                <a:schemeClr val="dk1"/>
              </a:solidFill>
            </a:endParaRPr>
          </a:p>
        </p:txBody>
      </p:sp>
      <p:pic>
        <p:nvPicPr>
          <p:cNvPr id="79" name="Google Shape;79;p17"/>
          <p:cNvPicPr preferRelativeResize="0"/>
          <p:nvPr/>
        </p:nvPicPr>
        <p:blipFill rotWithShape="1">
          <a:blip r:embed="rId3">
            <a:alphaModFix/>
          </a:blip>
          <a:srcRect l="34760" t="25042" r="46884" b="67570"/>
          <a:stretch/>
        </p:blipFill>
        <p:spPr>
          <a:xfrm>
            <a:off x="1655801" y="1383967"/>
            <a:ext cx="4025385" cy="1012467"/>
          </a:xfrm>
          <a:prstGeom prst="rect">
            <a:avLst/>
          </a:prstGeom>
          <a:noFill/>
          <a:ln>
            <a:noFill/>
          </a:ln>
        </p:spPr>
      </p:pic>
      <p:pic>
        <p:nvPicPr>
          <p:cNvPr id="80" name="Google Shape;80;p17"/>
          <p:cNvPicPr preferRelativeResize="0"/>
          <p:nvPr/>
        </p:nvPicPr>
        <p:blipFill>
          <a:blip r:embed="rId4">
            <a:alphaModFix/>
          </a:blip>
          <a:stretch>
            <a:fillRect/>
          </a:stretch>
        </p:blipFill>
        <p:spPr>
          <a:xfrm>
            <a:off x="1655801" y="3275200"/>
            <a:ext cx="4496511" cy="1012467"/>
          </a:xfrm>
          <a:prstGeom prst="rect">
            <a:avLst/>
          </a:prstGeom>
          <a:noFill/>
          <a:ln>
            <a:noFill/>
          </a:ln>
        </p:spPr>
      </p:pic>
      <p:pic>
        <p:nvPicPr>
          <p:cNvPr id="81" name="Google Shape;81;p17"/>
          <p:cNvPicPr preferRelativeResize="0"/>
          <p:nvPr/>
        </p:nvPicPr>
        <p:blipFill>
          <a:blip r:embed="rId5">
            <a:alphaModFix/>
          </a:blip>
          <a:stretch>
            <a:fillRect/>
          </a:stretch>
        </p:blipFill>
        <p:spPr>
          <a:xfrm>
            <a:off x="1586467" y="5370033"/>
            <a:ext cx="4692972" cy="9078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Passing arrays to functions (by reference vs by value)</a:t>
            </a:r>
            <a:endParaRPr/>
          </a:p>
        </p:txBody>
      </p:sp>
      <p:pic>
        <p:nvPicPr>
          <p:cNvPr id="87" name="Google Shape;87;p18"/>
          <p:cNvPicPr preferRelativeResize="0"/>
          <p:nvPr/>
        </p:nvPicPr>
        <p:blipFill>
          <a:blip r:embed="rId3">
            <a:alphaModFix/>
          </a:blip>
          <a:stretch>
            <a:fillRect/>
          </a:stretch>
        </p:blipFill>
        <p:spPr>
          <a:xfrm>
            <a:off x="512001" y="1685732"/>
            <a:ext cx="11168001" cy="398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Associative arrays (Bash 4+)</a:t>
            </a:r>
            <a:endParaRPr/>
          </a:p>
        </p:txBody>
      </p:sp>
      <p:pic>
        <p:nvPicPr>
          <p:cNvPr id="93" name="Google Shape;93;p19"/>
          <p:cNvPicPr preferRelativeResize="0"/>
          <p:nvPr/>
        </p:nvPicPr>
        <p:blipFill>
          <a:blip r:embed="rId3">
            <a:alphaModFix/>
          </a:blip>
          <a:stretch>
            <a:fillRect/>
          </a:stretch>
        </p:blipFill>
        <p:spPr>
          <a:xfrm>
            <a:off x="570800" y="1536633"/>
            <a:ext cx="6361333" cy="3577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415600" y="136167"/>
            <a:ext cx="11360800" cy="763600"/>
          </a:xfrm>
          <a:prstGeom prst="rect">
            <a:avLst/>
          </a:prstGeom>
        </p:spPr>
        <p:txBody>
          <a:bodyPr spcFirstLastPara="1" vert="horz" wrap="square" lIns="121900" tIns="121900" rIns="121900" bIns="121900" rtlCol="0" anchor="t" anchorCtr="0">
            <a:normAutofit fontScale="90000"/>
          </a:bodyPr>
          <a:lstStyle/>
          <a:p>
            <a:r>
              <a:rPr lang="en"/>
              <a:t>Simulating multi-dimensional arrays</a:t>
            </a:r>
            <a:endParaRPr/>
          </a:p>
        </p:txBody>
      </p:sp>
      <p:sp>
        <p:nvSpPr>
          <p:cNvPr id="99" name="Google Shape;99;p20"/>
          <p:cNvSpPr txBox="1">
            <a:spLocks noGrp="1"/>
          </p:cNvSpPr>
          <p:nvPr>
            <p:ph type="body" idx="1"/>
          </p:nvPr>
        </p:nvSpPr>
        <p:spPr>
          <a:xfrm>
            <a:off x="415600" y="819933"/>
            <a:ext cx="11360800" cy="5890000"/>
          </a:xfrm>
          <a:prstGeom prst="rect">
            <a:avLst/>
          </a:prstGeom>
        </p:spPr>
        <p:txBody>
          <a:bodyPr spcFirstLastPara="1" vert="horz" wrap="square" lIns="121900" tIns="121900" rIns="121900" bIns="121900" rtlCol="0" anchor="t" anchorCtr="0">
            <a:normAutofit/>
          </a:bodyPr>
          <a:lstStyle/>
          <a:p>
            <a:pPr>
              <a:buClr>
                <a:schemeClr val="accent2"/>
              </a:buClr>
              <a:buAutoNum type="arabicPeriod"/>
            </a:pPr>
            <a:r>
              <a:rPr lang="en">
                <a:solidFill>
                  <a:schemeClr val="accent2"/>
                </a:solidFill>
              </a:rPr>
              <a:t>Associative array with compound keys</a:t>
            </a:r>
            <a:endParaRPr>
              <a:solidFill>
                <a:schemeClr val="accent2"/>
              </a:solidFill>
            </a:endParaRPr>
          </a:p>
          <a:p>
            <a:pPr marL="0" indent="0">
              <a:spcBef>
                <a:spcPts val="1600"/>
              </a:spcBef>
              <a:buNone/>
            </a:pPr>
            <a:endParaRPr>
              <a:solidFill>
                <a:schemeClr val="accent2"/>
              </a:solidFill>
            </a:endParaRPr>
          </a:p>
          <a:p>
            <a:pPr marL="0" indent="0">
              <a:spcBef>
                <a:spcPts val="1600"/>
              </a:spcBef>
              <a:buNone/>
            </a:pPr>
            <a:endParaRPr>
              <a:solidFill>
                <a:schemeClr val="accent2"/>
              </a:solidFill>
            </a:endParaRPr>
          </a:p>
          <a:p>
            <a:pPr marL="0" indent="0">
              <a:spcBef>
                <a:spcPts val="1600"/>
              </a:spcBef>
              <a:buNone/>
            </a:pPr>
            <a:endParaRPr>
              <a:solidFill>
                <a:schemeClr val="accent2"/>
              </a:solidFill>
            </a:endParaRPr>
          </a:p>
          <a:p>
            <a:pPr>
              <a:spcBef>
                <a:spcPts val="1600"/>
              </a:spcBef>
              <a:buClr>
                <a:schemeClr val="accent2"/>
              </a:buClr>
              <a:buAutoNum type="arabicPeriod"/>
            </a:pPr>
            <a:r>
              <a:rPr lang="en">
                <a:solidFill>
                  <a:schemeClr val="accent2"/>
                </a:solidFill>
              </a:rPr>
              <a:t>Array-of-arrays</a:t>
            </a:r>
            <a:endParaRPr>
              <a:solidFill>
                <a:schemeClr val="accent2"/>
              </a:solidFill>
            </a:endParaRPr>
          </a:p>
        </p:txBody>
      </p:sp>
      <p:pic>
        <p:nvPicPr>
          <p:cNvPr id="100" name="Google Shape;100;p20"/>
          <p:cNvPicPr preferRelativeResize="0"/>
          <p:nvPr/>
        </p:nvPicPr>
        <p:blipFill>
          <a:blip r:embed="rId3">
            <a:alphaModFix/>
          </a:blip>
          <a:stretch>
            <a:fillRect/>
          </a:stretch>
        </p:blipFill>
        <p:spPr>
          <a:xfrm>
            <a:off x="1102133" y="1438867"/>
            <a:ext cx="2304067" cy="1897467"/>
          </a:xfrm>
          <a:prstGeom prst="rect">
            <a:avLst/>
          </a:prstGeom>
          <a:noFill/>
          <a:ln>
            <a:noFill/>
          </a:ln>
        </p:spPr>
      </p:pic>
      <p:pic>
        <p:nvPicPr>
          <p:cNvPr id="101" name="Google Shape;101;p20"/>
          <p:cNvPicPr preferRelativeResize="0"/>
          <p:nvPr/>
        </p:nvPicPr>
        <p:blipFill>
          <a:blip r:embed="rId4">
            <a:alphaModFix/>
          </a:blip>
          <a:stretch>
            <a:fillRect/>
          </a:stretch>
        </p:blipFill>
        <p:spPr>
          <a:xfrm>
            <a:off x="1102133" y="3981634"/>
            <a:ext cx="8294200" cy="23697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Converting a string to an array (splitting)</a:t>
            </a:r>
            <a:endParaRPr/>
          </a:p>
        </p:txBody>
      </p:sp>
      <p:pic>
        <p:nvPicPr>
          <p:cNvPr id="107" name="Google Shape;107;p21"/>
          <p:cNvPicPr preferRelativeResize="0"/>
          <p:nvPr/>
        </p:nvPicPr>
        <p:blipFill>
          <a:blip r:embed="rId3">
            <a:alphaModFix/>
          </a:blip>
          <a:stretch>
            <a:fillRect/>
          </a:stretch>
        </p:blipFill>
        <p:spPr>
          <a:xfrm>
            <a:off x="1272400" y="2213233"/>
            <a:ext cx="6731000" cy="2184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415600" y="74367"/>
            <a:ext cx="11360800" cy="763600"/>
          </a:xfrm>
          <a:prstGeom prst="rect">
            <a:avLst/>
          </a:prstGeom>
        </p:spPr>
        <p:txBody>
          <a:bodyPr spcFirstLastPara="1" vert="horz" wrap="square" lIns="121900" tIns="121900" rIns="121900" bIns="121900" rtlCol="0" anchor="t" anchorCtr="0">
            <a:normAutofit fontScale="90000"/>
          </a:bodyPr>
          <a:lstStyle/>
          <a:p>
            <a:r>
              <a:rPr lang="en"/>
              <a:t>Common operations &amp; tricks</a:t>
            </a:r>
            <a:endParaRPr/>
          </a:p>
        </p:txBody>
      </p:sp>
      <p:sp>
        <p:nvSpPr>
          <p:cNvPr id="113" name="Google Shape;113;p22"/>
          <p:cNvSpPr txBox="1">
            <a:spLocks noGrp="1"/>
          </p:cNvSpPr>
          <p:nvPr>
            <p:ph type="body" idx="1"/>
          </p:nvPr>
        </p:nvSpPr>
        <p:spPr>
          <a:xfrm>
            <a:off x="415600" y="708733"/>
            <a:ext cx="11360800" cy="5964000"/>
          </a:xfrm>
          <a:prstGeom prst="rect">
            <a:avLst/>
          </a:prstGeom>
        </p:spPr>
        <p:txBody>
          <a:bodyPr spcFirstLastPara="1" vert="horz" wrap="square" lIns="121900" tIns="121900" rIns="121900" bIns="121900" rtlCol="0" anchor="t" anchorCtr="0">
            <a:normAutofit/>
          </a:bodyPr>
          <a:lstStyle/>
          <a:p>
            <a:pPr indent="-406390">
              <a:buClr>
                <a:schemeClr val="dk1"/>
              </a:buClr>
              <a:buSzPts val="1200"/>
              <a:buAutoNum type="arabicPeriod"/>
            </a:pPr>
            <a:r>
              <a:rPr lang="en" sz="1600" b="1">
                <a:solidFill>
                  <a:schemeClr val="dk1"/>
                </a:solidFill>
              </a:rPr>
              <a:t>Print with printf</a:t>
            </a:r>
            <a:endParaRPr sz="1600" b="1">
              <a:solidFill>
                <a:schemeClr val="dk1"/>
              </a:solidFill>
            </a:endParaRPr>
          </a:p>
          <a:p>
            <a:pPr indent="0">
              <a:spcBef>
                <a:spcPts val="1600"/>
              </a:spcBef>
              <a:buNone/>
            </a:pPr>
            <a:endParaRPr sz="1600" b="1">
              <a:solidFill>
                <a:schemeClr val="dk1"/>
              </a:solidFill>
            </a:endParaRPr>
          </a:p>
          <a:p>
            <a:pPr indent="-406390">
              <a:spcBef>
                <a:spcPts val="1600"/>
              </a:spcBef>
              <a:buClr>
                <a:schemeClr val="dk1"/>
              </a:buClr>
              <a:buSzPts val="1200"/>
              <a:buAutoNum type="arabicPeriod"/>
            </a:pPr>
            <a:r>
              <a:rPr lang="en" sz="1600" b="1">
                <a:solidFill>
                  <a:schemeClr val="dk1"/>
                </a:solidFill>
              </a:rPr>
              <a:t>Join array into string with a custom separator:</a:t>
            </a:r>
            <a:endParaRPr sz="1600" b="1">
              <a:solidFill>
                <a:schemeClr val="dk1"/>
              </a:solidFill>
            </a:endParaRPr>
          </a:p>
          <a:p>
            <a:pPr marL="0" indent="0">
              <a:spcBef>
                <a:spcPts val="1600"/>
              </a:spcBef>
              <a:buNone/>
            </a:pPr>
            <a:endParaRPr sz="1600" b="1">
              <a:solidFill>
                <a:schemeClr val="dk1"/>
              </a:solidFill>
            </a:endParaRPr>
          </a:p>
          <a:p>
            <a:pPr marL="0" indent="0">
              <a:spcBef>
                <a:spcPts val="1600"/>
              </a:spcBef>
              <a:buNone/>
            </a:pPr>
            <a:endParaRPr sz="1600" b="1">
              <a:solidFill>
                <a:schemeClr val="dk1"/>
              </a:solidFill>
            </a:endParaRPr>
          </a:p>
          <a:p>
            <a:pPr indent="-406390">
              <a:spcBef>
                <a:spcPts val="1600"/>
              </a:spcBef>
              <a:buClr>
                <a:schemeClr val="dk1"/>
              </a:buClr>
              <a:buSzPts val="1200"/>
              <a:buAutoNum type="arabicPeriod"/>
            </a:pPr>
            <a:r>
              <a:rPr lang="en" sz="1600" b="1">
                <a:solidFill>
                  <a:schemeClr val="dk1"/>
                </a:solidFill>
              </a:rPr>
              <a:t>Slice array (get subset):</a:t>
            </a:r>
            <a:endParaRPr sz="1600" b="1">
              <a:solidFill>
                <a:schemeClr val="dk1"/>
              </a:solidFill>
            </a:endParaRPr>
          </a:p>
          <a:p>
            <a:pPr marL="0" indent="0">
              <a:spcBef>
                <a:spcPts val="1600"/>
              </a:spcBef>
              <a:buNone/>
            </a:pPr>
            <a:endParaRPr sz="1600" b="1">
              <a:solidFill>
                <a:schemeClr val="dk1"/>
              </a:solidFill>
            </a:endParaRPr>
          </a:p>
          <a:p>
            <a:pPr marL="0" indent="0">
              <a:spcBef>
                <a:spcPts val="1600"/>
              </a:spcBef>
              <a:buNone/>
            </a:pPr>
            <a:endParaRPr sz="1600" b="1">
              <a:solidFill>
                <a:schemeClr val="dk1"/>
              </a:solidFill>
            </a:endParaRPr>
          </a:p>
          <a:p>
            <a:pPr indent="-406390">
              <a:spcBef>
                <a:spcPts val="1600"/>
              </a:spcBef>
              <a:buClr>
                <a:schemeClr val="dk1"/>
              </a:buClr>
              <a:buSzPts val="1200"/>
              <a:buAutoNum type="arabicPeriod"/>
            </a:pPr>
            <a:r>
              <a:rPr lang="en" sz="1600" b="1">
                <a:solidFill>
                  <a:schemeClr val="dk1"/>
                </a:solidFill>
              </a:rPr>
              <a:t>Search for value (linear)</a:t>
            </a:r>
            <a:endParaRPr sz="1600" b="1">
              <a:solidFill>
                <a:schemeClr val="dk1"/>
              </a:solidFill>
            </a:endParaRPr>
          </a:p>
        </p:txBody>
      </p:sp>
      <p:pic>
        <p:nvPicPr>
          <p:cNvPr id="114" name="Google Shape;114;p22"/>
          <p:cNvPicPr preferRelativeResize="0"/>
          <p:nvPr/>
        </p:nvPicPr>
        <p:blipFill>
          <a:blip r:embed="rId3">
            <a:alphaModFix/>
          </a:blip>
          <a:stretch>
            <a:fillRect/>
          </a:stretch>
        </p:blipFill>
        <p:spPr>
          <a:xfrm>
            <a:off x="1165667" y="1145400"/>
            <a:ext cx="4201300" cy="483483"/>
          </a:xfrm>
          <a:prstGeom prst="rect">
            <a:avLst/>
          </a:prstGeom>
          <a:noFill/>
          <a:ln>
            <a:noFill/>
          </a:ln>
        </p:spPr>
      </p:pic>
      <p:pic>
        <p:nvPicPr>
          <p:cNvPr id="115" name="Google Shape;115;p22"/>
          <p:cNvPicPr preferRelativeResize="0"/>
          <p:nvPr/>
        </p:nvPicPr>
        <p:blipFill>
          <a:blip r:embed="rId4">
            <a:alphaModFix/>
          </a:blip>
          <a:stretch>
            <a:fillRect/>
          </a:stretch>
        </p:blipFill>
        <p:spPr>
          <a:xfrm>
            <a:off x="1165668" y="2156000"/>
            <a:ext cx="6797601" cy="921933"/>
          </a:xfrm>
          <a:prstGeom prst="rect">
            <a:avLst/>
          </a:prstGeom>
          <a:noFill/>
          <a:ln>
            <a:noFill/>
          </a:ln>
        </p:spPr>
      </p:pic>
      <p:pic>
        <p:nvPicPr>
          <p:cNvPr id="116" name="Google Shape;116;p22"/>
          <p:cNvPicPr preferRelativeResize="0"/>
          <p:nvPr/>
        </p:nvPicPr>
        <p:blipFill>
          <a:blip r:embed="rId5">
            <a:alphaModFix/>
          </a:blip>
          <a:stretch>
            <a:fillRect/>
          </a:stretch>
        </p:blipFill>
        <p:spPr>
          <a:xfrm>
            <a:off x="1165668" y="3605067"/>
            <a:ext cx="4005633" cy="858367"/>
          </a:xfrm>
          <a:prstGeom prst="rect">
            <a:avLst/>
          </a:prstGeom>
          <a:noFill/>
          <a:ln>
            <a:noFill/>
          </a:ln>
        </p:spPr>
      </p:pic>
      <p:pic>
        <p:nvPicPr>
          <p:cNvPr id="117" name="Google Shape;117;p22"/>
          <p:cNvPicPr preferRelativeResize="0"/>
          <p:nvPr/>
        </p:nvPicPr>
        <p:blipFill>
          <a:blip r:embed="rId6">
            <a:alphaModFix/>
          </a:blip>
          <a:stretch>
            <a:fillRect/>
          </a:stretch>
        </p:blipFill>
        <p:spPr>
          <a:xfrm>
            <a:off x="1165667" y="4990564"/>
            <a:ext cx="7571268" cy="14409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Some Examples</a:t>
            </a:r>
            <a:endParaRPr/>
          </a:p>
        </p:txBody>
      </p:sp>
      <p:sp>
        <p:nvSpPr>
          <p:cNvPr id="123" name="Google Shape;123;p23"/>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
                <a:solidFill>
                  <a:schemeClr val="dk1"/>
                </a:solidFill>
              </a:rPr>
              <a:t>#!/usr/bin/env bash</a:t>
            </a:r>
            <a:endParaRPr>
              <a:solidFill>
                <a:schemeClr val="dk1"/>
              </a:solidFill>
            </a:endParaRPr>
          </a:p>
          <a:p>
            <a:pPr marL="0" indent="0">
              <a:spcBef>
                <a:spcPts val="1600"/>
              </a:spcBef>
              <a:buClr>
                <a:schemeClr val="dk1"/>
              </a:buClr>
              <a:buSzPts val="1100"/>
              <a:buNone/>
            </a:pPr>
            <a:r>
              <a:rPr lang="en">
                <a:solidFill>
                  <a:schemeClr val="dk1"/>
                </a:solidFill>
              </a:rPr>
              <a:t>files=( *.txt ) # glob expansion: list of filenames</a:t>
            </a:r>
            <a:endParaRPr>
              <a:solidFill>
                <a:schemeClr val="dk1"/>
              </a:solidFill>
            </a:endParaRPr>
          </a:p>
          <a:p>
            <a:pPr marL="0" indent="0">
              <a:spcBef>
                <a:spcPts val="1600"/>
              </a:spcBef>
              <a:buClr>
                <a:schemeClr val="dk1"/>
              </a:buClr>
              <a:buSzPts val="1100"/>
              <a:buNone/>
            </a:pPr>
            <a:r>
              <a:rPr lang="en">
                <a:solidFill>
                  <a:schemeClr val="dk1"/>
                </a:solidFill>
              </a:rPr>
              <a:t>echo "Found ${#files[@]} text files" # ${#files[@]} = length</a:t>
            </a:r>
            <a:endParaRPr>
              <a:solidFill>
                <a:schemeClr val="dk1"/>
              </a:solidFill>
            </a:endParaRPr>
          </a:p>
          <a:p>
            <a:pPr marL="0" indent="0">
              <a:spcBef>
                <a:spcPts val="1600"/>
              </a:spcBef>
              <a:buClr>
                <a:schemeClr val="dk1"/>
              </a:buClr>
              <a:buSzPts val="1100"/>
              <a:buNone/>
            </a:pPr>
            <a:r>
              <a:rPr lang="en">
                <a:solidFill>
                  <a:schemeClr val="dk1"/>
                </a:solidFill>
              </a:rPr>
              <a:t>for f in "${files[@]}"; do</a:t>
            </a:r>
            <a:endParaRPr>
              <a:solidFill>
                <a:schemeClr val="dk1"/>
              </a:solidFill>
            </a:endParaRPr>
          </a:p>
          <a:p>
            <a:pPr marL="0" indent="0">
              <a:spcBef>
                <a:spcPts val="1600"/>
              </a:spcBef>
              <a:buClr>
                <a:schemeClr val="dk1"/>
              </a:buClr>
              <a:buSzPts val="1100"/>
              <a:buNone/>
            </a:pPr>
            <a:r>
              <a:rPr lang="en">
                <a:solidFill>
                  <a:schemeClr val="dk1"/>
                </a:solidFill>
              </a:rPr>
              <a:t>echo "Processing: $f"</a:t>
            </a:r>
            <a:endParaRPr>
              <a:solidFill>
                <a:schemeClr val="dk1"/>
              </a:solidFill>
            </a:endParaRPr>
          </a:p>
          <a:p>
            <a:pPr marL="0" indent="0">
              <a:spcBef>
                <a:spcPts val="1600"/>
              </a:spcBef>
              <a:spcAft>
                <a:spcPts val="1600"/>
              </a:spcAft>
              <a:buNone/>
            </a:pPr>
            <a:r>
              <a:rPr lang="en">
                <a:solidFill>
                  <a:schemeClr val="dk1"/>
                </a:solidFill>
              </a:rPr>
              <a:t>wc -w "\$f" done</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Example</a:t>
            </a:r>
            <a:endParaRPr/>
          </a:p>
        </p:txBody>
      </p:sp>
      <p:sp>
        <p:nvSpPr>
          <p:cNvPr id="129" name="Google Shape;129;p24"/>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lnSpcReduction="10000"/>
          </a:bodyPr>
          <a:lstStyle/>
          <a:p>
            <a:pPr marL="0" indent="0">
              <a:buClr>
                <a:schemeClr val="dk1"/>
              </a:buClr>
              <a:buSzPct val="61111"/>
              <a:buNone/>
            </a:pPr>
            <a:r>
              <a:rPr lang="en">
                <a:solidFill>
                  <a:schemeClr val="dk1"/>
                </a:solidFill>
              </a:rPr>
              <a:t>#!/usr/bin/env bash</a:t>
            </a:r>
            <a:endParaRPr>
              <a:solidFill>
                <a:schemeClr val="dk1"/>
              </a:solidFill>
            </a:endParaRPr>
          </a:p>
          <a:p>
            <a:pPr marL="0" indent="0">
              <a:spcBef>
                <a:spcPts val="1600"/>
              </a:spcBef>
              <a:buClr>
                <a:schemeClr val="dk1"/>
              </a:buClr>
              <a:buSzPct val="61111"/>
              <a:buNone/>
            </a:pPr>
            <a:r>
              <a:rPr lang="en">
                <a:solidFill>
                  <a:schemeClr val="dk1"/>
                </a:solidFill>
              </a:rPr>
              <a:t>declare -A marks # declare associative array</a:t>
            </a:r>
            <a:endParaRPr>
              <a:solidFill>
                <a:schemeClr val="dk1"/>
              </a:solidFill>
            </a:endParaRPr>
          </a:p>
          <a:p>
            <a:pPr marL="0" indent="0">
              <a:spcBef>
                <a:spcPts val="1600"/>
              </a:spcBef>
              <a:buClr>
                <a:schemeClr val="dk1"/>
              </a:buClr>
              <a:buSzPct val="61111"/>
              <a:buNone/>
            </a:pPr>
            <a:r>
              <a:rPr lang="en">
                <a:solidFill>
                  <a:schemeClr val="dk1"/>
                </a:solidFill>
              </a:rPr>
              <a:t>marks["Alice"]=82 # set value for key 'Alice'</a:t>
            </a:r>
            <a:endParaRPr>
              <a:solidFill>
                <a:schemeClr val="dk1"/>
              </a:solidFill>
            </a:endParaRPr>
          </a:p>
          <a:p>
            <a:pPr marL="0" indent="0">
              <a:spcBef>
                <a:spcPts val="1600"/>
              </a:spcBef>
              <a:buClr>
                <a:schemeClr val="dk1"/>
              </a:buClr>
              <a:buSzPct val="61111"/>
              <a:buNone/>
            </a:pPr>
            <a:r>
              <a:rPr lang="en">
                <a:solidFill>
                  <a:schemeClr val="dk1"/>
                </a:solidFill>
              </a:rPr>
              <a:t>marks["Bob"]=90</a:t>
            </a:r>
            <a:endParaRPr>
              <a:solidFill>
                <a:schemeClr val="dk1"/>
              </a:solidFill>
            </a:endParaRPr>
          </a:p>
          <a:p>
            <a:pPr marL="0" indent="0">
              <a:spcBef>
                <a:spcPts val="1600"/>
              </a:spcBef>
              <a:buClr>
                <a:schemeClr val="dk1"/>
              </a:buClr>
              <a:buSzPct val="61111"/>
              <a:buNone/>
            </a:pPr>
            <a:r>
              <a:rPr lang="en">
                <a:solidFill>
                  <a:schemeClr val="dk1"/>
                </a:solidFill>
              </a:rPr>
              <a:t>marks["Charlie"]=75</a:t>
            </a:r>
            <a:endParaRPr>
              <a:solidFill>
                <a:schemeClr val="dk1"/>
              </a:solidFill>
            </a:endParaRPr>
          </a:p>
          <a:p>
            <a:pPr marL="0" indent="0">
              <a:spcBef>
                <a:spcPts val="1600"/>
              </a:spcBef>
              <a:buClr>
                <a:schemeClr val="dk1"/>
              </a:buClr>
              <a:buSzPct val="61111"/>
              <a:buNone/>
            </a:pPr>
            <a:r>
              <a:rPr lang="en">
                <a:solidFill>
                  <a:schemeClr val="dk1"/>
                </a:solidFill>
              </a:rPr>
              <a:t>for student in "${!marks[@]}"; do</a:t>
            </a:r>
            <a:endParaRPr>
              <a:solidFill>
                <a:schemeClr val="dk1"/>
              </a:solidFill>
            </a:endParaRPr>
          </a:p>
          <a:p>
            <a:pPr marL="0" indent="0">
              <a:spcBef>
                <a:spcPts val="1600"/>
              </a:spcBef>
              <a:buClr>
                <a:schemeClr val="dk1"/>
              </a:buClr>
              <a:buSzPct val="61111"/>
              <a:buNone/>
            </a:pPr>
            <a:r>
              <a:rPr lang="en">
                <a:solidFill>
                  <a:schemeClr val="dk1"/>
                </a:solidFill>
              </a:rPr>
              <a:t>echo "$student =&gt; ${marks[$student]}"</a:t>
            </a:r>
            <a:endParaRPr>
              <a:solidFill>
                <a:schemeClr val="dk1"/>
              </a:solidFill>
            </a:endParaRPr>
          </a:p>
          <a:p>
            <a:pPr marL="0" indent="0">
              <a:spcBef>
                <a:spcPts val="1600"/>
              </a:spcBef>
              <a:buClr>
                <a:schemeClr val="dk1"/>
              </a:buClr>
              <a:buSzPct val="61111"/>
              <a:buNone/>
            </a:pPr>
            <a:r>
              <a:rPr lang="en">
                <a:solidFill>
                  <a:schemeClr val="dk1"/>
                </a:solidFill>
              </a:rPr>
              <a:t>done</a:t>
            </a:r>
            <a:endParaRPr>
              <a:solidFill>
                <a:schemeClr val="dk1"/>
              </a:solidFill>
            </a:endParaRPr>
          </a:p>
          <a:p>
            <a:pPr marL="0" indent="0">
              <a:spcBef>
                <a:spcPts val="1600"/>
              </a:spcBef>
              <a:spcAft>
                <a:spcPts val="1600"/>
              </a:spcAft>
              <a:buNone/>
            </a:pP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49E5-2997-4754-96BD-BD515259BBAB}"/>
              </a:ext>
            </a:extLst>
          </p:cNvPr>
          <p:cNvSpPr>
            <a:spLocks noGrp="1"/>
          </p:cNvSpPr>
          <p:nvPr>
            <p:ph type="title"/>
          </p:nvPr>
        </p:nvSpPr>
        <p:spPr>
          <a:xfrm>
            <a:off x="838200" y="365126"/>
            <a:ext cx="10515600" cy="748780"/>
          </a:xfrm>
        </p:spPr>
        <p:txBody>
          <a:bodyPr/>
          <a:lstStyle/>
          <a:p>
            <a:r>
              <a:rPr lang="en-US" b="1" dirty="0"/>
              <a:t>Functions</a:t>
            </a:r>
          </a:p>
        </p:txBody>
      </p:sp>
      <p:sp>
        <p:nvSpPr>
          <p:cNvPr id="3" name="Content Placeholder 2">
            <a:extLst>
              <a:ext uri="{FF2B5EF4-FFF2-40B4-BE49-F238E27FC236}">
                <a16:creationId xmlns:a16="http://schemas.microsoft.com/office/drawing/2014/main" id="{8B993645-3D0B-4A83-9C21-88E03B8564D7}"/>
              </a:ext>
            </a:extLst>
          </p:cNvPr>
          <p:cNvSpPr>
            <a:spLocks noGrp="1"/>
          </p:cNvSpPr>
          <p:nvPr>
            <p:ph idx="1"/>
          </p:nvPr>
        </p:nvSpPr>
        <p:spPr>
          <a:xfrm>
            <a:off x="838200" y="1113906"/>
            <a:ext cx="10515600" cy="5552901"/>
          </a:xfrm>
        </p:spPr>
        <p:txBody>
          <a:bodyPr>
            <a:normAutofit/>
          </a:bodyPr>
          <a:lstStyle/>
          <a:p>
            <a:pPr algn="just"/>
            <a:r>
              <a:rPr lang="en-US" sz="2400" dirty="0"/>
              <a:t>To avoid large and complicated scripts use functions.</a:t>
            </a:r>
          </a:p>
          <a:p>
            <a:pPr algn="just"/>
            <a:r>
              <a:rPr lang="en-US" sz="2400" dirty="0"/>
              <a:t>You divide large scripts into a small chunks/entities called functions.</a:t>
            </a:r>
          </a:p>
          <a:p>
            <a:pPr algn="just"/>
            <a:r>
              <a:rPr lang="en-US" sz="2400" dirty="0"/>
              <a:t>Functions makes shell script modular and easy to use.</a:t>
            </a:r>
          </a:p>
          <a:p>
            <a:pPr algn="just"/>
            <a:r>
              <a:rPr lang="en-US" sz="2400" dirty="0"/>
              <a:t>Function avoids repetitive code. For example, </a:t>
            </a:r>
            <a:r>
              <a:rPr lang="en-US" sz="2400" dirty="0" err="1"/>
              <a:t>is_root_user</a:t>
            </a:r>
            <a:r>
              <a:rPr lang="en-US" sz="2400" dirty="0"/>
              <a:t>() function can be reused by various shell scripts to determine whether logged on user is root or not.</a:t>
            </a:r>
          </a:p>
          <a:p>
            <a:pPr algn="just"/>
            <a:r>
              <a:rPr lang="en-US" sz="2400" dirty="0"/>
              <a:t>Function performs a specific task. For example, add or delete a user account.</a:t>
            </a:r>
          </a:p>
          <a:p>
            <a:pPr algn="just"/>
            <a:r>
              <a:rPr lang="en-US" sz="2400" dirty="0"/>
              <a:t>Function used like normal command.</a:t>
            </a:r>
          </a:p>
          <a:p>
            <a:pPr algn="just"/>
            <a:r>
              <a:rPr lang="en-US" sz="2400" dirty="0"/>
              <a:t>In other high level programming languages function is also known as procedure, method, subroutine, or routine.</a:t>
            </a:r>
          </a:p>
        </p:txBody>
      </p:sp>
    </p:spTree>
    <p:extLst>
      <p:ext uri="{BB962C8B-B14F-4D97-AF65-F5344CB8AC3E}">
        <p14:creationId xmlns:p14="http://schemas.microsoft.com/office/powerpoint/2010/main" val="2214599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D9DE23-DD18-4011-9541-9180A26AA774}"/>
              </a:ext>
            </a:extLst>
          </p:cNvPr>
          <p:cNvSpPr>
            <a:spLocks noGrp="1"/>
          </p:cNvSpPr>
          <p:nvPr>
            <p:ph idx="1"/>
          </p:nvPr>
        </p:nvSpPr>
        <p:spPr>
          <a:xfrm>
            <a:off x="399011" y="216131"/>
            <a:ext cx="11654444" cy="6467302"/>
          </a:xfrm>
        </p:spPr>
        <p:txBody>
          <a:bodyPr>
            <a:normAutofit fontScale="70000" lnSpcReduction="20000"/>
          </a:bodyPr>
          <a:lstStyle/>
          <a:p>
            <a:pPr marL="0" indent="0">
              <a:buNone/>
            </a:pPr>
            <a:r>
              <a:rPr lang="en-US" b="1" dirty="0"/>
              <a:t>Writing the hello() function</a:t>
            </a:r>
          </a:p>
          <a:p>
            <a:r>
              <a:rPr lang="en-US" dirty="0"/>
              <a:t>Type the following command at a shell prompt:</a:t>
            </a:r>
          </a:p>
          <a:p>
            <a:pPr marL="0" indent="0">
              <a:buNone/>
            </a:pPr>
            <a:endParaRPr lang="en-US" b="1" dirty="0"/>
          </a:p>
          <a:p>
            <a:pPr marL="0" indent="0">
              <a:buNone/>
            </a:pPr>
            <a:r>
              <a:rPr lang="en-US" b="1" dirty="0"/>
              <a:t>Invoking the hello() function</a:t>
            </a:r>
          </a:p>
          <a:p>
            <a:r>
              <a:rPr lang="en-US" dirty="0"/>
              <a:t>hello() function can be used like normal command. To execute, simply type:</a:t>
            </a:r>
          </a:p>
          <a:p>
            <a:pPr marL="0" indent="0">
              <a:buNone/>
            </a:pPr>
            <a:r>
              <a:rPr lang="en-US" i="1" dirty="0"/>
              <a:t>                                                                              hello</a:t>
            </a:r>
          </a:p>
          <a:p>
            <a:endParaRPr lang="en-US" dirty="0"/>
          </a:p>
          <a:p>
            <a:pPr marL="0" indent="0">
              <a:buNone/>
            </a:pPr>
            <a:r>
              <a:rPr lang="en-US" b="1" dirty="0"/>
              <a:t>Passing the arguments to the hello() function</a:t>
            </a:r>
          </a:p>
          <a:p>
            <a:r>
              <a:rPr lang="en-US" dirty="0"/>
              <a:t>You can pass command line arguments to user defined functions. Define hello as follows:</a:t>
            </a:r>
          </a:p>
          <a:p>
            <a:endParaRPr lang="en-US" dirty="0"/>
          </a:p>
          <a:p>
            <a:r>
              <a:rPr lang="en-US" dirty="0"/>
              <a:t>You can hello function and pass an argument as follows:</a:t>
            </a:r>
          </a:p>
          <a:p>
            <a:pPr marL="0" indent="0">
              <a:buNone/>
            </a:pPr>
            <a:r>
              <a:rPr lang="en-US" i="1" dirty="0"/>
              <a:t>                                                hello Vivek</a:t>
            </a:r>
            <a:endParaRPr lang="en-US" dirty="0"/>
          </a:p>
          <a:p>
            <a:r>
              <a:rPr lang="en-US" dirty="0"/>
              <a:t>Sample outputs:</a:t>
            </a:r>
          </a:p>
          <a:p>
            <a:pPr marL="0" indent="0">
              <a:buNone/>
            </a:pPr>
            <a:r>
              <a:rPr lang="en-US" i="1" dirty="0"/>
              <a:t>                                   Hello Vivek, let us be a friend.</a:t>
            </a:r>
          </a:p>
          <a:p>
            <a:pPr marL="0" indent="0">
              <a:buNone/>
            </a:pPr>
            <a:r>
              <a:rPr lang="en-US" b="1" dirty="0"/>
              <a:t>## NOTE:</a:t>
            </a:r>
          </a:p>
          <a:p>
            <a:pPr marL="0" indent="0">
              <a:buNone/>
            </a:pPr>
            <a:r>
              <a:rPr lang="en-US" dirty="0"/>
              <a:t>One line functions inside { ... } must end with a semicolon. Otherwise you get an error on screen:</a:t>
            </a:r>
          </a:p>
          <a:p>
            <a:pPr marL="0" indent="0">
              <a:buNone/>
            </a:pPr>
            <a:r>
              <a:rPr lang="en-US" i="1" dirty="0"/>
              <a:t>                                                         </a:t>
            </a:r>
            <a:r>
              <a:rPr lang="en-US" i="1" dirty="0" err="1"/>
              <a:t>xrpm</a:t>
            </a:r>
            <a:r>
              <a:rPr lang="en-US" i="1" dirty="0"/>
              <a:t>() { rpm2cpio "$1" | </a:t>
            </a:r>
            <a:r>
              <a:rPr lang="en-US" i="1" dirty="0" err="1"/>
              <a:t>cpio</a:t>
            </a:r>
            <a:r>
              <a:rPr lang="en-US" i="1" dirty="0"/>
              <a:t> -</a:t>
            </a:r>
            <a:r>
              <a:rPr lang="en-US" i="1" dirty="0" err="1"/>
              <a:t>idmv</a:t>
            </a:r>
            <a:r>
              <a:rPr lang="en-US" i="1" dirty="0"/>
              <a:t> }</a:t>
            </a:r>
          </a:p>
          <a:p>
            <a:pPr marL="0" indent="0">
              <a:buNone/>
            </a:pPr>
            <a:r>
              <a:rPr lang="en-US" dirty="0"/>
              <a:t>Above will not work. However, the following will work (notice semicolon at the end):</a:t>
            </a:r>
          </a:p>
          <a:p>
            <a:pPr marL="0" indent="0">
              <a:buNone/>
            </a:pPr>
            <a:r>
              <a:rPr lang="en-US" i="1" dirty="0"/>
              <a:t>                                                       </a:t>
            </a:r>
            <a:r>
              <a:rPr lang="en-US" i="1" dirty="0" err="1"/>
              <a:t>xrpm</a:t>
            </a:r>
            <a:r>
              <a:rPr lang="en-US" i="1" dirty="0"/>
              <a:t>() { rpm2cpio "$1" | </a:t>
            </a:r>
            <a:r>
              <a:rPr lang="en-US" i="1" dirty="0" err="1"/>
              <a:t>cpio</a:t>
            </a:r>
            <a:r>
              <a:rPr lang="en-US" i="1" dirty="0"/>
              <a:t> -</a:t>
            </a:r>
            <a:r>
              <a:rPr lang="en-US" i="1" dirty="0" err="1"/>
              <a:t>idmv</a:t>
            </a:r>
            <a:r>
              <a:rPr lang="en-US" i="1" dirty="0"/>
              <a:t>; }</a:t>
            </a:r>
          </a:p>
        </p:txBody>
      </p:sp>
      <p:pic>
        <p:nvPicPr>
          <p:cNvPr id="4" name="Picture 3">
            <a:extLst>
              <a:ext uri="{FF2B5EF4-FFF2-40B4-BE49-F238E27FC236}">
                <a16:creationId xmlns:a16="http://schemas.microsoft.com/office/drawing/2014/main" id="{2597EAD7-F673-4434-94FC-91E7C27AAB7A}"/>
              </a:ext>
            </a:extLst>
          </p:cNvPr>
          <p:cNvPicPr>
            <a:picLocks noChangeAspect="1"/>
          </p:cNvPicPr>
          <p:nvPr/>
        </p:nvPicPr>
        <p:blipFill>
          <a:blip r:embed="rId2"/>
          <a:stretch>
            <a:fillRect/>
          </a:stretch>
        </p:blipFill>
        <p:spPr>
          <a:xfrm>
            <a:off x="3292070" y="975258"/>
            <a:ext cx="5901807" cy="486530"/>
          </a:xfrm>
          <a:prstGeom prst="rect">
            <a:avLst/>
          </a:prstGeom>
        </p:spPr>
      </p:pic>
      <p:pic>
        <p:nvPicPr>
          <p:cNvPr id="5" name="Picture 4">
            <a:extLst>
              <a:ext uri="{FF2B5EF4-FFF2-40B4-BE49-F238E27FC236}">
                <a16:creationId xmlns:a16="http://schemas.microsoft.com/office/drawing/2014/main" id="{7F0637AE-A581-40B8-BCDC-3AA437EC90CE}"/>
              </a:ext>
            </a:extLst>
          </p:cNvPr>
          <p:cNvPicPr>
            <a:picLocks noChangeAspect="1"/>
          </p:cNvPicPr>
          <p:nvPr/>
        </p:nvPicPr>
        <p:blipFill>
          <a:blip r:embed="rId3"/>
          <a:stretch>
            <a:fillRect/>
          </a:stretch>
        </p:blipFill>
        <p:spPr>
          <a:xfrm>
            <a:off x="2349947" y="3969091"/>
            <a:ext cx="7492106" cy="352351"/>
          </a:xfrm>
          <a:prstGeom prst="rect">
            <a:avLst/>
          </a:prstGeom>
        </p:spPr>
      </p:pic>
    </p:spTree>
    <p:extLst>
      <p:ext uri="{BB962C8B-B14F-4D97-AF65-F5344CB8AC3E}">
        <p14:creationId xmlns:p14="http://schemas.microsoft.com/office/powerpoint/2010/main" val="2884644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ACD8-B224-4876-9652-5E0AC373BD2B}"/>
              </a:ext>
            </a:extLst>
          </p:cNvPr>
          <p:cNvSpPr>
            <a:spLocks noGrp="1"/>
          </p:cNvSpPr>
          <p:nvPr>
            <p:ph type="title"/>
          </p:nvPr>
        </p:nvSpPr>
        <p:spPr>
          <a:xfrm>
            <a:off x="365759" y="365125"/>
            <a:ext cx="10515600" cy="499399"/>
          </a:xfrm>
        </p:spPr>
        <p:txBody>
          <a:bodyPr>
            <a:noAutofit/>
          </a:bodyPr>
          <a:lstStyle/>
          <a:p>
            <a:r>
              <a:rPr lang="en-US" sz="4800" b="1" dirty="0"/>
              <a:t>Displaying functions</a:t>
            </a:r>
          </a:p>
        </p:txBody>
      </p:sp>
      <p:sp>
        <p:nvSpPr>
          <p:cNvPr id="3" name="Content Placeholder 2">
            <a:extLst>
              <a:ext uri="{FF2B5EF4-FFF2-40B4-BE49-F238E27FC236}">
                <a16:creationId xmlns:a16="http://schemas.microsoft.com/office/drawing/2014/main" id="{5DB2B4DB-296B-438A-ADF8-66125A2F5E57}"/>
              </a:ext>
            </a:extLst>
          </p:cNvPr>
          <p:cNvSpPr>
            <a:spLocks noGrp="1"/>
          </p:cNvSpPr>
          <p:nvPr>
            <p:ph idx="1"/>
          </p:nvPr>
        </p:nvSpPr>
        <p:spPr>
          <a:xfrm>
            <a:off x="365759" y="1204766"/>
            <a:ext cx="11687695" cy="5142871"/>
          </a:xfrm>
        </p:spPr>
        <p:txBody>
          <a:bodyPr/>
          <a:lstStyle/>
          <a:p>
            <a:r>
              <a:rPr lang="en-US" dirty="0"/>
              <a:t>To display defined function names use the declare command. Type the following command at a shell prompt:</a:t>
            </a:r>
          </a:p>
          <a:p>
            <a:pPr marL="0" indent="0">
              <a:buNone/>
            </a:pPr>
            <a:r>
              <a:rPr lang="en-US" i="1" dirty="0"/>
              <a:t>                                            declare -f</a:t>
            </a:r>
          </a:p>
          <a:p>
            <a:r>
              <a:rPr lang="en-US" dirty="0"/>
              <a:t>Sample outputs:</a:t>
            </a:r>
          </a:p>
          <a:p>
            <a:pPr marL="0" indent="0">
              <a:buNone/>
            </a:pPr>
            <a:r>
              <a:rPr lang="en-US" i="1" dirty="0"/>
              <a:t>declare -f </a:t>
            </a:r>
            <a:r>
              <a:rPr lang="en-US" i="1" dirty="0" err="1"/>
              <a:t>command_not_found_handle</a:t>
            </a:r>
            <a:endParaRPr lang="en-US" i="1" dirty="0"/>
          </a:p>
          <a:p>
            <a:pPr marL="0" indent="0">
              <a:buNone/>
            </a:pPr>
            <a:r>
              <a:rPr lang="en-US" i="1" dirty="0"/>
              <a:t>declare -f </a:t>
            </a:r>
            <a:r>
              <a:rPr lang="en-US" i="1" dirty="0" err="1"/>
              <a:t>genpasswd</a:t>
            </a:r>
            <a:endParaRPr lang="en-US" i="1" dirty="0"/>
          </a:p>
          <a:p>
            <a:pPr marL="0" indent="0">
              <a:buNone/>
            </a:pPr>
            <a:r>
              <a:rPr lang="en-US" i="1" dirty="0"/>
              <a:t>declare -f grabmp3</a:t>
            </a:r>
          </a:p>
          <a:p>
            <a:pPr marL="0" indent="0">
              <a:buNone/>
            </a:pPr>
            <a:r>
              <a:rPr lang="en-US" i="1" dirty="0"/>
              <a:t>declare -f hello</a:t>
            </a:r>
          </a:p>
          <a:p>
            <a:pPr marL="0" indent="0">
              <a:buNone/>
            </a:pPr>
            <a:r>
              <a:rPr lang="en-US" i="1" dirty="0"/>
              <a:t>declare -f mp3</a:t>
            </a:r>
          </a:p>
          <a:p>
            <a:pPr marL="0" indent="0">
              <a:buNone/>
            </a:pPr>
            <a:r>
              <a:rPr lang="en-US" i="1" dirty="0"/>
              <a:t>declare -f </a:t>
            </a:r>
            <a:r>
              <a:rPr lang="en-US" i="1" dirty="0" err="1"/>
              <a:t>xrpm</a:t>
            </a:r>
            <a:endParaRPr lang="en-US" i="1" dirty="0"/>
          </a:p>
        </p:txBody>
      </p:sp>
    </p:spTree>
    <p:extLst>
      <p:ext uri="{BB962C8B-B14F-4D97-AF65-F5344CB8AC3E}">
        <p14:creationId xmlns:p14="http://schemas.microsoft.com/office/powerpoint/2010/main" val="3511690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D53035-3F76-459B-AC95-CD437A2ADD32}"/>
              </a:ext>
            </a:extLst>
          </p:cNvPr>
          <p:cNvSpPr>
            <a:spLocks noGrp="1"/>
          </p:cNvSpPr>
          <p:nvPr>
            <p:ph idx="1"/>
          </p:nvPr>
        </p:nvSpPr>
        <p:spPr>
          <a:xfrm>
            <a:off x="189806" y="163079"/>
            <a:ext cx="11880273" cy="6520353"/>
          </a:xfrm>
        </p:spPr>
        <p:txBody>
          <a:bodyPr/>
          <a:lstStyle/>
          <a:p>
            <a:pPr marL="0" indent="0">
              <a:buNone/>
            </a:pPr>
            <a:r>
              <a:rPr lang="en-US" b="1" dirty="0"/>
              <a:t>Display Function Source Code</a:t>
            </a:r>
          </a:p>
          <a:p>
            <a:r>
              <a:rPr lang="en-US" dirty="0"/>
              <a:t>To view function names and source code, enter:</a:t>
            </a:r>
          </a:p>
          <a:p>
            <a:pPr marL="0" indent="0">
              <a:buNone/>
            </a:pPr>
            <a:r>
              <a:rPr lang="en-US" dirty="0"/>
              <a:t>                                                  </a:t>
            </a:r>
            <a:r>
              <a:rPr lang="en-US" i="1" dirty="0"/>
              <a:t>declare –f       </a:t>
            </a:r>
            <a:r>
              <a:rPr lang="en-US" dirty="0"/>
              <a:t>OR    </a:t>
            </a:r>
            <a:r>
              <a:rPr lang="en-US" i="1" dirty="0"/>
              <a:t>declare -f | less</a:t>
            </a:r>
          </a:p>
          <a:p>
            <a:r>
              <a:rPr lang="en-US" dirty="0"/>
              <a:t>To view a specific function source code, enter:</a:t>
            </a:r>
          </a:p>
          <a:p>
            <a:pPr marL="0" indent="0">
              <a:buNone/>
            </a:pPr>
            <a:r>
              <a:rPr lang="en-US" i="1" dirty="0"/>
              <a:t>                                                declare -f </a:t>
            </a:r>
            <a:r>
              <a:rPr lang="en-US" i="1" dirty="0" err="1"/>
              <a:t>functioName</a:t>
            </a:r>
            <a:endParaRPr lang="en-US" i="1" dirty="0"/>
          </a:p>
          <a:p>
            <a:pPr marL="0" indent="0">
              <a:buNone/>
            </a:pPr>
            <a:r>
              <a:rPr lang="en-US" i="1" dirty="0"/>
              <a:t>                                                declare -f </a:t>
            </a:r>
            <a:r>
              <a:rPr lang="en-US" i="1" dirty="0" err="1"/>
              <a:t>xrpm</a:t>
            </a:r>
            <a:endParaRPr lang="en-US" i="1" dirty="0"/>
          </a:p>
          <a:p>
            <a:r>
              <a:rPr lang="en-US" dirty="0"/>
              <a:t>Notice if you just type the declare command with no arguments, then it will list all declared variables and functions.</a:t>
            </a:r>
          </a:p>
          <a:p>
            <a:pPr marL="0" indent="0">
              <a:buNone/>
            </a:pPr>
            <a:r>
              <a:rPr lang="en-US" b="1" dirty="0"/>
              <a:t>Removing functions</a:t>
            </a:r>
          </a:p>
          <a:p>
            <a:r>
              <a:rPr lang="en-US" dirty="0"/>
              <a:t>To unset or remove the function use the unset command as follows:</a:t>
            </a:r>
          </a:p>
          <a:p>
            <a:pPr marL="0" indent="0">
              <a:buNone/>
            </a:pPr>
            <a:r>
              <a:rPr lang="en-US" dirty="0"/>
              <a:t>                                             </a:t>
            </a:r>
            <a:r>
              <a:rPr lang="en-US" i="1" dirty="0"/>
              <a:t>unset -f </a:t>
            </a:r>
            <a:r>
              <a:rPr lang="en-US" i="1" dirty="0" err="1"/>
              <a:t>functionName</a:t>
            </a:r>
            <a:endParaRPr lang="en-US" i="1" dirty="0"/>
          </a:p>
          <a:p>
            <a:pPr marL="0" indent="0">
              <a:buNone/>
            </a:pPr>
            <a:r>
              <a:rPr lang="en-US" i="1" dirty="0"/>
              <a:t>                                             unset -f hello</a:t>
            </a:r>
          </a:p>
          <a:p>
            <a:pPr marL="0" indent="0">
              <a:buNone/>
            </a:pPr>
            <a:r>
              <a:rPr lang="en-US" i="1" dirty="0"/>
              <a:t>                                             declare</a:t>
            </a:r>
          </a:p>
        </p:txBody>
      </p:sp>
    </p:spTree>
    <p:extLst>
      <p:ext uri="{BB962C8B-B14F-4D97-AF65-F5344CB8AC3E}">
        <p14:creationId xmlns:p14="http://schemas.microsoft.com/office/powerpoint/2010/main" val="3134757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4EB1-7584-4BC0-BC04-3201B23F0A6F}"/>
              </a:ext>
            </a:extLst>
          </p:cNvPr>
          <p:cNvSpPr>
            <a:spLocks noGrp="1"/>
          </p:cNvSpPr>
          <p:nvPr>
            <p:ph type="title"/>
          </p:nvPr>
        </p:nvSpPr>
        <p:spPr>
          <a:xfrm>
            <a:off x="838200" y="365126"/>
            <a:ext cx="10515600" cy="315912"/>
          </a:xfrm>
        </p:spPr>
        <p:txBody>
          <a:bodyPr>
            <a:normAutofit fontScale="90000"/>
          </a:bodyPr>
          <a:lstStyle/>
          <a:p>
            <a:r>
              <a:rPr lang="en-US" dirty="0"/>
              <a:t>Defining functions</a:t>
            </a:r>
          </a:p>
        </p:txBody>
      </p:sp>
      <p:sp>
        <p:nvSpPr>
          <p:cNvPr id="3" name="Content Placeholder 2">
            <a:extLst>
              <a:ext uri="{FF2B5EF4-FFF2-40B4-BE49-F238E27FC236}">
                <a16:creationId xmlns:a16="http://schemas.microsoft.com/office/drawing/2014/main" id="{A6ECD826-90A3-4017-B961-ABDBF09B2D63}"/>
              </a:ext>
            </a:extLst>
          </p:cNvPr>
          <p:cNvSpPr>
            <a:spLocks noGrp="1"/>
          </p:cNvSpPr>
          <p:nvPr>
            <p:ph idx="1"/>
          </p:nvPr>
        </p:nvSpPr>
        <p:spPr>
          <a:xfrm>
            <a:off x="306185" y="881148"/>
            <a:ext cx="11547764" cy="5611725"/>
          </a:xfrm>
        </p:spPr>
        <p:txBody>
          <a:bodyPr>
            <a:normAutofit/>
          </a:bodyPr>
          <a:lstStyle/>
          <a:p>
            <a:pPr marL="0" indent="0">
              <a:buNone/>
            </a:pPr>
            <a:r>
              <a:rPr lang="en-US" i="1" dirty="0"/>
              <a:t>name() </a:t>
            </a:r>
            <a:r>
              <a:rPr lang="en-US" i="1" dirty="0" err="1"/>
              <a:t>compound_command</a:t>
            </a:r>
            <a:r>
              <a:rPr lang="en-US" i="1" dirty="0"/>
              <a:t> </a:t>
            </a:r>
          </a:p>
          <a:p>
            <a:pPr marL="0" indent="0">
              <a:buNone/>
            </a:pPr>
            <a:r>
              <a:rPr lang="en-US" dirty="0"/>
              <a:t>OR</a:t>
            </a:r>
          </a:p>
          <a:p>
            <a:pPr marL="0" indent="0">
              <a:buNone/>
            </a:pPr>
            <a:r>
              <a:rPr lang="en-US" i="1" dirty="0"/>
              <a:t>function name {</a:t>
            </a:r>
          </a:p>
          <a:p>
            <a:pPr marL="0" indent="0">
              <a:buNone/>
            </a:pPr>
            <a:r>
              <a:rPr lang="en-US" i="1" dirty="0"/>
              <a:t>command1</a:t>
            </a:r>
          </a:p>
          <a:p>
            <a:pPr marL="0" indent="0">
              <a:buNone/>
            </a:pPr>
            <a:r>
              <a:rPr lang="en-US" i="1" dirty="0"/>
              <a:t>command2</a:t>
            </a:r>
          </a:p>
          <a:p>
            <a:pPr marL="0" indent="0">
              <a:buNone/>
            </a:pPr>
            <a:r>
              <a:rPr lang="en-US" i="1" dirty="0"/>
              <a:t>}</a:t>
            </a:r>
          </a:p>
          <a:p>
            <a:pPr marL="0" indent="0">
              <a:buNone/>
            </a:pPr>
            <a:r>
              <a:rPr lang="en-US" dirty="0"/>
              <a:t>OR</a:t>
            </a:r>
          </a:p>
          <a:p>
            <a:pPr marL="0" indent="0">
              <a:buNone/>
            </a:pPr>
            <a:r>
              <a:rPr lang="en-US" i="1" dirty="0"/>
              <a:t>function name() {</a:t>
            </a:r>
          </a:p>
          <a:p>
            <a:pPr marL="0" indent="0">
              <a:buNone/>
            </a:pPr>
            <a:r>
              <a:rPr lang="en-US" i="1" dirty="0"/>
              <a:t>command1</a:t>
            </a:r>
          </a:p>
          <a:p>
            <a:pPr marL="0" indent="0">
              <a:buNone/>
            </a:pPr>
            <a:r>
              <a:rPr lang="en-US" i="1" dirty="0"/>
              <a:t>command2</a:t>
            </a:r>
          </a:p>
          <a:p>
            <a:pPr marL="0" indent="0">
              <a:buNone/>
            </a:pPr>
            <a:r>
              <a:rPr lang="en-US" i="1" dirty="0"/>
              <a:t>}</a:t>
            </a:r>
          </a:p>
        </p:txBody>
      </p:sp>
    </p:spTree>
    <p:extLst>
      <p:ext uri="{BB962C8B-B14F-4D97-AF65-F5344CB8AC3E}">
        <p14:creationId xmlns:p14="http://schemas.microsoft.com/office/powerpoint/2010/main" val="1668631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C5B67A-A1EB-46B0-ACE6-3CA92F682FE3}"/>
              </a:ext>
            </a:extLst>
          </p:cNvPr>
          <p:cNvSpPr>
            <a:spLocks noGrp="1"/>
          </p:cNvSpPr>
          <p:nvPr>
            <p:ph idx="1"/>
          </p:nvPr>
        </p:nvSpPr>
        <p:spPr>
          <a:xfrm>
            <a:off x="239682" y="262832"/>
            <a:ext cx="11697393" cy="6387350"/>
          </a:xfrm>
        </p:spPr>
        <p:txBody>
          <a:bodyPr>
            <a:normAutofit fontScale="85000" lnSpcReduction="20000"/>
          </a:bodyPr>
          <a:lstStyle/>
          <a:p>
            <a:pPr marL="0" indent="0">
              <a:buNone/>
            </a:pPr>
            <a:r>
              <a:rPr lang="en-US" b="1" dirty="0"/>
              <a:t>One Line Functions Syntax</a:t>
            </a:r>
          </a:p>
          <a:p>
            <a:r>
              <a:rPr lang="en-US" dirty="0"/>
              <a:t>One line functions inside { ... } must end with a semicolon:</a:t>
            </a:r>
          </a:p>
          <a:p>
            <a:pPr marL="0" indent="0">
              <a:buNone/>
            </a:pPr>
            <a:r>
              <a:rPr lang="en-US" dirty="0"/>
              <a:t>             </a:t>
            </a:r>
            <a:r>
              <a:rPr lang="en-US" i="1" dirty="0"/>
              <a:t>function name { command1; command2; </a:t>
            </a:r>
            <a:r>
              <a:rPr lang="en-US" i="1" dirty="0" err="1"/>
              <a:t>commandN</a:t>
            </a:r>
            <a:r>
              <a:rPr lang="en-US" i="1" dirty="0"/>
              <a:t>;}</a:t>
            </a:r>
          </a:p>
          <a:p>
            <a:pPr marL="0" indent="0">
              <a:buNone/>
            </a:pPr>
            <a:r>
              <a:rPr lang="en-US" dirty="0"/>
              <a:t>                                                              OR</a:t>
            </a:r>
          </a:p>
          <a:p>
            <a:pPr marL="0" indent="0">
              <a:buNone/>
            </a:pPr>
            <a:r>
              <a:rPr lang="en-US" i="1" dirty="0"/>
              <a:t>             name() { command1; command2; </a:t>
            </a:r>
            <a:r>
              <a:rPr lang="en-US" i="1" dirty="0" err="1"/>
              <a:t>commandN</a:t>
            </a:r>
            <a:r>
              <a:rPr lang="en-US" i="1" dirty="0"/>
              <a:t>;}</a:t>
            </a:r>
          </a:p>
          <a:p>
            <a:r>
              <a:rPr lang="en-US" dirty="0"/>
              <a:t>where name is the name of the function, and "command1; command2;" is a list of commands used in the function.</a:t>
            </a:r>
          </a:p>
          <a:p>
            <a:r>
              <a:rPr lang="en-US" dirty="0"/>
              <a:t>You need to replace name with actual function name such as </a:t>
            </a:r>
            <a:r>
              <a:rPr lang="en-US" dirty="0" err="1"/>
              <a:t>delete_account</a:t>
            </a:r>
            <a:r>
              <a:rPr lang="en-US" dirty="0"/>
              <a:t>:</a:t>
            </a:r>
          </a:p>
          <a:p>
            <a:pPr marL="0" indent="0">
              <a:buNone/>
            </a:pPr>
            <a:r>
              <a:rPr lang="en-US" i="1" dirty="0"/>
              <a:t>rollback(){</a:t>
            </a:r>
          </a:p>
          <a:p>
            <a:pPr marL="0" indent="0">
              <a:buNone/>
            </a:pPr>
            <a:r>
              <a:rPr lang="en-US" i="1" dirty="0"/>
              <a:t>...</a:t>
            </a:r>
          </a:p>
          <a:p>
            <a:pPr marL="0" indent="0">
              <a:buNone/>
            </a:pPr>
            <a:r>
              <a:rPr lang="en-US" i="1" dirty="0"/>
              <a:t>}</a:t>
            </a:r>
          </a:p>
          <a:p>
            <a:pPr marL="0" indent="0">
              <a:buNone/>
            </a:pPr>
            <a:r>
              <a:rPr lang="en-US" i="1" dirty="0" err="1"/>
              <a:t>add_user</a:t>
            </a:r>
            <a:r>
              <a:rPr lang="en-US" i="1" dirty="0"/>
              <a:t>(){</a:t>
            </a:r>
          </a:p>
          <a:p>
            <a:pPr marL="0" indent="0">
              <a:buNone/>
            </a:pPr>
            <a:r>
              <a:rPr lang="en-US" i="1" dirty="0"/>
              <a:t>...</a:t>
            </a:r>
          </a:p>
          <a:p>
            <a:pPr marL="0" indent="0">
              <a:buNone/>
            </a:pPr>
            <a:r>
              <a:rPr lang="en-US" i="1" dirty="0"/>
              <a:t>}</a:t>
            </a:r>
          </a:p>
          <a:p>
            <a:pPr marL="0" indent="0">
              <a:buNone/>
            </a:pPr>
            <a:r>
              <a:rPr lang="en-US" i="1" dirty="0" err="1"/>
              <a:t>delete_user</a:t>
            </a:r>
            <a:r>
              <a:rPr lang="en-US" i="1" dirty="0"/>
              <a:t>(){</a:t>
            </a:r>
          </a:p>
          <a:p>
            <a:pPr marL="0" indent="0">
              <a:buNone/>
            </a:pPr>
            <a:r>
              <a:rPr lang="en-US" i="1" dirty="0"/>
              <a:t>...</a:t>
            </a:r>
          </a:p>
          <a:p>
            <a:pPr marL="0" indent="0">
              <a:buNone/>
            </a:pPr>
            <a:r>
              <a:rPr lang="en-US" i="1" dirty="0"/>
              <a:t>}</a:t>
            </a:r>
          </a:p>
        </p:txBody>
      </p:sp>
    </p:spTree>
    <p:extLst>
      <p:ext uri="{BB962C8B-B14F-4D97-AF65-F5344CB8AC3E}">
        <p14:creationId xmlns:p14="http://schemas.microsoft.com/office/powerpoint/2010/main" val="3321563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4535EA-DCAD-4EE9-A4B3-A7764DFD65C2}"/>
              </a:ext>
            </a:extLst>
          </p:cNvPr>
          <p:cNvPicPr>
            <a:picLocks noChangeAspect="1"/>
          </p:cNvPicPr>
          <p:nvPr/>
        </p:nvPicPr>
        <p:blipFill>
          <a:blip r:embed="rId2"/>
          <a:stretch>
            <a:fillRect/>
          </a:stretch>
        </p:blipFill>
        <p:spPr>
          <a:xfrm>
            <a:off x="1896414" y="117499"/>
            <a:ext cx="8399171" cy="6623002"/>
          </a:xfrm>
          <a:prstGeom prst="rect">
            <a:avLst/>
          </a:prstGeom>
        </p:spPr>
      </p:pic>
    </p:spTree>
    <p:extLst>
      <p:ext uri="{BB962C8B-B14F-4D97-AF65-F5344CB8AC3E}">
        <p14:creationId xmlns:p14="http://schemas.microsoft.com/office/powerpoint/2010/main" val="2179544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DC9CB-EEA8-48C8-8780-5435326562E4}"/>
              </a:ext>
            </a:extLst>
          </p:cNvPr>
          <p:cNvSpPr>
            <a:spLocks noGrp="1"/>
          </p:cNvSpPr>
          <p:nvPr>
            <p:ph type="title"/>
          </p:nvPr>
        </p:nvSpPr>
        <p:spPr>
          <a:xfrm>
            <a:off x="838200" y="365126"/>
            <a:ext cx="10515600" cy="315912"/>
          </a:xfrm>
        </p:spPr>
        <p:txBody>
          <a:bodyPr>
            <a:normAutofit fontScale="90000"/>
          </a:bodyPr>
          <a:lstStyle/>
          <a:p>
            <a:r>
              <a:rPr lang="en-US" b="1" dirty="0"/>
              <a:t>Writing functions</a:t>
            </a:r>
          </a:p>
        </p:txBody>
      </p:sp>
      <p:sp>
        <p:nvSpPr>
          <p:cNvPr id="3" name="Content Placeholder 2">
            <a:extLst>
              <a:ext uri="{FF2B5EF4-FFF2-40B4-BE49-F238E27FC236}">
                <a16:creationId xmlns:a16="http://schemas.microsoft.com/office/drawing/2014/main" id="{CE0556C6-DAF9-4068-9B82-C0B3BAD04403}"/>
              </a:ext>
            </a:extLst>
          </p:cNvPr>
          <p:cNvSpPr>
            <a:spLocks noGrp="1"/>
          </p:cNvSpPr>
          <p:nvPr>
            <p:ph idx="1"/>
          </p:nvPr>
        </p:nvSpPr>
        <p:spPr>
          <a:xfrm>
            <a:off x="405938" y="877974"/>
            <a:ext cx="11414760" cy="5772208"/>
          </a:xfrm>
        </p:spPr>
        <p:txBody>
          <a:bodyPr>
            <a:normAutofit fontScale="92500" lnSpcReduction="20000"/>
          </a:bodyPr>
          <a:lstStyle/>
          <a:p>
            <a:pPr marL="0" indent="0" algn="just">
              <a:buNone/>
            </a:pPr>
            <a:r>
              <a:rPr lang="en-US" b="1" dirty="0"/>
              <a:t>Write shell function:</a:t>
            </a:r>
          </a:p>
          <a:p>
            <a:pPr marL="0" indent="0" algn="just">
              <a:buNone/>
            </a:pPr>
            <a:r>
              <a:rPr lang="en-US" i="1" dirty="0"/>
              <a:t>name() {</a:t>
            </a:r>
          </a:p>
          <a:p>
            <a:pPr marL="0" indent="0" algn="just">
              <a:buNone/>
            </a:pPr>
            <a:r>
              <a:rPr lang="en-US" i="1" dirty="0"/>
              <a:t>command list;</a:t>
            </a:r>
          </a:p>
          <a:p>
            <a:pPr marL="0" indent="0" algn="just">
              <a:buNone/>
            </a:pPr>
            <a:r>
              <a:rPr lang="en-US" i="1" dirty="0"/>
              <a:t>}</a:t>
            </a:r>
          </a:p>
          <a:p>
            <a:pPr algn="just"/>
            <a:r>
              <a:rPr lang="en-US" dirty="0"/>
              <a:t>The idea is very simple create a modular scripts.</a:t>
            </a:r>
          </a:p>
          <a:p>
            <a:pPr algn="just"/>
            <a:r>
              <a:rPr lang="en-US" dirty="0"/>
              <a:t>Place frequently used commands or logic in a script.</a:t>
            </a:r>
          </a:p>
          <a:p>
            <a:pPr algn="just"/>
            <a:r>
              <a:rPr lang="en-US" dirty="0"/>
              <a:t>You can call the function whenever it is required rather writing or repeating the same code again.</a:t>
            </a:r>
          </a:p>
          <a:p>
            <a:pPr algn="just"/>
            <a:r>
              <a:rPr lang="en-US" dirty="0"/>
              <a:t>You can create a functions file</a:t>
            </a:r>
            <a:r>
              <a:rPr lang="en-US" i="1" dirty="0"/>
              <a:t>:                 </a:t>
            </a:r>
            <a:r>
              <a:rPr lang="en-US" b="1" i="1" dirty="0"/>
              <a:t>/</a:t>
            </a:r>
            <a:r>
              <a:rPr lang="en-US" b="1" i="1" dirty="0" err="1"/>
              <a:t>etc</a:t>
            </a:r>
            <a:r>
              <a:rPr lang="en-US" b="1" i="1" dirty="0"/>
              <a:t>/</a:t>
            </a:r>
            <a:r>
              <a:rPr lang="en-US" b="1" i="1" dirty="0" err="1"/>
              <a:t>init.d</a:t>
            </a:r>
            <a:r>
              <a:rPr lang="en-US" b="1" i="1" dirty="0"/>
              <a:t>/functions </a:t>
            </a:r>
          </a:p>
          <a:p>
            <a:pPr marL="0" indent="0" algn="just">
              <a:buNone/>
            </a:pPr>
            <a:r>
              <a:rPr lang="en-US" dirty="0"/>
              <a:t>is default functions file which contains functions to be used by most or all shell scripts in the </a:t>
            </a:r>
            <a:r>
              <a:rPr lang="en-US" b="1" i="1" dirty="0"/>
              <a:t>/</a:t>
            </a:r>
            <a:r>
              <a:rPr lang="en-US" b="1" i="1" dirty="0" err="1"/>
              <a:t>etc</a:t>
            </a:r>
            <a:r>
              <a:rPr lang="en-US" b="1" i="1" dirty="0"/>
              <a:t>/</a:t>
            </a:r>
            <a:r>
              <a:rPr lang="en-US" b="1" i="1" dirty="0" err="1"/>
              <a:t>init.d</a:t>
            </a:r>
            <a:r>
              <a:rPr lang="en-US" b="1" i="1" dirty="0"/>
              <a:t> </a:t>
            </a:r>
            <a:r>
              <a:rPr lang="en-US" dirty="0"/>
              <a:t>directory. This file can be autoloaded as and when required.</a:t>
            </a:r>
          </a:p>
          <a:p>
            <a:pPr algn="just"/>
            <a:r>
              <a:rPr lang="en-US" dirty="0"/>
              <a:t>You can view </a:t>
            </a:r>
            <a:r>
              <a:rPr lang="en-US" b="1" i="1" dirty="0"/>
              <a:t>/</a:t>
            </a:r>
            <a:r>
              <a:rPr lang="en-US" b="1" i="1" dirty="0" err="1"/>
              <a:t>etc</a:t>
            </a:r>
            <a:r>
              <a:rPr lang="en-US" b="1" i="1" dirty="0"/>
              <a:t>/</a:t>
            </a:r>
            <a:r>
              <a:rPr lang="en-US" b="1" i="1" dirty="0" err="1"/>
              <a:t>init.d</a:t>
            </a:r>
            <a:r>
              <a:rPr lang="en-US" b="1" i="1" dirty="0"/>
              <a:t>/functions </a:t>
            </a:r>
            <a:r>
              <a:rPr lang="en-US" dirty="0"/>
              <a:t>file with the following command:</a:t>
            </a:r>
          </a:p>
          <a:p>
            <a:pPr marL="0" indent="0" algn="just">
              <a:buNone/>
            </a:pPr>
            <a:r>
              <a:rPr lang="en-US" b="1" i="1" dirty="0"/>
              <a:t>less /</a:t>
            </a:r>
            <a:r>
              <a:rPr lang="en-US" b="1" i="1" dirty="0" err="1"/>
              <a:t>etc</a:t>
            </a:r>
            <a:r>
              <a:rPr lang="en-US" b="1" i="1" dirty="0"/>
              <a:t>/</a:t>
            </a:r>
            <a:r>
              <a:rPr lang="en-US" b="1" i="1" dirty="0" err="1"/>
              <a:t>init.d</a:t>
            </a:r>
            <a:r>
              <a:rPr lang="en-US" b="1" i="1" dirty="0"/>
              <a:t>/functions</a:t>
            </a:r>
          </a:p>
          <a:p>
            <a:pPr algn="just"/>
            <a:endParaRPr lang="en-US" dirty="0"/>
          </a:p>
          <a:p>
            <a:pPr algn="just"/>
            <a:endParaRPr lang="en-US" dirty="0"/>
          </a:p>
        </p:txBody>
      </p:sp>
    </p:spTree>
    <p:extLst>
      <p:ext uri="{BB962C8B-B14F-4D97-AF65-F5344CB8AC3E}">
        <p14:creationId xmlns:p14="http://schemas.microsoft.com/office/powerpoint/2010/main" val="1128762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DD1477-5A3C-4E76-A01D-F1BC67F259B4}"/>
              </a:ext>
            </a:extLst>
          </p:cNvPr>
          <p:cNvSpPr>
            <a:spLocks noGrp="1"/>
          </p:cNvSpPr>
          <p:nvPr>
            <p:ph idx="1"/>
          </p:nvPr>
        </p:nvSpPr>
        <p:spPr>
          <a:xfrm>
            <a:off x="605443" y="329334"/>
            <a:ext cx="10999123" cy="6021590"/>
          </a:xfrm>
        </p:spPr>
        <p:txBody>
          <a:bodyPr>
            <a:normAutofit/>
          </a:bodyPr>
          <a:lstStyle/>
          <a:p>
            <a:r>
              <a:rPr lang="en-US" dirty="0"/>
              <a:t>All shell functions are treated as a command.</a:t>
            </a:r>
          </a:p>
          <a:p>
            <a:r>
              <a:rPr lang="en-US" dirty="0"/>
              <a:t>You must define a function at the start of a script.</a:t>
            </a:r>
          </a:p>
          <a:p>
            <a:r>
              <a:rPr lang="en-US" dirty="0"/>
              <a:t>You must load a function file at the start of a script using source (or .) command:</a:t>
            </a:r>
          </a:p>
          <a:p>
            <a:pPr marL="0" indent="0">
              <a:buNone/>
            </a:pPr>
            <a:r>
              <a:rPr lang="en-US" dirty="0"/>
              <a:t>                                   </a:t>
            </a:r>
            <a:r>
              <a:rPr lang="en-US" i="1" dirty="0"/>
              <a:t>. /path/to/fuctions.sh</a:t>
            </a:r>
          </a:p>
          <a:p>
            <a:endParaRPr lang="en-US" dirty="0"/>
          </a:p>
          <a:p>
            <a:pPr marL="0" indent="0">
              <a:buNone/>
            </a:pPr>
            <a:r>
              <a:rPr lang="en-US" dirty="0"/>
              <a:t>                                                   OR</a:t>
            </a:r>
          </a:p>
          <a:p>
            <a:pPr marL="0" indent="0">
              <a:buNone/>
            </a:pPr>
            <a:r>
              <a:rPr lang="en-US" i="1" dirty="0"/>
              <a:t>                                 source /path/to/fuctions.sh</a:t>
            </a:r>
          </a:p>
          <a:p>
            <a:r>
              <a:rPr lang="en-US" dirty="0"/>
              <a:t> You can call function like normal command:</a:t>
            </a:r>
          </a:p>
          <a:p>
            <a:pPr marL="0" indent="0">
              <a:buNone/>
            </a:pPr>
            <a:r>
              <a:rPr lang="en-US" i="1" dirty="0"/>
              <a:t>name</a:t>
            </a:r>
          </a:p>
          <a:p>
            <a:pPr marL="0" indent="0">
              <a:buNone/>
            </a:pPr>
            <a:r>
              <a:rPr lang="en-US" i="1" dirty="0"/>
              <a:t>name arg1 arg2</a:t>
            </a:r>
          </a:p>
        </p:txBody>
      </p:sp>
    </p:spTree>
    <p:extLst>
      <p:ext uri="{BB962C8B-B14F-4D97-AF65-F5344CB8AC3E}">
        <p14:creationId xmlns:p14="http://schemas.microsoft.com/office/powerpoint/2010/main" val="245227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33B3-5625-4BFF-9553-434E99C2AD38}"/>
              </a:ext>
            </a:extLst>
          </p:cNvPr>
          <p:cNvSpPr>
            <a:spLocks noGrp="1"/>
          </p:cNvSpPr>
          <p:nvPr>
            <p:ph type="title"/>
          </p:nvPr>
        </p:nvSpPr>
        <p:spPr>
          <a:xfrm>
            <a:off x="838200" y="198264"/>
            <a:ext cx="10515600" cy="482773"/>
          </a:xfrm>
        </p:spPr>
        <p:txBody>
          <a:bodyPr>
            <a:normAutofit fontScale="90000"/>
          </a:bodyPr>
          <a:lstStyle/>
          <a:p>
            <a:r>
              <a:rPr lang="en-US" dirty="0"/>
              <a:t>Write a function at the start of a script</a:t>
            </a:r>
          </a:p>
        </p:txBody>
      </p:sp>
      <p:sp>
        <p:nvSpPr>
          <p:cNvPr id="3" name="Content Placeholder 2">
            <a:extLst>
              <a:ext uri="{FF2B5EF4-FFF2-40B4-BE49-F238E27FC236}">
                <a16:creationId xmlns:a16="http://schemas.microsoft.com/office/drawing/2014/main" id="{82C1F020-682E-4EBE-9D2F-D38A2E731A56}"/>
              </a:ext>
            </a:extLst>
          </p:cNvPr>
          <p:cNvSpPr>
            <a:spLocks noGrp="1"/>
          </p:cNvSpPr>
          <p:nvPr>
            <p:ph idx="1"/>
          </p:nvPr>
        </p:nvSpPr>
        <p:spPr>
          <a:xfrm>
            <a:off x="472439" y="811472"/>
            <a:ext cx="11431385" cy="5848263"/>
          </a:xfrm>
        </p:spPr>
        <p:txBody>
          <a:bodyPr/>
          <a:lstStyle/>
          <a:p>
            <a:r>
              <a:rPr lang="en-US" dirty="0"/>
              <a:t>A function must be created before calling. For example, the following script (ftest.sh) will fail:</a:t>
            </a:r>
          </a:p>
          <a:p>
            <a:endParaRPr lang="en-US" dirty="0"/>
          </a:p>
        </p:txBody>
      </p:sp>
      <p:pic>
        <p:nvPicPr>
          <p:cNvPr id="4" name="Picture 3">
            <a:extLst>
              <a:ext uri="{FF2B5EF4-FFF2-40B4-BE49-F238E27FC236}">
                <a16:creationId xmlns:a16="http://schemas.microsoft.com/office/drawing/2014/main" id="{CBB57D99-35C5-4B27-9941-F7A2F9A07CA2}"/>
              </a:ext>
            </a:extLst>
          </p:cNvPr>
          <p:cNvPicPr>
            <a:picLocks noChangeAspect="1"/>
          </p:cNvPicPr>
          <p:nvPr/>
        </p:nvPicPr>
        <p:blipFill>
          <a:blip r:embed="rId2"/>
          <a:stretch>
            <a:fillRect/>
          </a:stretch>
        </p:blipFill>
        <p:spPr>
          <a:xfrm>
            <a:off x="3962101" y="1386185"/>
            <a:ext cx="4516881" cy="4073260"/>
          </a:xfrm>
          <a:prstGeom prst="rect">
            <a:avLst/>
          </a:prstGeom>
        </p:spPr>
      </p:pic>
      <p:pic>
        <p:nvPicPr>
          <p:cNvPr id="6" name="Picture 5">
            <a:extLst>
              <a:ext uri="{FF2B5EF4-FFF2-40B4-BE49-F238E27FC236}">
                <a16:creationId xmlns:a16="http://schemas.microsoft.com/office/drawing/2014/main" id="{4D30539D-A189-460A-A4CF-707F39CD954A}"/>
              </a:ext>
            </a:extLst>
          </p:cNvPr>
          <p:cNvPicPr>
            <a:picLocks noChangeAspect="1"/>
          </p:cNvPicPr>
          <p:nvPr/>
        </p:nvPicPr>
        <p:blipFill>
          <a:blip r:embed="rId3"/>
          <a:stretch>
            <a:fillRect/>
          </a:stretch>
        </p:blipFill>
        <p:spPr>
          <a:xfrm>
            <a:off x="838200" y="5529912"/>
            <a:ext cx="9033515" cy="1008491"/>
          </a:xfrm>
          <a:prstGeom prst="rect">
            <a:avLst/>
          </a:prstGeom>
        </p:spPr>
      </p:pic>
    </p:spTree>
    <p:extLst>
      <p:ext uri="{BB962C8B-B14F-4D97-AF65-F5344CB8AC3E}">
        <p14:creationId xmlns:p14="http://schemas.microsoft.com/office/powerpoint/2010/main" val="1877015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D7B682-F679-44C2-86BC-4C968D003DBE}"/>
              </a:ext>
            </a:extLst>
          </p:cNvPr>
          <p:cNvPicPr>
            <a:picLocks noChangeAspect="1"/>
          </p:cNvPicPr>
          <p:nvPr/>
        </p:nvPicPr>
        <p:blipFill>
          <a:blip r:embed="rId2"/>
          <a:stretch>
            <a:fillRect/>
          </a:stretch>
        </p:blipFill>
        <p:spPr>
          <a:xfrm>
            <a:off x="223138" y="344969"/>
            <a:ext cx="11745723" cy="5673446"/>
          </a:xfrm>
          <a:prstGeom prst="rect">
            <a:avLst/>
          </a:prstGeom>
        </p:spPr>
      </p:pic>
    </p:spTree>
    <p:extLst>
      <p:ext uri="{BB962C8B-B14F-4D97-AF65-F5344CB8AC3E}">
        <p14:creationId xmlns:p14="http://schemas.microsoft.com/office/powerpoint/2010/main" val="411376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C9788-BB79-437F-9E23-8D9C05E36B7C}"/>
              </a:ext>
            </a:extLst>
          </p:cNvPr>
          <p:cNvSpPr>
            <a:spLocks noGrp="1"/>
          </p:cNvSpPr>
          <p:nvPr>
            <p:ph type="title"/>
          </p:nvPr>
        </p:nvSpPr>
        <p:spPr>
          <a:xfrm>
            <a:off x="838200" y="365126"/>
            <a:ext cx="10515600" cy="466148"/>
          </a:xfrm>
        </p:spPr>
        <p:txBody>
          <a:bodyPr>
            <a:normAutofit fontScale="90000"/>
          </a:bodyPr>
          <a:lstStyle/>
          <a:p>
            <a:r>
              <a:rPr lang="en-US" dirty="0"/>
              <a:t>Calling functions</a:t>
            </a:r>
          </a:p>
        </p:txBody>
      </p:sp>
      <p:sp>
        <p:nvSpPr>
          <p:cNvPr id="3" name="Content Placeholder 2">
            <a:extLst>
              <a:ext uri="{FF2B5EF4-FFF2-40B4-BE49-F238E27FC236}">
                <a16:creationId xmlns:a16="http://schemas.microsoft.com/office/drawing/2014/main" id="{D52FC98D-59C3-4514-BCA8-3E213A628DFE}"/>
              </a:ext>
            </a:extLst>
          </p:cNvPr>
          <p:cNvSpPr>
            <a:spLocks noGrp="1"/>
          </p:cNvSpPr>
          <p:nvPr>
            <p:ph idx="1"/>
          </p:nvPr>
        </p:nvSpPr>
        <p:spPr>
          <a:xfrm>
            <a:off x="522316" y="1010978"/>
            <a:ext cx="11298381" cy="5847022"/>
          </a:xfrm>
        </p:spPr>
        <p:txBody>
          <a:bodyPr>
            <a:normAutofit/>
          </a:bodyPr>
          <a:lstStyle/>
          <a:p>
            <a:r>
              <a:rPr lang="en-US" sz="2400" dirty="0"/>
              <a:t>To call or invoke the function, type the name of the function:</a:t>
            </a:r>
          </a:p>
          <a:p>
            <a:pPr marL="0" indent="0">
              <a:buNone/>
            </a:pPr>
            <a:r>
              <a:rPr lang="en-US" sz="2400" i="1" dirty="0"/>
              <a:t>                                                        </a:t>
            </a:r>
            <a:r>
              <a:rPr lang="en-US" sz="2400" i="1" dirty="0" err="1"/>
              <a:t>functioName</a:t>
            </a:r>
            <a:endParaRPr lang="en-US" sz="2400" i="1" dirty="0"/>
          </a:p>
          <a:p>
            <a:r>
              <a:rPr lang="en-US" sz="2400" dirty="0"/>
              <a:t>For example, define and write a function called </a:t>
            </a:r>
            <a:r>
              <a:rPr lang="en-US" sz="2400" dirty="0" err="1"/>
              <a:t>yday</a:t>
            </a:r>
            <a:r>
              <a:rPr lang="en-US" sz="2400" dirty="0"/>
              <a:t>() to display yesterday's date: </a:t>
            </a:r>
          </a:p>
          <a:p>
            <a:endParaRPr lang="en-US" sz="2400" dirty="0"/>
          </a:p>
          <a:p>
            <a:r>
              <a:rPr lang="en-US" sz="2400" dirty="0"/>
              <a:t>To invoke the function </a:t>
            </a:r>
            <a:r>
              <a:rPr lang="en-US" sz="2400" dirty="0" err="1"/>
              <a:t>yday</a:t>
            </a:r>
            <a:r>
              <a:rPr lang="en-US" sz="2400" dirty="0"/>
              <a:t>():                           </a:t>
            </a:r>
            <a:r>
              <a:rPr lang="en-US" sz="2400" i="1" dirty="0"/>
              <a:t>  </a:t>
            </a:r>
            <a:r>
              <a:rPr lang="en-US" sz="2400" i="1" dirty="0" err="1"/>
              <a:t>yday</a:t>
            </a:r>
            <a:endParaRPr lang="en-US" sz="2400" dirty="0"/>
          </a:p>
          <a:p>
            <a:r>
              <a:rPr lang="en-US" sz="2400" dirty="0"/>
              <a:t>In the end the program should like as follows:</a:t>
            </a:r>
          </a:p>
        </p:txBody>
      </p:sp>
      <p:pic>
        <p:nvPicPr>
          <p:cNvPr id="4" name="Picture 3">
            <a:extLst>
              <a:ext uri="{FF2B5EF4-FFF2-40B4-BE49-F238E27FC236}">
                <a16:creationId xmlns:a16="http://schemas.microsoft.com/office/drawing/2014/main" id="{47A26C01-757C-47A7-8A6A-F5C15ED4C8ED}"/>
              </a:ext>
            </a:extLst>
          </p:cNvPr>
          <p:cNvPicPr>
            <a:picLocks noChangeAspect="1"/>
          </p:cNvPicPr>
          <p:nvPr/>
        </p:nvPicPr>
        <p:blipFill>
          <a:blip r:embed="rId2"/>
          <a:stretch>
            <a:fillRect/>
          </a:stretch>
        </p:blipFill>
        <p:spPr>
          <a:xfrm>
            <a:off x="3439285" y="2367031"/>
            <a:ext cx="5754591" cy="477891"/>
          </a:xfrm>
          <a:prstGeom prst="rect">
            <a:avLst/>
          </a:prstGeom>
        </p:spPr>
      </p:pic>
      <p:pic>
        <p:nvPicPr>
          <p:cNvPr id="5" name="Picture 4">
            <a:extLst>
              <a:ext uri="{FF2B5EF4-FFF2-40B4-BE49-F238E27FC236}">
                <a16:creationId xmlns:a16="http://schemas.microsoft.com/office/drawing/2014/main" id="{32AB6648-5AB6-4CDB-8101-84DD7427DAA2}"/>
              </a:ext>
            </a:extLst>
          </p:cNvPr>
          <p:cNvPicPr>
            <a:picLocks noChangeAspect="1"/>
          </p:cNvPicPr>
          <p:nvPr/>
        </p:nvPicPr>
        <p:blipFill>
          <a:blip r:embed="rId3"/>
          <a:stretch>
            <a:fillRect/>
          </a:stretch>
        </p:blipFill>
        <p:spPr>
          <a:xfrm>
            <a:off x="2103334" y="3655214"/>
            <a:ext cx="4389833" cy="3202786"/>
          </a:xfrm>
          <a:prstGeom prst="rect">
            <a:avLst/>
          </a:prstGeom>
        </p:spPr>
      </p:pic>
    </p:spTree>
    <p:extLst>
      <p:ext uri="{BB962C8B-B14F-4D97-AF65-F5344CB8AC3E}">
        <p14:creationId xmlns:p14="http://schemas.microsoft.com/office/powerpoint/2010/main" val="3333287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D5F2-4CE1-4967-8147-2BC78C840065}"/>
              </a:ext>
            </a:extLst>
          </p:cNvPr>
          <p:cNvSpPr>
            <a:spLocks noGrp="1"/>
          </p:cNvSpPr>
          <p:nvPr>
            <p:ph type="title"/>
          </p:nvPr>
        </p:nvSpPr>
        <p:spPr>
          <a:xfrm>
            <a:off x="838200" y="365125"/>
            <a:ext cx="10515600" cy="499399"/>
          </a:xfrm>
        </p:spPr>
        <p:txBody>
          <a:bodyPr>
            <a:normAutofit fontScale="90000"/>
          </a:bodyPr>
          <a:lstStyle/>
          <a:p>
            <a:r>
              <a:rPr lang="en-US" dirty="0"/>
              <a:t>Pass arguments into a function</a:t>
            </a:r>
          </a:p>
        </p:txBody>
      </p:sp>
      <p:sp>
        <p:nvSpPr>
          <p:cNvPr id="3" name="Content Placeholder 2">
            <a:extLst>
              <a:ext uri="{FF2B5EF4-FFF2-40B4-BE49-F238E27FC236}">
                <a16:creationId xmlns:a16="http://schemas.microsoft.com/office/drawing/2014/main" id="{158A6009-BE70-4F64-A403-7D6E273F7C53}"/>
              </a:ext>
            </a:extLst>
          </p:cNvPr>
          <p:cNvSpPr>
            <a:spLocks noGrp="1"/>
          </p:cNvSpPr>
          <p:nvPr>
            <p:ph idx="1"/>
          </p:nvPr>
        </p:nvSpPr>
        <p:spPr>
          <a:xfrm>
            <a:off x="422563" y="1027602"/>
            <a:ext cx="11547763" cy="5622579"/>
          </a:xfrm>
        </p:spPr>
        <p:txBody>
          <a:bodyPr>
            <a:normAutofit fontScale="85000" lnSpcReduction="20000"/>
          </a:bodyPr>
          <a:lstStyle/>
          <a:p>
            <a:r>
              <a:rPr lang="en-US" dirty="0"/>
              <a:t>Shell functions have their own command line argument.</a:t>
            </a:r>
          </a:p>
          <a:p>
            <a:r>
              <a:rPr lang="en-US" dirty="0"/>
              <a:t>Use variable $1, $2..$n to access argument passed to the function.</a:t>
            </a:r>
          </a:p>
          <a:p>
            <a:r>
              <a:rPr lang="en-US" dirty="0"/>
              <a:t>The syntax is as follows:</a:t>
            </a:r>
          </a:p>
          <a:p>
            <a:pPr marL="0" indent="0">
              <a:buNone/>
            </a:pPr>
            <a:r>
              <a:rPr lang="en-US" i="1" dirty="0"/>
              <a:t>name(){</a:t>
            </a:r>
          </a:p>
          <a:p>
            <a:pPr marL="0" indent="0">
              <a:buNone/>
            </a:pPr>
            <a:r>
              <a:rPr lang="en-US" i="1" dirty="0"/>
              <a:t>arg1=$1</a:t>
            </a:r>
          </a:p>
          <a:p>
            <a:pPr marL="0" indent="0">
              <a:buNone/>
            </a:pPr>
            <a:r>
              <a:rPr lang="en-US" i="1" dirty="0"/>
              <a:t>arg2=$2</a:t>
            </a:r>
          </a:p>
          <a:p>
            <a:pPr marL="0" indent="0">
              <a:buNone/>
            </a:pPr>
            <a:r>
              <a:rPr lang="en-US" i="1" dirty="0"/>
              <a:t>command on $arg1</a:t>
            </a:r>
          </a:p>
          <a:p>
            <a:pPr marL="0" indent="0">
              <a:buNone/>
            </a:pPr>
            <a:r>
              <a:rPr lang="en-US" i="1" dirty="0"/>
              <a:t>}</a:t>
            </a:r>
          </a:p>
          <a:p>
            <a:r>
              <a:rPr lang="en-US" dirty="0"/>
              <a:t>To invoke the function use the following syntax:</a:t>
            </a:r>
          </a:p>
          <a:p>
            <a:pPr marL="0" indent="0">
              <a:buNone/>
            </a:pPr>
            <a:r>
              <a:rPr lang="en-US" i="1" dirty="0"/>
              <a:t>                                            name foo bar</a:t>
            </a:r>
          </a:p>
          <a:p>
            <a:r>
              <a:rPr lang="en-US" dirty="0"/>
              <a:t>Where,</a:t>
            </a:r>
          </a:p>
          <a:p>
            <a:pPr marL="0" indent="0">
              <a:buNone/>
            </a:pPr>
            <a:r>
              <a:rPr lang="en-US" dirty="0"/>
              <a:t>1. </a:t>
            </a:r>
            <a:r>
              <a:rPr lang="en-US" b="1" dirty="0"/>
              <a:t>name</a:t>
            </a:r>
            <a:r>
              <a:rPr lang="en-US" dirty="0"/>
              <a:t> = function name.</a:t>
            </a:r>
          </a:p>
          <a:p>
            <a:pPr marL="0" indent="0">
              <a:buNone/>
            </a:pPr>
            <a:r>
              <a:rPr lang="en-US" dirty="0"/>
              <a:t>2. </a:t>
            </a:r>
            <a:r>
              <a:rPr lang="en-US" b="1" dirty="0"/>
              <a:t>foo</a:t>
            </a:r>
            <a:r>
              <a:rPr lang="en-US" dirty="0"/>
              <a:t> = Argument # 1 passed to the function (positional parameter # 1).</a:t>
            </a:r>
          </a:p>
          <a:p>
            <a:pPr marL="0" indent="0">
              <a:buNone/>
            </a:pPr>
            <a:r>
              <a:rPr lang="en-US" dirty="0"/>
              <a:t>3. </a:t>
            </a:r>
            <a:r>
              <a:rPr lang="en-US" b="1" dirty="0"/>
              <a:t>bar</a:t>
            </a:r>
            <a:r>
              <a:rPr lang="en-US" dirty="0"/>
              <a:t> = Argument # 2 passed to the function.</a:t>
            </a:r>
          </a:p>
        </p:txBody>
      </p:sp>
    </p:spTree>
    <p:extLst>
      <p:ext uri="{BB962C8B-B14F-4D97-AF65-F5344CB8AC3E}">
        <p14:creationId xmlns:p14="http://schemas.microsoft.com/office/powerpoint/2010/main" val="3938172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B36861-2710-4353-99FD-FAD9DF152ED8}"/>
              </a:ext>
            </a:extLst>
          </p:cNvPr>
          <p:cNvPicPr>
            <a:picLocks noChangeAspect="1"/>
          </p:cNvPicPr>
          <p:nvPr/>
        </p:nvPicPr>
        <p:blipFill>
          <a:blip r:embed="rId2"/>
          <a:stretch>
            <a:fillRect/>
          </a:stretch>
        </p:blipFill>
        <p:spPr>
          <a:xfrm>
            <a:off x="228291" y="0"/>
            <a:ext cx="6612776" cy="6840802"/>
          </a:xfrm>
          <a:prstGeom prst="rect">
            <a:avLst/>
          </a:prstGeom>
        </p:spPr>
      </p:pic>
      <p:pic>
        <p:nvPicPr>
          <p:cNvPr id="5" name="Picture 4">
            <a:extLst>
              <a:ext uri="{FF2B5EF4-FFF2-40B4-BE49-F238E27FC236}">
                <a16:creationId xmlns:a16="http://schemas.microsoft.com/office/drawing/2014/main" id="{FBABCC93-F738-4269-A4D2-9F11CC76123F}"/>
              </a:ext>
            </a:extLst>
          </p:cNvPr>
          <p:cNvPicPr>
            <a:picLocks noChangeAspect="1"/>
          </p:cNvPicPr>
          <p:nvPr/>
        </p:nvPicPr>
        <p:blipFill>
          <a:blip r:embed="rId3"/>
          <a:stretch>
            <a:fillRect/>
          </a:stretch>
        </p:blipFill>
        <p:spPr>
          <a:xfrm>
            <a:off x="7397834" y="701314"/>
            <a:ext cx="3896699" cy="286771"/>
          </a:xfrm>
          <a:prstGeom prst="rect">
            <a:avLst/>
          </a:prstGeom>
        </p:spPr>
      </p:pic>
      <p:pic>
        <p:nvPicPr>
          <p:cNvPr id="6" name="Picture 5">
            <a:extLst>
              <a:ext uri="{FF2B5EF4-FFF2-40B4-BE49-F238E27FC236}">
                <a16:creationId xmlns:a16="http://schemas.microsoft.com/office/drawing/2014/main" id="{369C6A10-5C24-47A2-B081-1EF071AD84BE}"/>
              </a:ext>
            </a:extLst>
          </p:cNvPr>
          <p:cNvPicPr>
            <a:picLocks noChangeAspect="1"/>
          </p:cNvPicPr>
          <p:nvPr/>
        </p:nvPicPr>
        <p:blipFill>
          <a:blip r:embed="rId4"/>
          <a:stretch>
            <a:fillRect/>
          </a:stretch>
        </p:blipFill>
        <p:spPr>
          <a:xfrm>
            <a:off x="7405485" y="1165199"/>
            <a:ext cx="3889048" cy="866800"/>
          </a:xfrm>
          <a:prstGeom prst="rect">
            <a:avLst/>
          </a:prstGeom>
        </p:spPr>
      </p:pic>
    </p:spTree>
    <p:extLst>
      <p:ext uri="{BB962C8B-B14F-4D97-AF65-F5344CB8AC3E}">
        <p14:creationId xmlns:p14="http://schemas.microsoft.com/office/powerpoint/2010/main" val="1595537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1BCE1C-B0F5-4BCE-B4A0-FA3769787891}"/>
              </a:ext>
            </a:extLst>
          </p:cNvPr>
          <p:cNvPicPr>
            <a:picLocks noChangeAspect="1"/>
          </p:cNvPicPr>
          <p:nvPr/>
        </p:nvPicPr>
        <p:blipFill>
          <a:blip r:embed="rId2"/>
          <a:stretch>
            <a:fillRect/>
          </a:stretch>
        </p:blipFill>
        <p:spPr>
          <a:xfrm>
            <a:off x="1282520" y="466311"/>
            <a:ext cx="9527219" cy="6084117"/>
          </a:xfrm>
          <a:prstGeom prst="rect">
            <a:avLst/>
          </a:prstGeom>
        </p:spPr>
      </p:pic>
    </p:spTree>
    <p:extLst>
      <p:ext uri="{BB962C8B-B14F-4D97-AF65-F5344CB8AC3E}">
        <p14:creationId xmlns:p14="http://schemas.microsoft.com/office/powerpoint/2010/main" val="49709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D8153C-0003-4F7D-89F3-A4FD345F010D}"/>
              </a:ext>
            </a:extLst>
          </p:cNvPr>
          <p:cNvSpPr>
            <a:spLocks noGrp="1"/>
          </p:cNvSpPr>
          <p:nvPr>
            <p:ph idx="1"/>
          </p:nvPr>
        </p:nvSpPr>
        <p:spPr>
          <a:xfrm>
            <a:off x="498764" y="714896"/>
            <a:ext cx="10174778" cy="4322618"/>
          </a:xfrm>
        </p:spPr>
        <p:txBody>
          <a:bodyPr>
            <a:normAutofit lnSpcReduction="10000"/>
          </a:bodyPr>
          <a:lstStyle/>
          <a:p>
            <a:pPr marL="0" indent="0" algn="just">
              <a:buNone/>
            </a:pPr>
            <a:r>
              <a:rPr lang="en-US" sz="2400" b="1" dirty="0"/>
              <a:t>Function shell variables</a:t>
            </a:r>
          </a:p>
          <a:p>
            <a:pPr algn="just"/>
            <a:r>
              <a:rPr lang="en-US" sz="2400" dirty="0"/>
              <a:t>All function parameters or arguments can be accessed via $1, $2, $3,..., $N.</a:t>
            </a:r>
          </a:p>
          <a:p>
            <a:pPr algn="just"/>
            <a:r>
              <a:rPr lang="en-US" sz="2400" dirty="0"/>
              <a:t>$0 always point to the shell script name.</a:t>
            </a:r>
          </a:p>
          <a:p>
            <a:pPr algn="just"/>
            <a:r>
              <a:rPr lang="en-US" sz="2400" dirty="0"/>
              <a:t>$* or $@ holds all parameters or arguments passed to the function.</a:t>
            </a:r>
          </a:p>
          <a:p>
            <a:pPr algn="just"/>
            <a:r>
              <a:rPr lang="en-US" sz="2400" dirty="0"/>
              <a:t>$# holds the number of positional parameters passed to the function.</a:t>
            </a:r>
          </a:p>
          <a:p>
            <a:pPr marL="0" indent="0" algn="just">
              <a:buNone/>
            </a:pPr>
            <a:r>
              <a:rPr lang="en-US" sz="2400" b="1" dirty="0"/>
              <a:t>How Do I Display Function Name?</a:t>
            </a:r>
          </a:p>
          <a:p>
            <a:pPr algn="just"/>
            <a:r>
              <a:rPr lang="en-US" sz="2400" dirty="0"/>
              <a:t>$0 always point to the shell script name. However, you can use an array variable called FUNCNAME which contains the names of all shell functions currently in the execution call stack. The element with index 0 is the name any currently-executing shell function. This variable exists only when a shell function is executing.</a:t>
            </a:r>
          </a:p>
          <a:p>
            <a:pPr marL="0" indent="0" algn="just">
              <a:buNone/>
            </a:pPr>
            <a:endParaRPr lang="en-US" sz="2400" dirty="0"/>
          </a:p>
          <a:p>
            <a:pPr algn="just"/>
            <a:endParaRPr lang="en-US" sz="2400" dirty="0"/>
          </a:p>
        </p:txBody>
      </p:sp>
    </p:spTree>
    <p:extLst>
      <p:ext uri="{BB962C8B-B14F-4D97-AF65-F5344CB8AC3E}">
        <p14:creationId xmlns:p14="http://schemas.microsoft.com/office/powerpoint/2010/main" val="2743373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A7D431-EC3C-4ACC-AE79-6627E01843D5}"/>
              </a:ext>
            </a:extLst>
          </p:cNvPr>
          <p:cNvPicPr>
            <a:picLocks noChangeAspect="1"/>
          </p:cNvPicPr>
          <p:nvPr/>
        </p:nvPicPr>
        <p:blipFill>
          <a:blip r:embed="rId2"/>
          <a:stretch>
            <a:fillRect/>
          </a:stretch>
        </p:blipFill>
        <p:spPr>
          <a:xfrm>
            <a:off x="370273" y="5253644"/>
            <a:ext cx="5198731" cy="1604356"/>
          </a:xfrm>
          <a:prstGeom prst="rect">
            <a:avLst/>
          </a:prstGeom>
        </p:spPr>
      </p:pic>
      <p:pic>
        <p:nvPicPr>
          <p:cNvPr id="5" name="Picture 4">
            <a:extLst>
              <a:ext uri="{FF2B5EF4-FFF2-40B4-BE49-F238E27FC236}">
                <a16:creationId xmlns:a16="http://schemas.microsoft.com/office/drawing/2014/main" id="{FA608213-7E62-4D4E-80D8-7EDA5E03E35F}"/>
              </a:ext>
            </a:extLst>
          </p:cNvPr>
          <p:cNvPicPr>
            <a:picLocks noChangeAspect="1"/>
          </p:cNvPicPr>
          <p:nvPr/>
        </p:nvPicPr>
        <p:blipFill>
          <a:blip r:embed="rId3"/>
          <a:stretch>
            <a:fillRect/>
          </a:stretch>
        </p:blipFill>
        <p:spPr>
          <a:xfrm>
            <a:off x="370274" y="187035"/>
            <a:ext cx="8345002" cy="5066609"/>
          </a:xfrm>
          <a:prstGeom prst="rect">
            <a:avLst/>
          </a:prstGeom>
        </p:spPr>
      </p:pic>
    </p:spTree>
    <p:extLst>
      <p:ext uri="{BB962C8B-B14F-4D97-AF65-F5344CB8AC3E}">
        <p14:creationId xmlns:p14="http://schemas.microsoft.com/office/powerpoint/2010/main" val="296151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3614-080F-4E6B-BBA8-7B9F6A9881B2}"/>
              </a:ext>
            </a:extLst>
          </p:cNvPr>
          <p:cNvSpPr>
            <a:spLocks noGrp="1"/>
          </p:cNvSpPr>
          <p:nvPr>
            <p:ph type="title"/>
          </p:nvPr>
        </p:nvSpPr>
        <p:spPr>
          <a:xfrm>
            <a:off x="838200" y="365126"/>
            <a:ext cx="10515600" cy="315912"/>
          </a:xfrm>
        </p:spPr>
        <p:txBody>
          <a:bodyPr>
            <a:normAutofit fontScale="90000"/>
          </a:bodyPr>
          <a:lstStyle/>
          <a:p>
            <a:pPr algn="just"/>
            <a:r>
              <a:rPr lang="en-US" b="1" dirty="0"/>
              <a:t>Local variable</a:t>
            </a:r>
          </a:p>
        </p:txBody>
      </p:sp>
      <p:sp>
        <p:nvSpPr>
          <p:cNvPr id="3" name="Content Placeholder 2">
            <a:extLst>
              <a:ext uri="{FF2B5EF4-FFF2-40B4-BE49-F238E27FC236}">
                <a16:creationId xmlns:a16="http://schemas.microsoft.com/office/drawing/2014/main" id="{6CEA44B7-3021-41BB-86D6-34E08EC74D5F}"/>
              </a:ext>
            </a:extLst>
          </p:cNvPr>
          <p:cNvSpPr>
            <a:spLocks noGrp="1"/>
          </p:cNvSpPr>
          <p:nvPr>
            <p:ph idx="1"/>
          </p:nvPr>
        </p:nvSpPr>
        <p:spPr>
          <a:xfrm>
            <a:off x="389312" y="811472"/>
            <a:ext cx="3115888" cy="5132128"/>
          </a:xfrm>
        </p:spPr>
        <p:txBody>
          <a:bodyPr>
            <a:normAutofit/>
          </a:bodyPr>
          <a:lstStyle/>
          <a:p>
            <a:pPr algn="just"/>
            <a:r>
              <a:rPr lang="en-US" sz="2000" dirty="0"/>
              <a:t>By default all variables are global.</a:t>
            </a:r>
          </a:p>
          <a:p>
            <a:pPr algn="just"/>
            <a:r>
              <a:rPr lang="en-US" sz="2000" dirty="0"/>
              <a:t>Modifying a variable in a function changes it in the whole script.</a:t>
            </a:r>
          </a:p>
          <a:p>
            <a:pPr algn="just"/>
            <a:r>
              <a:rPr lang="en-US" sz="2000" dirty="0"/>
              <a:t>This can be result into problem. For example, create a shell script called fvar.sh:</a:t>
            </a:r>
          </a:p>
          <a:p>
            <a:pPr algn="just"/>
            <a:endParaRPr lang="en-US" sz="2000" dirty="0"/>
          </a:p>
        </p:txBody>
      </p:sp>
      <p:pic>
        <p:nvPicPr>
          <p:cNvPr id="4" name="Picture 3">
            <a:extLst>
              <a:ext uri="{FF2B5EF4-FFF2-40B4-BE49-F238E27FC236}">
                <a16:creationId xmlns:a16="http://schemas.microsoft.com/office/drawing/2014/main" id="{5E33AD85-491A-4D49-87EC-360AD527738C}"/>
              </a:ext>
            </a:extLst>
          </p:cNvPr>
          <p:cNvPicPr>
            <a:picLocks noChangeAspect="1"/>
          </p:cNvPicPr>
          <p:nvPr/>
        </p:nvPicPr>
        <p:blipFill>
          <a:blip r:embed="rId2"/>
          <a:stretch>
            <a:fillRect/>
          </a:stretch>
        </p:blipFill>
        <p:spPr>
          <a:xfrm>
            <a:off x="4494669" y="0"/>
            <a:ext cx="6627759" cy="6785905"/>
          </a:xfrm>
          <a:prstGeom prst="rect">
            <a:avLst/>
          </a:prstGeom>
        </p:spPr>
      </p:pic>
    </p:spTree>
    <p:extLst>
      <p:ext uri="{BB962C8B-B14F-4D97-AF65-F5344CB8AC3E}">
        <p14:creationId xmlns:p14="http://schemas.microsoft.com/office/powerpoint/2010/main" val="1665094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D41263-AFCC-4DEF-9D9F-AF403B46BE82}"/>
              </a:ext>
            </a:extLst>
          </p:cNvPr>
          <p:cNvPicPr>
            <a:picLocks noChangeAspect="1"/>
          </p:cNvPicPr>
          <p:nvPr/>
        </p:nvPicPr>
        <p:blipFill>
          <a:blip r:embed="rId2"/>
          <a:stretch>
            <a:fillRect/>
          </a:stretch>
        </p:blipFill>
        <p:spPr>
          <a:xfrm>
            <a:off x="690258" y="458739"/>
            <a:ext cx="10811483" cy="5011036"/>
          </a:xfrm>
          <a:prstGeom prst="rect">
            <a:avLst/>
          </a:prstGeom>
        </p:spPr>
      </p:pic>
    </p:spTree>
    <p:extLst>
      <p:ext uri="{BB962C8B-B14F-4D97-AF65-F5344CB8AC3E}">
        <p14:creationId xmlns:p14="http://schemas.microsoft.com/office/powerpoint/2010/main" val="2642793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71B62C-CD99-42EF-AB2B-4D38010D2F4C}"/>
              </a:ext>
            </a:extLst>
          </p:cNvPr>
          <p:cNvPicPr>
            <a:picLocks noChangeAspect="1"/>
          </p:cNvPicPr>
          <p:nvPr/>
        </p:nvPicPr>
        <p:blipFill>
          <a:blip r:embed="rId2"/>
          <a:stretch>
            <a:fillRect/>
          </a:stretch>
        </p:blipFill>
        <p:spPr>
          <a:xfrm>
            <a:off x="1990151" y="0"/>
            <a:ext cx="6987594" cy="6922744"/>
          </a:xfrm>
          <a:prstGeom prst="rect">
            <a:avLst/>
          </a:prstGeom>
        </p:spPr>
      </p:pic>
    </p:spTree>
    <p:extLst>
      <p:ext uri="{BB962C8B-B14F-4D97-AF65-F5344CB8AC3E}">
        <p14:creationId xmlns:p14="http://schemas.microsoft.com/office/powerpoint/2010/main" val="819482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5DB9F-340D-4123-ADEE-DADF8AAAED22}"/>
              </a:ext>
            </a:extLst>
          </p:cNvPr>
          <p:cNvSpPr>
            <a:spLocks noGrp="1"/>
          </p:cNvSpPr>
          <p:nvPr>
            <p:ph type="title"/>
          </p:nvPr>
        </p:nvSpPr>
        <p:spPr>
          <a:xfrm>
            <a:off x="838200" y="232123"/>
            <a:ext cx="10515600" cy="516024"/>
          </a:xfrm>
        </p:spPr>
        <p:txBody>
          <a:bodyPr>
            <a:normAutofit fontScale="90000"/>
          </a:bodyPr>
          <a:lstStyle/>
          <a:p>
            <a:r>
              <a:rPr lang="en-US" b="1" dirty="0"/>
              <a:t>Returning from a function</a:t>
            </a:r>
          </a:p>
        </p:txBody>
      </p:sp>
      <p:sp>
        <p:nvSpPr>
          <p:cNvPr id="3" name="Content Placeholder 2">
            <a:extLst>
              <a:ext uri="{FF2B5EF4-FFF2-40B4-BE49-F238E27FC236}">
                <a16:creationId xmlns:a16="http://schemas.microsoft.com/office/drawing/2014/main" id="{2D6C50FB-FF5B-4B3E-801C-75AA2F4F384A}"/>
              </a:ext>
            </a:extLst>
          </p:cNvPr>
          <p:cNvSpPr>
            <a:spLocks noGrp="1"/>
          </p:cNvSpPr>
          <p:nvPr>
            <p:ph idx="1"/>
          </p:nvPr>
        </p:nvSpPr>
        <p:spPr>
          <a:xfrm>
            <a:off x="555566" y="748147"/>
            <a:ext cx="11281757" cy="5877730"/>
          </a:xfrm>
        </p:spPr>
        <p:txBody>
          <a:bodyPr>
            <a:normAutofit fontScale="92500" lnSpcReduction="10000"/>
          </a:bodyPr>
          <a:lstStyle/>
          <a:p>
            <a:r>
              <a:rPr lang="en-US" dirty="0"/>
              <a:t>In mathematics a function ƒ takes an input, x, and returns an output ƒ(x).</a:t>
            </a:r>
          </a:p>
          <a:p>
            <a:r>
              <a:rPr lang="en-US" dirty="0"/>
              <a:t>In computer a shell function name can take an input, $1 and return back the value (true or false) to the script.</a:t>
            </a:r>
          </a:p>
          <a:p>
            <a:r>
              <a:rPr lang="en-US" dirty="0"/>
              <a:t>In other words, you can return from a function with an exit status.</a:t>
            </a:r>
          </a:p>
          <a:p>
            <a:pPr marL="0" indent="0">
              <a:buNone/>
            </a:pPr>
            <a:r>
              <a:rPr lang="en-US" b="1" dirty="0"/>
              <a:t>Syntax</a:t>
            </a:r>
          </a:p>
          <a:p>
            <a:r>
              <a:rPr lang="en-US" dirty="0"/>
              <a:t>The return command causes a function to exit with the return value specified by N and syntax is:</a:t>
            </a:r>
          </a:p>
          <a:p>
            <a:pPr marL="0" indent="0">
              <a:buNone/>
            </a:pPr>
            <a:r>
              <a:rPr lang="en-US" i="1" dirty="0"/>
              <a:t>                                                               return N</a:t>
            </a:r>
          </a:p>
          <a:p>
            <a:r>
              <a:rPr lang="en-US" dirty="0"/>
              <a:t>If N is not specified, the return status is that of the last command.</a:t>
            </a:r>
          </a:p>
          <a:p>
            <a:r>
              <a:rPr lang="en-US" dirty="0"/>
              <a:t>The return command terminates the function.</a:t>
            </a:r>
          </a:p>
          <a:p>
            <a:r>
              <a:rPr lang="en-US" dirty="0"/>
              <a:t>The return command is not necessary when the return value is that of the last command executed.</a:t>
            </a:r>
          </a:p>
          <a:p>
            <a:pPr marL="0" indent="0">
              <a:buNone/>
            </a:pPr>
            <a:r>
              <a:rPr lang="en-US" b="1" dirty="0"/>
              <a:t>Example</a:t>
            </a:r>
          </a:p>
          <a:p>
            <a:r>
              <a:rPr lang="en-US" dirty="0"/>
              <a:t>Create a shell script called isroot.sh as follows:</a:t>
            </a:r>
          </a:p>
        </p:txBody>
      </p:sp>
    </p:spTree>
    <p:extLst>
      <p:ext uri="{BB962C8B-B14F-4D97-AF65-F5344CB8AC3E}">
        <p14:creationId xmlns:p14="http://schemas.microsoft.com/office/powerpoint/2010/main" val="3355755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BD7A85-DC62-45CD-A25A-7E3348C3D06C}"/>
              </a:ext>
            </a:extLst>
          </p:cNvPr>
          <p:cNvPicPr>
            <a:picLocks noChangeAspect="1"/>
          </p:cNvPicPr>
          <p:nvPr/>
        </p:nvPicPr>
        <p:blipFill>
          <a:blip r:embed="rId2"/>
          <a:stretch>
            <a:fillRect/>
          </a:stretch>
        </p:blipFill>
        <p:spPr>
          <a:xfrm>
            <a:off x="637978" y="0"/>
            <a:ext cx="7325615" cy="6824944"/>
          </a:xfrm>
          <a:prstGeom prst="rect">
            <a:avLst/>
          </a:prstGeom>
        </p:spPr>
      </p:pic>
      <p:pic>
        <p:nvPicPr>
          <p:cNvPr id="5" name="Picture 4">
            <a:extLst>
              <a:ext uri="{FF2B5EF4-FFF2-40B4-BE49-F238E27FC236}">
                <a16:creationId xmlns:a16="http://schemas.microsoft.com/office/drawing/2014/main" id="{B2711AA9-562E-49B1-AE86-E76B4B449073}"/>
              </a:ext>
            </a:extLst>
          </p:cNvPr>
          <p:cNvPicPr>
            <a:picLocks noChangeAspect="1"/>
          </p:cNvPicPr>
          <p:nvPr/>
        </p:nvPicPr>
        <p:blipFill>
          <a:blip r:embed="rId3"/>
          <a:stretch>
            <a:fillRect/>
          </a:stretch>
        </p:blipFill>
        <p:spPr>
          <a:xfrm>
            <a:off x="6708221" y="5924606"/>
            <a:ext cx="4481681" cy="900338"/>
          </a:xfrm>
          <a:prstGeom prst="rect">
            <a:avLst/>
          </a:prstGeom>
        </p:spPr>
      </p:pic>
    </p:spTree>
    <p:extLst>
      <p:ext uri="{BB962C8B-B14F-4D97-AF65-F5344CB8AC3E}">
        <p14:creationId xmlns:p14="http://schemas.microsoft.com/office/powerpoint/2010/main" val="2069950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8EC4C7-56C7-4C59-B9A5-D54A0267BDE2}"/>
              </a:ext>
            </a:extLst>
          </p:cNvPr>
          <p:cNvSpPr>
            <a:spLocks noGrp="1"/>
          </p:cNvSpPr>
          <p:nvPr>
            <p:ph idx="1"/>
          </p:nvPr>
        </p:nvSpPr>
        <p:spPr>
          <a:xfrm>
            <a:off x="139931" y="146454"/>
            <a:ext cx="2952404" cy="4841182"/>
          </a:xfrm>
        </p:spPr>
        <p:txBody>
          <a:bodyPr>
            <a:normAutofit/>
          </a:bodyPr>
          <a:lstStyle/>
          <a:p>
            <a:pPr algn="just"/>
            <a:r>
              <a:rPr lang="en-US" sz="2400" dirty="0"/>
              <a:t>Returning a string or word from a function</a:t>
            </a:r>
          </a:p>
          <a:p>
            <a:pPr algn="just"/>
            <a:r>
              <a:rPr lang="en-US" sz="2400" dirty="0"/>
              <a:t>You cannot return a word or anything else from a function.</a:t>
            </a:r>
          </a:p>
          <a:p>
            <a:pPr algn="just"/>
            <a:r>
              <a:rPr lang="en-US" sz="2400" dirty="0"/>
              <a:t>However, you can use echo or </a:t>
            </a:r>
            <a:r>
              <a:rPr lang="en-US" sz="2400" dirty="0" err="1"/>
              <a:t>printf</a:t>
            </a:r>
            <a:r>
              <a:rPr lang="en-US" sz="2400" dirty="0"/>
              <a:t> command to send back output easily to the script.</a:t>
            </a:r>
          </a:p>
        </p:txBody>
      </p:sp>
      <p:pic>
        <p:nvPicPr>
          <p:cNvPr id="4" name="Picture 3">
            <a:extLst>
              <a:ext uri="{FF2B5EF4-FFF2-40B4-BE49-F238E27FC236}">
                <a16:creationId xmlns:a16="http://schemas.microsoft.com/office/drawing/2014/main" id="{194C49C4-443E-4F82-A326-42FC6931A57D}"/>
              </a:ext>
            </a:extLst>
          </p:cNvPr>
          <p:cNvPicPr>
            <a:picLocks noChangeAspect="1"/>
          </p:cNvPicPr>
          <p:nvPr/>
        </p:nvPicPr>
        <p:blipFill>
          <a:blip r:embed="rId2"/>
          <a:stretch>
            <a:fillRect/>
          </a:stretch>
        </p:blipFill>
        <p:spPr>
          <a:xfrm>
            <a:off x="3504838" y="0"/>
            <a:ext cx="7168704" cy="6074950"/>
          </a:xfrm>
          <a:prstGeom prst="rect">
            <a:avLst/>
          </a:prstGeom>
        </p:spPr>
      </p:pic>
      <p:pic>
        <p:nvPicPr>
          <p:cNvPr id="5" name="Picture 4">
            <a:extLst>
              <a:ext uri="{FF2B5EF4-FFF2-40B4-BE49-F238E27FC236}">
                <a16:creationId xmlns:a16="http://schemas.microsoft.com/office/drawing/2014/main" id="{0EB5A88A-DC2C-4A23-80F3-A2CECC68E477}"/>
              </a:ext>
            </a:extLst>
          </p:cNvPr>
          <p:cNvPicPr>
            <a:picLocks noChangeAspect="1"/>
          </p:cNvPicPr>
          <p:nvPr/>
        </p:nvPicPr>
        <p:blipFill>
          <a:blip r:embed="rId3"/>
          <a:stretch>
            <a:fillRect/>
          </a:stretch>
        </p:blipFill>
        <p:spPr>
          <a:xfrm>
            <a:off x="3504838" y="6074950"/>
            <a:ext cx="7548808" cy="641734"/>
          </a:xfrm>
          <a:prstGeom prst="rect">
            <a:avLst/>
          </a:prstGeom>
        </p:spPr>
      </p:pic>
    </p:spTree>
    <p:extLst>
      <p:ext uri="{BB962C8B-B14F-4D97-AF65-F5344CB8AC3E}">
        <p14:creationId xmlns:p14="http://schemas.microsoft.com/office/powerpoint/2010/main" val="2595722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12C81-CA9B-498D-910F-C3F03CD84A35}"/>
              </a:ext>
            </a:extLst>
          </p:cNvPr>
          <p:cNvSpPr>
            <a:spLocks noGrp="1"/>
          </p:cNvSpPr>
          <p:nvPr>
            <p:ph type="title"/>
          </p:nvPr>
        </p:nvSpPr>
        <p:spPr>
          <a:xfrm>
            <a:off x="489066" y="430994"/>
            <a:ext cx="10515600" cy="315912"/>
          </a:xfrm>
        </p:spPr>
        <p:txBody>
          <a:bodyPr>
            <a:normAutofit fontScale="90000"/>
          </a:bodyPr>
          <a:lstStyle/>
          <a:p>
            <a:r>
              <a:rPr lang="en-US" b="1" dirty="0"/>
              <a:t>Shell functions library</a:t>
            </a:r>
          </a:p>
        </p:txBody>
      </p:sp>
      <p:sp>
        <p:nvSpPr>
          <p:cNvPr id="3" name="Content Placeholder 2">
            <a:extLst>
              <a:ext uri="{FF2B5EF4-FFF2-40B4-BE49-F238E27FC236}">
                <a16:creationId xmlns:a16="http://schemas.microsoft.com/office/drawing/2014/main" id="{3FA74BD5-FE69-4B51-BEE1-E18DC6BB20BD}"/>
              </a:ext>
            </a:extLst>
          </p:cNvPr>
          <p:cNvSpPr>
            <a:spLocks noGrp="1"/>
          </p:cNvSpPr>
          <p:nvPr>
            <p:ph idx="1"/>
          </p:nvPr>
        </p:nvSpPr>
        <p:spPr>
          <a:xfrm>
            <a:off x="489066" y="877974"/>
            <a:ext cx="11331632" cy="5614900"/>
          </a:xfrm>
        </p:spPr>
        <p:txBody>
          <a:bodyPr>
            <a:normAutofit/>
          </a:bodyPr>
          <a:lstStyle/>
          <a:p>
            <a:pPr algn="just"/>
            <a:r>
              <a:rPr lang="en-US" sz="2000" dirty="0"/>
              <a:t>You can store all your function in a function files called functions library.</a:t>
            </a:r>
          </a:p>
          <a:p>
            <a:pPr algn="just"/>
            <a:r>
              <a:rPr lang="en-US" sz="2000" dirty="0"/>
              <a:t>You can load all function into the current script or the command prompt.</a:t>
            </a:r>
          </a:p>
          <a:p>
            <a:pPr algn="just"/>
            <a:r>
              <a:rPr lang="en-US" sz="2000" dirty="0"/>
              <a:t>The syntax is as follows to load all functions:</a:t>
            </a:r>
          </a:p>
          <a:p>
            <a:pPr marL="0" indent="0" algn="just">
              <a:buNone/>
            </a:pPr>
            <a:r>
              <a:rPr lang="en-US" sz="2000" dirty="0"/>
              <a:t>                                         </a:t>
            </a:r>
            <a:r>
              <a:rPr lang="en-US" sz="2000" i="1" dirty="0"/>
              <a:t>. /path/to/your/functions.sh</a:t>
            </a:r>
          </a:p>
          <a:p>
            <a:pPr marL="0" indent="0" algn="just">
              <a:buNone/>
            </a:pPr>
            <a:r>
              <a:rPr lang="en-US" sz="3600" b="1" dirty="0"/>
              <a:t>Source command</a:t>
            </a:r>
          </a:p>
          <a:p>
            <a:pPr marL="0" indent="0" algn="just">
              <a:buNone/>
            </a:pPr>
            <a:r>
              <a:rPr lang="en-US" sz="2000" dirty="0"/>
              <a:t>The source command can be used to load any functions file into the current shell script or a command prompt.</a:t>
            </a:r>
          </a:p>
          <a:p>
            <a:pPr marL="0" indent="0" algn="just">
              <a:buNone/>
            </a:pPr>
            <a:r>
              <a:rPr lang="en-US" sz="2000" dirty="0"/>
              <a:t>• It read and execute commands from given FILENAME and return.</a:t>
            </a:r>
          </a:p>
          <a:p>
            <a:pPr marL="0" indent="0" algn="just">
              <a:buNone/>
            </a:pPr>
            <a:r>
              <a:rPr lang="en-US" sz="2000" dirty="0"/>
              <a:t>• The pathnames in $PATH are used to find the directory containing FILENAME. If any ARGUMENTS are</a:t>
            </a:r>
          </a:p>
          <a:p>
            <a:pPr marL="0" indent="0" algn="just">
              <a:buNone/>
            </a:pPr>
            <a:r>
              <a:rPr lang="en-US" sz="2000" dirty="0"/>
              <a:t>supplied, they become the positional parameters when FILENAME is executed.</a:t>
            </a:r>
          </a:p>
          <a:p>
            <a:pPr marL="0" indent="0" algn="just">
              <a:buNone/>
            </a:pPr>
            <a:r>
              <a:rPr lang="en-US" sz="2000" dirty="0"/>
              <a:t>• The syntax is as follows:</a:t>
            </a:r>
          </a:p>
        </p:txBody>
      </p:sp>
      <p:pic>
        <p:nvPicPr>
          <p:cNvPr id="4" name="Picture 3">
            <a:extLst>
              <a:ext uri="{FF2B5EF4-FFF2-40B4-BE49-F238E27FC236}">
                <a16:creationId xmlns:a16="http://schemas.microsoft.com/office/drawing/2014/main" id="{F6A6640E-17F0-4923-9330-1D929A8AE2A5}"/>
              </a:ext>
            </a:extLst>
          </p:cNvPr>
          <p:cNvPicPr>
            <a:picLocks noChangeAspect="1"/>
          </p:cNvPicPr>
          <p:nvPr/>
        </p:nvPicPr>
        <p:blipFill>
          <a:blip r:embed="rId2"/>
          <a:stretch>
            <a:fillRect/>
          </a:stretch>
        </p:blipFill>
        <p:spPr>
          <a:xfrm>
            <a:off x="838200" y="5323572"/>
            <a:ext cx="11254542" cy="1169302"/>
          </a:xfrm>
          <a:prstGeom prst="rect">
            <a:avLst/>
          </a:prstGeom>
        </p:spPr>
      </p:pic>
    </p:spTree>
    <p:extLst>
      <p:ext uri="{BB962C8B-B14F-4D97-AF65-F5344CB8AC3E}">
        <p14:creationId xmlns:p14="http://schemas.microsoft.com/office/powerpoint/2010/main" val="41409592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2CC4C-E999-444B-A6BC-468A80A9A105}"/>
              </a:ext>
            </a:extLst>
          </p:cNvPr>
          <p:cNvSpPr>
            <a:spLocks noGrp="1"/>
          </p:cNvSpPr>
          <p:nvPr>
            <p:ph type="title"/>
          </p:nvPr>
        </p:nvSpPr>
        <p:spPr>
          <a:xfrm>
            <a:off x="272933" y="315248"/>
            <a:ext cx="5013961" cy="562725"/>
          </a:xfrm>
        </p:spPr>
        <p:txBody>
          <a:bodyPr>
            <a:normAutofit fontScale="90000"/>
          </a:bodyPr>
          <a:lstStyle/>
          <a:p>
            <a:pPr algn="just"/>
            <a:r>
              <a:rPr lang="en-US" b="1" dirty="0"/>
              <a:t>Recursive function</a:t>
            </a:r>
          </a:p>
        </p:txBody>
      </p:sp>
      <p:sp>
        <p:nvSpPr>
          <p:cNvPr id="3" name="Content Placeholder 2">
            <a:extLst>
              <a:ext uri="{FF2B5EF4-FFF2-40B4-BE49-F238E27FC236}">
                <a16:creationId xmlns:a16="http://schemas.microsoft.com/office/drawing/2014/main" id="{BD0FD40C-668B-4C53-BC26-B32B1401DABD}"/>
              </a:ext>
            </a:extLst>
          </p:cNvPr>
          <p:cNvSpPr>
            <a:spLocks noGrp="1"/>
          </p:cNvSpPr>
          <p:nvPr>
            <p:ph idx="1"/>
          </p:nvPr>
        </p:nvSpPr>
        <p:spPr>
          <a:xfrm>
            <a:off x="272934" y="877974"/>
            <a:ext cx="2503517" cy="3295015"/>
          </a:xfrm>
        </p:spPr>
        <p:txBody>
          <a:bodyPr>
            <a:normAutofit fontScale="77500" lnSpcReduction="20000"/>
          </a:bodyPr>
          <a:lstStyle/>
          <a:p>
            <a:pPr algn="just"/>
            <a:r>
              <a:rPr lang="en-US" dirty="0"/>
              <a:t>A recursive function is a function that repeatedly calls itself.</a:t>
            </a:r>
          </a:p>
          <a:p>
            <a:pPr algn="just"/>
            <a:r>
              <a:rPr lang="en-US" dirty="0"/>
              <a:t>No limit is placed on the number of recursive calls.</a:t>
            </a:r>
          </a:p>
          <a:p>
            <a:pPr algn="just"/>
            <a:r>
              <a:rPr lang="en-US" dirty="0"/>
              <a:t>Create a shell script called fact.sh:</a:t>
            </a:r>
          </a:p>
        </p:txBody>
      </p:sp>
      <p:pic>
        <p:nvPicPr>
          <p:cNvPr id="4" name="Picture 3">
            <a:extLst>
              <a:ext uri="{FF2B5EF4-FFF2-40B4-BE49-F238E27FC236}">
                <a16:creationId xmlns:a16="http://schemas.microsoft.com/office/drawing/2014/main" id="{13FA321A-8199-432F-BE5B-23BFAAB84CB7}"/>
              </a:ext>
            </a:extLst>
          </p:cNvPr>
          <p:cNvPicPr>
            <a:picLocks noChangeAspect="1"/>
          </p:cNvPicPr>
          <p:nvPr/>
        </p:nvPicPr>
        <p:blipFill>
          <a:blip r:embed="rId2"/>
          <a:stretch>
            <a:fillRect/>
          </a:stretch>
        </p:blipFill>
        <p:spPr>
          <a:xfrm>
            <a:off x="4300068" y="315247"/>
            <a:ext cx="7568112" cy="5636666"/>
          </a:xfrm>
          <a:prstGeom prst="rect">
            <a:avLst/>
          </a:prstGeom>
        </p:spPr>
      </p:pic>
    </p:spTree>
    <p:extLst>
      <p:ext uri="{BB962C8B-B14F-4D97-AF65-F5344CB8AC3E}">
        <p14:creationId xmlns:p14="http://schemas.microsoft.com/office/powerpoint/2010/main" val="31354349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A4489F-BF3C-427B-B52C-F92C928696EB}"/>
              </a:ext>
            </a:extLst>
          </p:cNvPr>
          <p:cNvPicPr>
            <a:picLocks noChangeAspect="1"/>
          </p:cNvPicPr>
          <p:nvPr/>
        </p:nvPicPr>
        <p:blipFill>
          <a:blip r:embed="rId2"/>
          <a:stretch>
            <a:fillRect/>
          </a:stretch>
        </p:blipFill>
        <p:spPr>
          <a:xfrm>
            <a:off x="1595556" y="865944"/>
            <a:ext cx="5985651" cy="3686178"/>
          </a:xfrm>
          <a:prstGeom prst="rect">
            <a:avLst/>
          </a:prstGeom>
        </p:spPr>
      </p:pic>
      <p:sp>
        <p:nvSpPr>
          <p:cNvPr id="5" name="Rectangle 4">
            <a:extLst>
              <a:ext uri="{FF2B5EF4-FFF2-40B4-BE49-F238E27FC236}">
                <a16:creationId xmlns:a16="http://schemas.microsoft.com/office/drawing/2014/main" id="{E62601DE-C053-4260-9965-A2D9BE43BFC6}"/>
              </a:ext>
            </a:extLst>
          </p:cNvPr>
          <p:cNvSpPr/>
          <p:nvPr/>
        </p:nvSpPr>
        <p:spPr>
          <a:xfrm>
            <a:off x="919942" y="4791727"/>
            <a:ext cx="9504218" cy="1077218"/>
          </a:xfrm>
          <a:prstGeom prst="rect">
            <a:avLst/>
          </a:prstGeom>
        </p:spPr>
        <p:txBody>
          <a:bodyPr wrap="square">
            <a:spAutoFit/>
          </a:bodyPr>
          <a:lstStyle/>
          <a:p>
            <a:pPr marL="285750" indent="-285750">
              <a:buFont typeface="Arial" panose="020B0604020202020204" pitchFamily="34" charset="0"/>
              <a:buChar char="•"/>
            </a:pPr>
            <a:r>
              <a:rPr lang="en-US" sz="3200" dirty="0"/>
              <a:t>Recursive functions are slow under bash.</a:t>
            </a:r>
          </a:p>
          <a:p>
            <a:pPr marL="285750" indent="-285750">
              <a:buFont typeface="Arial" panose="020B0604020202020204" pitchFamily="34" charset="0"/>
              <a:buChar char="•"/>
            </a:pPr>
            <a:r>
              <a:rPr lang="en-US" sz="3200" dirty="0"/>
              <a:t>Avoid using recursive functions if possible.</a:t>
            </a:r>
          </a:p>
        </p:txBody>
      </p:sp>
    </p:spTree>
    <p:extLst>
      <p:ext uri="{BB962C8B-B14F-4D97-AF65-F5344CB8AC3E}">
        <p14:creationId xmlns:p14="http://schemas.microsoft.com/office/powerpoint/2010/main" val="2154926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6FA2A-B322-4160-B941-1D5D6DC4E8DC}"/>
              </a:ext>
            </a:extLst>
          </p:cNvPr>
          <p:cNvSpPr>
            <a:spLocks noGrp="1"/>
          </p:cNvSpPr>
          <p:nvPr>
            <p:ph type="title"/>
          </p:nvPr>
        </p:nvSpPr>
        <p:spPr>
          <a:xfrm>
            <a:off x="838200" y="365126"/>
            <a:ext cx="10515600" cy="582526"/>
          </a:xfrm>
        </p:spPr>
        <p:txBody>
          <a:bodyPr>
            <a:normAutofit fontScale="90000"/>
          </a:bodyPr>
          <a:lstStyle/>
          <a:p>
            <a:r>
              <a:rPr lang="en-US" b="1" dirty="0"/>
              <a:t>Putting functions in background</a:t>
            </a:r>
          </a:p>
        </p:txBody>
      </p:sp>
      <p:sp>
        <p:nvSpPr>
          <p:cNvPr id="3" name="Content Placeholder 2">
            <a:extLst>
              <a:ext uri="{FF2B5EF4-FFF2-40B4-BE49-F238E27FC236}">
                <a16:creationId xmlns:a16="http://schemas.microsoft.com/office/drawing/2014/main" id="{6FA6B115-62A4-4EAD-B828-2C8906E98D6E}"/>
              </a:ext>
            </a:extLst>
          </p:cNvPr>
          <p:cNvSpPr>
            <a:spLocks noGrp="1"/>
          </p:cNvSpPr>
          <p:nvPr>
            <p:ph idx="1"/>
          </p:nvPr>
        </p:nvSpPr>
        <p:spPr>
          <a:xfrm>
            <a:off x="838200" y="1097280"/>
            <a:ext cx="10515600" cy="5079683"/>
          </a:xfrm>
        </p:spPr>
        <p:txBody>
          <a:bodyPr>
            <a:normAutofit/>
          </a:bodyPr>
          <a:lstStyle/>
          <a:p>
            <a:r>
              <a:rPr lang="en-US" sz="2000" dirty="0"/>
              <a:t>The &amp; operator puts command in background and free up your terminal.</a:t>
            </a:r>
          </a:p>
          <a:p>
            <a:r>
              <a:rPr lang="en-US" sz="2000" dirty="0"/>
              <a:t>You can also put a function in background.</a:t>
            </a:r>
          </a:p>
          <a:p>
            <a:r>
              <a:rPr lang="en-US" sz="2000" dirty="0"/>
              <a:t>The syntax is as follows:</a:t>
            </a:r>
          </a:p>
        </p:txBody>
      </p:sp>
      <p:pic>
        <p:nvPicPr>
          <p:cNvPr id="4" name="Picture 3">
            <a:extLst>
              <a:ext uri="{FF2B5EF4-FFF2-40B4-BE49-F238E27FC236}">
                <a16:creationId xmlns:a16="http://schemas.microsoft.com/office/drawing/2014/main" id="{3574923D-F661-4388-94AC-61A21BD85ECE}"/>
              </a:ext>
            </a:extLst>
          </p:cNvPr>
          <p:cNvPicPr>
            <a:picLocks noChangeAspect="1"/>
          </p:cNvPicPr>
          <p:nvPr/>
        </p:nvPicPr>
        <p:blipFill>
          <a:blip r:embed="rId2"/>
          <a:stretch>
            <a:fillRect/>
          </a:stretch>
        </p:blipFill>
        <p:spPr>
          <a:xfrm>
            <a:off x="1981099" y="2419573"/>
            <a:ext cx="5966696" cy="3907018"/>
          </a:xfrm>
          <a:prstGeom prst="rect">
            <a:avLst/>
          </a:prstGeom>
        </p:spPr>
      </p:pic>
    </p:spTree>
    <p:extLst>
      <p:ext uri="{BB962C8B-B14F-4D97-AF65-F5344CB8AC3E}">
        <p14:creationId xmlns:p14="http://schemas.microsoft.com/office/powerpoint/2010/main" val="2807720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1981</Words>
  <Application>Microsoft Office PowerPoint</Application>
  <PresentationFormat>Widescreen</PresentationFormat>
  <Paragraphs>255</Paragraphs>
  <Slides>40</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Roboto Mono</vt:lpstr>
      <vt:lpstr>Office Theme</vt:lpstr>
      <vt:lpstr>Shell Scripting</vt:lpstr>
      <vt:lpstr>Arrays</vt:lpstr>
      <vt:lpstr>What is an array? </vt:lpstr>
      <vt:lpstr>Creating (declaring) arrays</vt:lpstr>
      <vt:lpstr>Useful array properties and operations</vt:lpstr>
      <vt:lpstr>Iterating over arrays</vt:lpstr>
      <vt:lpstr>Passing arrays to functions (by reference vs by value)</vt:lpstr>
      <vt:lpstr>Associative arrays (Bash 4+)</vt:lpstr>
      <vt:lpstr>Simulating multi-dimensional arrays</vt:lpstr>
      <vt:lpstr>Converting a string to an array (splitting)</vt:lpstr>
      <vt:lpstr>Common operations &amp; tricks</vt:lpstr>
      <vt:lpstr>Some Examples</vt:lpstr>
      <vt:lpstr>Example</vt:lpstr>
      <vt:lpstr>Functions</vt:lpstr>
      <vt:lpstr>PowerPoint Presentation</vt:lpstr>
      <vt:lpstr>Displaying functions</vt:lpstr>
      <vt:lpstr>PowerPoint Presentation</vt:lpstr>
      <vt:lpstr>Defining functions</vt:lpstr>
      <vt:lpstr>PowerPoint Presentation</vt:lpstr>
      <vt:lpstr>PowerPoint Presentation</vt:lpstr>
      <vt:lpstr>Writing functions</vt:lpstr>
      <vt:lpstr>PowerPoint Presentation</vt:lpstr>
      <vt:lpstr>Write a function at the start of a script</vt:lpstr>
      <vt:lpstr>PowerPoint Presentation</vt:lpstr>
      <vt:lpstr>Calling functions</vt:lpstr>
      <vt:lpstr>Pass arguments into a function</vt:lpstr>
      <vt:lpstr>PowerPoint Presentation</vt:lpstr>
      <vt:lpstr>PowerPoint Presentation</vt:lpstr>
      <vt:lpstr>PowerPoint Presentation</vt:lpstr>
      <vt:lpstr>PowerPoint Presentation</vt:lpstr>
      <vt:lpstr>Local variable</vt:lpstr>
      <vt:lpstr>PowerPoint Presentation</vt:lpstr>
      <vt:lpstr>PowerPoint Presentation</vt:lpstr>
      <vt:lpstr>Returning from a function</vt:lpstr>
      <vt:lpstr>PowerPoint Presentation</vt:lpstr>
      <vt:lpstr>PowerPoint Presentation</vt:lpstr>
      <vt:lpstr>Shell functions library</vt:lpstr>
      <vt:lpstr>Recursive function</vt:lpstr>
      <vt:lpstr>PowerPoint Presentation</vt:lpstr>
      <vt:lpstr>Putting functions in background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Shell Scripting</dc:title>
  <dc:creator>Akansha Singh</dc:creator>
  <cp:lastModifiedBy>Akansha Singh</cp:lastModifiedBy>
  <cp:revision>12</cp:revision>
  <dcterms:created xsi:type="dcterms:W3CDTF">2025-09-08T08:13:05Z</dcterms:created>
  <dcterms:modified xsi:type="dcterms:W3CDTF">2025-09-29T04:32:31Z</dcterms:modified>
</cp:coreProperties>
</file>