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4"/>
    <p:sldId id="258" r:id="rId5"/>
    <p:sldId id="266" r:id="rId6"/>
    <p:sldId id="259" r:id="rId7"/>
    <p:sldId id="267" r:id="rId8"/>
    <p:sldId id="268" r:id="rId9"/>
    <p:sldId id="260" r:id="rId10"/>
    <p:sldId id="269" r:id="rId11"/>
    <p:sldId id="261" r:id="rId12"/>
    <p:sldId id="270" r:id="rId13"/>
    <p:sldId id="271" r:id="rId14"/>
    <p:sldId id="262" r:id="rId15"/>
    <p:sldId id="272" r:id="rId16"/>
    <p:sldId id="263" r:id="rId17"/>
    <p:sldId id="273" r:id="rId18"/>
    <p:sldId id="26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Unix Programming with Standard Input and Output</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Standard Streams</a:t>
            </a:r>
          </a:p>
        </p:txBody>
      </p:sp>
      <p:sp>
        <p:nvSpPr>
          <p:cNvPr id="3" name="Content Placeholder 2"/>
          <p:cNvSpPr>
            <a:spLocks noGrp="1"/>
          </p:cNvSpPr>
          <p:nvPr>
            <p:ph idx="1"/>
          </p:nvPr>
        </p:nvSpPr>
        <p:spPr/>
        <p:txBody>
          <a:bodyPr>
            <a:normAutofit fontScale="92500"/>
          </a:bodyPr>
          <a:lstStyle/>
          <a:p>
            <a:r>
              <a:t>In Unix systems, communication between applications is achieved using standard streams:</a:t>
            </a:r>
          </a:p>
          <a:p>
            <a:r>
              <a:t>• stdin – Standard Input Stream</a:t>
            </a:r>
          </a:p>
          <a:p>
            <a:r>
              <a:t>• stdout – Standard Output Stream</a:t>
            </a:r>
          </a:p>
          <a:p>
            <a:r>
              <a:t>• stderr – Standard Error Stream</a:t>
            </a:r>
          </a:p>
          <a:p>
            <a:endParaRPr/>
          </a:p>
          <a:p>
            <a:r>
              <a:t>These streams act as communication channels between programs and the terminal.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B45F-D992-415B-A472-CFD848A80EC5}"/>
              </a:ext>
            </a:extLst>
          </p:cNvPr>
          <p:cNvSpPr>
            <a:spLocks noGrp="1"/>
          </p:cNvSpPr>
          <p:nvPr>
            <p:ph type="title"/>
          </p:nvPr>
        </p:nvSpPr>
        <p:spPr/>
        <p:txBody>
          <a:bodyPr/>
          <a:lstStyle/>
          <a:p>
            <a:endParaRPr lang="en-IN"/>
          </a:p>
        </p:txBody>
      </p:sp>
      <p:pic>
        <p:nvPicPr>
          <p:cNvPr id="1026" name="Picture 2">
            <a:extLst>
              <a:ext uri="{FF2B5EF4-FFF2-40B4-BE49-F238E27FC236}">
                <a16:creationId xmlns:a16="http://schemas.microsoft.com/office/drawing/2014/main" id="{43E53994-1D74-41FF-9F39-586B1EA8EF0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0980" y="134571"/>
            <a:ext cx="6748364" cy="6588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411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Input/Output Streams Example</a:t>
            </a:r>
          </a:p>
        </p:txBody>
      </p:sp>
      <p:sp>
        <p:nvSpPr>
          <p:cNvPr id="3" name="Content Placeholder 2"/>
          <p:cNvSpPr>
            <a:spLocks noGrp="1"/>
          </p:cNvSpPr>
          <p:nvPr>
            <p:ph idx="1"/>
          </p:nvPr>
        </p:nvSpPr>
        <p:spPr/>
        <p:txBody>
          <a:bodyPr/>
          <a:lstStyle/>
          <a:p>
            <a:r>
              <a:t>Example: Using grep with input redirection</a:t>
            </a:r>
          </a:p>
          <a:p>
            <a:endParaRPr/>
          </a:p>
          <a:p>
            <a:r>
              <a:t>#!/usr/bin/env bash</a:t>
            </a:r>
          </a:p>
          <a:p>
            <a:r>
              <a:t>echo pattern | grep pattern</a:t>
            </a:r>
          </a:p>
          <a:p>
            <a:endParaRPr/>
          </a:p>
          <a:p>
            <a:r>
              <a:t>• 'echo pattern' sends output to grep via stdin.</a:t>
            </a:r>
          </a:p>
          <a:p>
            <a:r>
              <a:t>• grep outputs matching results to stdout.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EC240-F340-4BAC-A609-66ECB60E31B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E8DB178-2232-4ACB-9FDC-5DEFE72D751F}"/>
              </a:ext>
            </a:extLst>
          </p:cNvPr>
          <p:cNvSpPr>
            <a:spLocks noGrp="1"/>
          </p:cNvSpPr>
          <p:nvPr>
            <p:ph idx="1"/>
          </p:nvPr>
        </p:nvSpPr>
        <p:spPr>
          <a:xfrm>
            <a:off x="457200" y="1600200"/>
            <a:ext cx="8229600" cy="4525963"/>
          </a:xfrm>
        </p:spPr>
        <p:txBody>
          <a:bodyPr/>
          <a:lstStyle/>
          <a:p>
            <a:r>
              <a:rPr lang="en-US" b="1" i="0" dirty="0">
                <a:solidFill>
                  <a:srgbClr val="273239"/>
                </a:solidFill>
                <a:effectLst/>
                <a:latin typeface="Nunito" pitchFamily="2" charset="0"/>
              </a:rPr>
              <a:t>The script running at the console:</a:t>
            </a:r>
          </a:p>
          <a:p>
            <a:endParaRPr lang="en-US" b="1" dirty="0">
              <a:solidFill>
                <a:srgbClr val="273239"/>
              </a:solidFill>
              <a:latin typeface="Nunito" pitchFamily="2" charset="0"/>
            </a:endParaRPr>
          </a:p>
          <a:p>
            <a:endParaRPr lang="en-IN" dirty="0"/>
          </a:p>
        </p:txBody>
      </p:sp>
      <p:pic>
        <p:nvPicPr>
          <p:cNvPr id="2050" name="Picture 2" descr="Lightbox">
            <a:extLst>
              <a:ext uri="{FF2B5EF4-FFF2-40B4-BE49-F238E27FC236}">
                <a16:creationId xmlns:a16="http://schemas.microsoft.com/office/drawing/2014/main" id="{9EF51D82-154F-4142-835B-89845CA291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6325" y="2766669"/>
            <a:ext cx="6831349" cy="2491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527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Error Stream Example</a:t>
            </a:r>
          </a:p>
        </p:txBody>
      </p:sp>
      <p:sp>
        <p:nvSpPr>
          <p:cNvPr id="3" name="Content Placeholder 2"/>
          <p:cNvSpPr>
            <a:spLocks noGrp="1"/>
          </p:cNvSpPr>
          <p:nvPr>
            <p:ph idx="1"/>
          </p:nvPr>
        </p:nvSpPr>
        <p:spPr/>
        <p:txBody>
          <a:bodyPr>
            <a:normAutofit fontScale="92500" lnSpcReduction="10000"/>
          </a:bodyPr>
          <a:lstStyle/>
          <a:p>
            <a:r>
              <a:rPr dirty="0"/>
              <a:t>stderr is used for reporting errors independently from </a:t>
            </a:r>
            <a:r>
              <a:rPr dirty="0" err="1"/>
              <a:t>stdout</a:t>
            </a:r>
            <a:r>
              <a:rPr dirty="0"/>
              <a:t>.</a:t>
            </a:r>
          </a:p>
          <a:p>
            <a:endParaRPr dirty="0"/>
          </a:p>
          <a:p>
            <a:r>
              <a:rPr dirty="0"/>
              <a:t>Example:</a:t>
            </a:r>
          </a:p>
          <a:p>
            <a:r>
              <a:rPr dirty="0"/>
              <a:t>ls &gt; /</a:t>
            </a:r>
            <a:r>
              <a:rPr dirty="0" err="1"/>
              <a:t>tmp</a:t>
            </a:r>
            <a:r>
              <a:rPr dirty="0"/>
              <a:t>/log</a:t>
            </a:r>
          </a:p>
          <a:p>
            <a:r>
              <a:rPr dirty="0"/>
              <a:t>ls /not/</a:t>
            </a:r>
            <a:r>
              <a:rPr dirty="0" err="1"/>
              <a:t>existed_path</a:t>
            </a:r>
            <a:r>
              <a:rPr dirty="0"/>
              <a:t> &gt; /</a:t>
            </a:r>
            <a:r>
              <a:rPr dirty="0" err="1"/>
              <a:t>tmp</a:t>
            </a:r>
            <a:r>
              <a:rPr dirty="0"/>
              <a:t>/log</a:t>
            </a:r>
          </a:p>
          <a:p>
            <a:endParaRPr dirty="0"/>
          </a:p>
          <a:p>
            <a:r>
              <a:rPr dirty="0"/>
              <a:t>• Errors are displayed on console because they use stderr.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2F805-E095-4FB1-8720-7CBDFD4A4CB7}"/>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62746EAD-EF6A-4FE9-9FB5-2A28610DE589}"/>
              </a:ext>
            </a:extLst>
          </p:cNvPr>
          <p:cNvPicPr>
            <a:picLocks noGrp="1" noChangeAspect="1"/>
          </p:cNvPicPr>
          <p:nvPr>
            <p:ph idx="1"/>
          </p:nvPr>
        </p:nvPicPr>
        <p:blipFill>
          <a:blip r:embed="rId2"/>
          <a:stretch>
            <a:fillRect/>
          </a:stretch>
        </p:blipFill>
        <p:spPr>
          <a:xfrm>
            <a:off x="666513" y="1417638"/>
            <a:ext cx="4819887" cy="5063199"/>
          </a:xfrm>
        </p:spPr>
      </p:pic>
    </p:spTree>
    <p:extLst>
      <p:ext uri="{BB962C8B-B14F-4D97-AF65-F5344CB8AC3E}">
        <p14:creationId xmlns:p14="http://schemas.microsoft.com/office/powerpoint/2010/main" val="430960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DE902-52DC-4556-8CA0-C9444AF8BD4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A874AC8-F351-4B3E-8A34-46E761DDE87A}"/>
              </a:ext>
            </a:extLst>
          </p:cNvPr>
          <p:cNvPicPr>
            <a:picLocks noGrp="1" noChangeAspect="1"/>
          </p:cNvPicPr>
          <p:nvPr>
            <p:ph idx="1"/>
          </p:nvPr>
        </p:nvPicPr>
        <p:blipFill>
          <a:blip r:embed="rId2"/>
          <a:stretch>
            <a:fillRect/>
          </a:stretch>
        </p:blipFill>
        <p:spPr>
          <a:xfrm>
            <a:off x="457200" y="544398"/>
            <a:ext cx="8293985" cy="5366208"/>
          </a:xfrm>
        </p:spPr>
      </p:pic>
    </p:spTree>
    <p:extLst>
      <p:ext uri="{BB962C8B-B14F-4D97-AF65-F5344CB8AC3E}">
        <p14:creationId xmlns:p14="http://schemas.microsoft.com/office/powerpoint/2010/main" val="709139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Redirecting Streams</a:t>
            </a:r>
          </a:p>
        </p:txBody>
      </p:sp>
      <p:sp>
        <p:nvSpPr>
          <p:cNvPr id="3" name="Content Placeholder 2"/>
          <p:cNvSpPr>
            <a:spLocks noGrp="1"/>
          </p:cNvSpPr>
          <p:nvPr>
            <p:ph idx="1"/>
          </p:nvPr>
        </p:nvSpPr>
        <p:spPr/>
        <p:txBody>
          <a:bodyPr>
            <a:normAutofit fontScale="85000" lnSpcReduction="10000"/>
          </a:bodyPr>
          <a:lstStyle/>
          <a:p>
            <a:pPr marL="0" indent="0">
              <a:buNone/>
            </a:pPr>
            <a:r>
              <a:rPr lang="en-US" b="0" i="0" dirty="0">
                <a:solidFill>
                  <a:srgbClr val="273239"/>
                </a:solidFill>
                <a:effectLst/>
                <a:latin typeface="Nunito" pitchFamily="2" charset="0"/>
              </a:rPr>
              <a:t>It is possible to manipulate the standard streams: redirect them or use pipes to process them.</a:t>
            </a:r>
          </a:p>
          <a:p>
            <a:pPr marL="0" indent="0">
              <a:buNone/>
            </a:pPr>
            <a:endParaRPr lang="en-IN" dirty="0"/>
          </a:p>
          <a:p>
            <a:r>
              <a:rPr dirty="0"/>
              <a:t>Streams can be redirected or piped:</a:t>
            </a:r>
          </a:p>
          <a:p>
            <a:r>
              <a:rPr dirty="0"/>
              <a:t> '&gt;' redirects </a:t>
            </a:r>
            <a:r>
              <a:rPr dirty="0" err="1"/>
              <a:t>stdout</a:t>
            </a:r>
            <a:r>
              <a:rPr dirty="0"/>
              <a:t> to a file.</a:t>
            </a:r>
          </a:p>
          <a:p>
            <a:r>
              <a:rPr dirty="0"/>
              <a:t> '2&gt;' redirects stderr.</a:t>
            </a:r>
          </a:p>
          <a:p>
            <a:r>
              <a:rPr dirty="0"/>
              <a:t> '/dev/null' discards unwanted output.</a:t>
            </a:r>
          </a:p>
          <a:p>
            <a:endParaRPr dirty="0"/>
          </a:p>
          <a:p>
            <a:r>
              <a:rPr dirty="0"/>
              <a:t>Example:</a:t>
            </a:r>
          </a:p>
          <a:p>
            <a:r>
              <a:rPr dirty="0"/>
              <a:t>ls /not/</a:t>
            </a:r>
            <a:r>
              <a:rPr dirty="0" err="1"/>
              <a:t>existed_path</a:t>
            </a:r>
            <a:r>
              <a:rPr dirty="0"/>
              <a:t> 2&gt; /dev/null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034B7-64DE-4F01-BA1F-5464701D53BB}"/>
              </a:ext>
            </a:extLst>
          </p:cNvPr>
          <p:cNvSpPr>
            <a:spLocks noGrp="1"/>
          </p:cNvSpPr>
          <p:nvPr>
            <p:ph type="title"/>
          </p:nvPr>
        </p:nvSpPr>
        <p:spPr/>
        <p:txBody>
          <a:bodyPr/>
          <a:lstStyle/>
          <a:p>
            <a:r>
              <a:rPr lang="en-IN" dirty="0"/>
              <a:t>Redirecting Streams</a:t>
            </a:r>
          </a:p>
        </p:txBody>
      </p:sp>
      <p:pic>
        <p:nvPicPr>
          <p:cNvPr id="5" name="Content Placeholder 4">
            <a:extLst>
              <a:ext uri="{FF2B5EF4-FFF2-40B4-BE49-F238E27FC236}">
                <a16:creationId xmlns:a16="http://schemas.microsoft.com/office/drawing/2014/main" id="{D8E4CB72-C1A3-43DA-97E0-FB250888C463}"/>
              </a:ext>
            </a:extLst>
          </p:cNvPr>
          <p:cNvPicPr>
            <a:picLocks noGrp="1" noChangeAspect="1"/>
          </p:cNvPicPr>
          <p:nvPr>
            <p:ph idx="1"/>
          </p:nvPr>
        </p:nvPicPr>
        <p:blipFill>
          <a:blip r:embed="rId2"/>
          <a:stretch>
            <a:fillRect/>
          </a:stretch>
        </p:blipFill>
        <p:spPr>
          <a:xfrm>
            <a:off x="605962" y="1241982"/>
            <a:ext cx="7843586" cy="5092830"/>
          </a:xfrm>
        </p:spPr>
      </p:pic>
    </p:spTree>
    <p:extLst>
      <p:ext uri="{BB962C8B-B14F-4D97-AF65-F5344CB8AC3E}">
        <p14:creationId xmlns:p14="http://schemas.microsoft.com/office/powerpoint/2010/main" val="2955850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Discarding Output</a:t>
            </a:r>
          </a:p>
        </p:txBody>
      </p:sp>
      <p:sp>
        <p:nvSpPr>
          <p:cNvPr id="3" name="Content Placeholder 2"/>
          <p:cNvSpPr>
            <a:spLocks noGrp="1"/>
          </p:cNvSpPr>
          <p:nvPr>
            <p:ph idx="1"/>
          </p:nvPr>
        </p:nvSpPr>
        <p:spPr/>
        <p:txBody>
          <a:bodyPr>
            <a:normAutofit/>
          </a:bodyPr>
          <a:lstStyle/>
          <a:p>
            <a:pPr marL="0" indent="0" algn="just">
              <a:buNone/>
            </a:pPr>
            <a:r>
              <a:rPr lang="en-US" b="0" i="0" dirty="0">
                <a:solidFill>
                  <a:srgbClr val="273239"/>
                </a:solidFill>
                <a:effectLst/>
                <a:latin typeface="Nunito" pitchFamily="2" charset="0"/>
              </a:rPr>
              <a:t>In some cases, it is useful to drop all of the application output (to save storage space or remove the unimportant sources of data to analyze). We should remember that we should mute not just the </a:t>
            </a:r>
            <a:r>
              <a:rPr lang="en-US" b="1" i="0" dirty="0">
                <a:solidFill>
                  <a:srgbClr val="273239"/>
                </a:solidFill>
                <a:effectLst/>
                <a:latin typeface="Nunito" pitchFamily="2" charset="0"/>
              </a:rPr>
              <a:t>standard output stream </a:t>
            </a:r>
            <a:r>
              <a:rPr lang="en-US" b="0" i="0" dirty="0">
                <a:solidFill>
                  <a:srgbClr val="273239"/>
                </a:solidFill>
                <a:effectLst/>
                <a:latin typeface="Nunito" pitchFamily="2" charset="0"/>
              </a:rPr>
              <a:t>but the </a:t>
            </a:r>
            <a:r>
              <a:rPr lang="en-US" b="1" i="0" dirty="0">
                <a:solidFill>
                  <a:srgbClr val="273239"/>
                </a:solidFill>
                <a:effectLst/>
                <a:latin typeface="Nunito" pitchFamily="2" charset="0"/>
              </a:rPr>
              <a:t>standard error stream </a:t>
            </a:r>
            <a:r>
              <a:rPr lang="en-US" b="0" i="0" dirty="0">
                <a:solidFill>
                  <a:srgbClr val="273239"/>
                </a:solidFill>
                <a:effectLst/>
                <a:latin typeface="Nunito" pitchFamily="2" charset="0"/>
              </a:rPr>
              <a:t>also. Let's look at an example of how does it work.</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87D0-9AA6-46AE-9714-8246A2790BBB}"/>
              </a:ext>
            </a:extLst>
          </p:cNvPr>
          <p:cNvSpPr>
            <a:spLocks noGrp="1"/>
          </p:cNvSpPr>
          <p:nvPr>
            <p:ph type="title"/>
          </p:nvPr>
        </p:nvSpPr>
        <p:spPr/>
        <p:txBody>
          <a:bodyPr/>
          <a:lstStyle/>
          <a:p>
            <a:r>
              <a:rPr lang="en-IN" dirty="0"/>
              <a:t>Discarding Output</a:t>
            </a:r>
          </a:p>
        </p:txBody>
      </p:sp>
      <p:sp>
        <p:nvSpPr>
          <p:cNvPr id="3" name="Content Placeholder 2">
            <a:extLst>
              <a:ext uri="{FF2B5EF4-FFF2-40B4-BE49-F238E27FC236}">
                <a16:creationId xmlns:a16="http://schemas.microsoft.com/office/drawing/2014/main" id="{0A312870-0865-4C1C-BAEC-BE23298051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4F08562-9A78-4057-A945-FF9B186301BE}"/>
              </a:ext>
            </a:extLst>
          </p:cNvPr>
          <p:cNvPicPr>
            <a:picLocks noChangeAspect="1"/>
          </p:cNvPicPr>
          <p:nvPr/>
        </p:nvPicPr>
        <p:blipFill rotWithShape="1">
          <a:blip r:embed="rId2"/>
          <a:srcRect b="56667"/>
          <a:stretch/>
        </p:blipFill>
        <p:spPr>
          <a:xfrm>
            <a:off x="353505" y="2354013"/>
            <a:ext cx="8208899" cy="2149974"/>
          </a:xfrm>
          <a:prstGeom prst="rect">
            <a:avLst/>
          </a:prstGeom>
        </p:spPr>
      </p:pic>
    </p:spTree>
    <p:extLst>
      <p:ext uri="{BB962C8B-B14F-4D97-AF65-F5344CB8AC3E}">
        <p14:creationId xmlns:p14="http://schemas.microsoft.com/office/powerpoint/2010/main" val="3379365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6BBC97-86AE-453F-9577-11E92F757186}"/>
              </a:ext>
            </a:extLst>
          </p:cNvPr>
          <p:cNvSpPr>
            <a:spLocks noGrp="1"/>
          </p:cNvSpPr>
          <p:nvPr>
            <p:ph idx="1"/>
          </p:nvPr>
        </p:nvSpPr>
        <p:spPr>
          <a:xfrm>
            <a:off x="164969" y="280448"/>
            <a:ext cx="8229600" cy="4525963"/>
          </a:xfrm>
        </p:spPr>
        <p:txBody>
          <a:bodyPr>
            <a:normAutofit fontScale="70000" lnSpcReduction="20000"/>
          </a:bodyPr>
          <a:lstStyle/>
          <a:p>
            <a:pPr algn="just"/>
            <a:r>
              <a:rPr lang="en-US" b="0" i="0" dirty="0">
                <a:solidFill>
                  <a:srgbClr val="273239"/>
                </a:solidFill>
                <a:effectLst/>
                <a:latin typeface="Nunito" pitchFamily="2" charset="0"/>
              </a:rPr>
              <a:t>In both lines of script </a:t>
            </a:r>
            <a:r>
              <a:rPr lang="en-US" b="1" i="0" dirty="0">
                <a:solidFill>
                  <a:srgbClr val="273239"/>
                </a:solidFill>
                <a:effectLst/>
                <a:latin typeface="Nunito" pitchFamily="2" charset="0"/>
              </a:rPr>
              <a:t>standard output stream </a:t>
            </a:r>
            <a:r>
              <a:rPr lang="en-US" b="0" i="0" dirty="0">
                <a:solidFill>
                  <a:srgbClr val="273239"/>
                </a:solidFill>
                <a:effectLst/>
                <a:latin typeface="Nunito" pitchFamily="2" charset="0"/>
              </a:rPr>
              <a:t>redirected to file</a:t>
            </a:r>
            <a:r>
              <a:rPr lang="en-US" b="1" i="0" dirty="0">
                <a:solidFill>
                  <a:srgbClr val="273239"/>
                </a:solidFill>
                <a:effectLst/>
                <a:latin typeface="Nunito" pitchFamily="2" charset="0"/>
              </a:rPr>
              <a:t> /dev/null</a:t>
            </a:r>
            <a:r>
              <a:rPr lang="en-US" b="0" i="0" dirty="0">
                <a:solidFill>
                  <a:srgbClr val="273239"/>
                </a:solidFill>
                <a:effectLst/>
                <a:latin typeface="Nunito" pitchFamily="2" charset="0"/>
              </a:rPr>
              <a:t>. This file is not a file itself: but a special Linux device with a file interface. It has a write function available from shell (that does nothing). So all of the input is just dropped. But the second string of the script has a difference from the first one: "</a:t>
            </a:r>
            <a:r>
              <a:rPr lang="en-US" b="1" i="0" dirty="0">
                <a:solidFill>
                  <a:srgbClr val="273239"/>
                </a:solidFill>
                <a:effectLst/>
                <a:latin typeface="Nunito" pitchFamily="2" charset="0"/>
              </a:rPr>
              <a:t>2&gt;&amp;1</a:t>
            </a:r>
            <a:r>
              <a:rPr lang="en-US" b="0" i="0" dirty="0">
                <a:solidFill>
                  <a:srgbClr val="273239"/>
                </a:solidFill>
                <a:effectLst/>
                <a:latin typeface="Nunito" pitchFamily="2" charset="0"/>
              </a:rPr>
              <a:t>" at the end of the command. These symbols tell that the second </a:t>
            </a:r>
            <a:r>
              <a:rPr lang="en-US" b="1" i="0" dirty="0">
                <a:solidFill>
                  <a:srgbClr val="273239"/>
                </a:solidFill>
                <a:effectLst/>
                <a:latin typeface="Nunito" pitchFamily="2" charset="0"/>
              </a:rPr>
              <a:t>standard stream </a:t>
            </a:r>
            <a:r>
              <a:rPr lang="en-US" b="0" i="0" dirty="0">
                <a:solidFill>
                  <a:srgbClr val="273239"/>
                </a:solidFill>
                <a:effectLst/>
                <a:latin typeface="Nunito" pitchFamily="2" charset="0"/>
              </a:rPr>
              <a:t>( </a:t>
            </a:r>
            <a:r>
              <a:rPr lang="en-US" b="1" i="0" dirty="0">
                <a:solidFill>
                  <a:srgbClr val="273239"/>
                </a:solidFill>
                <a:effectLst/>
                <a:latin typeface="Nunito" pitchFamily="2" charset="0"/>
              </a:rPr>
              <a:t>standard error stream </a:t>
            </a:r>
            <a:r>
              <a:rPr lang="en-US" b="0" i="0" dirty="0">
                <a:solidFill>
                  <a:srgbClr val="273239"/>
                </a:solidFill>
                <a:effectLst/>
                <a:latin typeface="Nunito" pitchFamily="2" charset="0"/>
              </a:rPr>
              <a:t>)</a:t>
            </a:r>
            <a:r>
              <a:rPr lang="en-US" b="1" i="0" dirty="0">
                <a:solidFill>
                  <a:srgbClr val="273239"/>
                </a:solidFill>
                <a:effectLst/>
                <a:latin typeface="Nunito" pitchFamily="2" charset="0"/>
              </a:rPr>
              <a:t> </a:t>
            </a:r>
            <a:r>
              <a:rPr lang="en-US" b="0" i="0" dirty="0">
                <a:solidFill>
                  <a:srgbClr val="273239"/>
                </a:solidFill>
                <a:effectLst/>
                <a:latin typeface="Nunito" pitchFamily="2" charset="0"/>
              </a:rPr>
              <a:t>needs to be directed at the first standard stream (</a:t>
            </a:r>
            <a:r>
              <a:rPr lang="en-US" b="1" i="0" dirty="0">
                <a:solidFill>
                  <a:srgbClr val="273239"/>
                </a:solidFill>
                <a:effectLst/>
                <a:latin typeface="Nunito" pitchFamily="2" charset="0"/>
              </a:rPr>
              <a:t>standard output stream</a:t>
            </a:r>
            <a:r>
              <a:rPr lang="en-US" b="0" i="0" dirty="0">
                <a:solidFill>
                  <a:srgbClr val="273239"/>
                </a:solidFill>
                <a:effectLst/>
                <a:latin typeface="Nunito" pitchFamily="2" charset="0"/>
              </a:rPr>
              <a:t>) permanently for this command. That is why we see only one error message displayed in the console - at the second command string of the script</a:t>
            </a:r>
            <a:r>
              <a:rPr lang="en-US" b="1" i="0" dirty="0">
                <a:solidFill>
                  <a:srgbClr val="273239"/>
                </a:solidFill>
                <a:effectLst/>
                <a:latin typeface="Nunito" pitchFamily="2" charset="0"/>
              </a:rPr>
              <a:t> standard error stream</a:t>
            </a:r>
            <a:r>
              <a:rPr lang="en-US" b="0" i="0" dirty="0">
                <a:solidFill>
                  <a:srgbClr val="273239"/>
                </a:solidFill>
                <a:effectLst/>
                <a:latin typeface="Nunito" pitchFamily="2" charset="0"/>
              </a:rPr>
              <a:t> redirected to terminating file device </a:t>
            </a:r>
            <a:r>
              <a:rPr lang="en-US" b="1" i="0" dirty="0">
                <a:solidFill>
                  <a:srgbClr val="273239"/>
                </a:solidFill>
                <a:effectLst/>
                <a:latin typeface="Nunito" pitchFamily="2" charset="0"/>
              </a:rPr>
              <a:t>/dev/null</a:t>
            </a:r>
            <a:r>
              <a:rPr lang="en-US" b="0" i="0" dirty="0">
                <a:solidFill>
                  <a:srgbClr val="273239"/>
                </a:solidFill>
                <a:effectLst/>
                <a:latin typeface="Nunito" pitchFamily="2" charset="0"/>
              </a:rPr>
              <a:t> in the end.</a:t>
            </a:r>
            <a:endParaRPr lang="en-IN" dirty="0"/>
          </a:p>
        </p:txBody>
      </p:sp>
      <p:pic>
        <p:nvPicPr>
          <p:cNvPr id="4" name="Picture 3">
            <a:extLst>
              <a:ext uri="{FF2B5EF4-FFF2-40B4-BE49-F238E27FC236}">
                <a16:creationId xmlns:a16="http://schemas.microsoft.com/office/drawing/2014/main" id="{9EEAA732-2B5E-4CDE-A235-034D027F062A}"/>
              </a:ext>
            </a:extLst>
          </p:cNvPr>
          <p:cNvPicPr>
            <a:picLocks noChangeAspect="1"/>
          </p:cNvPicPr>
          <p:nvPr/>
        </p:nvPicPr>
        <p:blipFill rotWithShape="1">
          <a:blip r:embed="rId2"/>
          <a:srcRect t="43333"/>
          <a:stretch/>
        </p:blipFill>
        <p:spPr>
          <a:xfrm>
            <a:off x="457200" y="3853206"/>
            <a:ext cx="8208899" cy="2811543"/>
          </a:xfrm>
          <a:prstGeom prst="rect">
            <a:avLst/>
          </a:prstGeom>
        </p:spPr>
      </p:pic>
    </p:spTree>
    <p:extLst>
      <p:ext uri="{BB962C8B-B14F-4D97-AF65-F5344CB8AC3E}">
        <p14:creationId xmlns:p14="http://schemas.microsoft.com/office/powerpoint/2010/main" val="3587935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Pipelined Streams</a:t>
            </a:r>
          </a:p>
        </p:txBody>
      </p:sp>
      <p:sp>
        <p:nvSpPr>
          <p:cNvPr id="3" name="Content Placeholder 2"/>
          <p:cNvSpPr>
            <a:spLocks noGrp="1"/>
          </p:cNvSpPr>
          <p:nvPr>
            <p:ph idx="1"/>
          </p:nvPr>
        </p:nvSpPr>
        <p:spPr/>
        <p:txBody>
          <a:bodyPr/>
          <a:lstStyle/>
          <a:p>
            <a:pPr algn="just"/>
            <a:r>
              <a:rPr lang="en-US" b="0" i="0" dirty="0">
                <a:solidFill>
                  <a:srgbClr val="273239"/>
                </a:solidFill>
                <a:effectLst/>
                <a:latin typeface="Nunito" pitchFamily="2" charset="0"/>
              </a:rPr>
              <a:t>It also can be useful to modify the stream.  is able to run several applications connected by the streams. </a:t>
            </a:r>
            <a:endParaRPr dirty="0"/>
          </a:p>
        </p:txBody>
      </p:sp>
      <p:pic>
        <p:nvPicPr>
          <p:cNvPr id="7" name="Picture 6">
            <a:extLst>
              <a:ext uri="{FF2B5EF4-FFF2-40B4-BE49-F238E27FC236}">
                <a16:creationId xmlns:a16="http://schemas.microsoft.com/office/drawing/2014/main" id="{67F67B6E-9E83-4B11-80FC-8E941ED70356}"/>
              </a:ext>
            </a:extLst>
          </p:cNvPr>
          <p:cNvPicPr>
            <a:picLocks noChangeAspect="1"/>
          </p:cNvPicPr>
          <p:nvPr/>
        </p:nvPicPr>
        <p:blipFill>
          <a:blip r:embed="rId2"/>
          <a:stretch>
            <a:fillRect/>
          </a:stretch>
        </p:blipFill>
        <p:spPr>
          <a:xfrm>
            <a:off x="1186034" y="3325304"/>
            <a:ext cx="7030315" cy="28797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887A-0BB0-46DA-B65F-E4C6D4D221E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1C62927-DCC9-4C58-863A-74AD565418D9}"/>
              </a:ext>
            </a:extLst>
          </p:cNvPr>
          <p:cNvSpPr>
            <a:spLocks noGrp="1"/>
          </p:cNvSpPr>
          <p:nvPr>
            <p:ph idx="1"/>
          </p:nvPr>
        </p:nvSpPr>
        <p:spPr>
          <a:xfrm>
            <a:off x="542041" y="1417638"/>
            <a:ext cx="8229600" cy="4525963"/>
          </a:xfrm>
        </p:spPr>
        <p:txBody>
          <a:bodyPr/>
          <a:lstStyle/>
          <a:p>
            <a:r>
              <a:rPr lang="en-US" b="1" i="0" dirty="0">
                <a:solidFill>
                  <a:srgbClr val="273239"/>
                </a:solidFill>
                <a:effectLst/>
                <a:latin typeface="Nunito" pitchFamily="2" charset="0"/>
              </a:rPr>
              <a:t>The script running at the console:</a:t>
            </a:r>
          </a:p>
          <a:p>
            <a:endParaRPr lang="en-IN" dirty="0"/>
          </a:p>
          <a:p>
            <a:endParaRPr lang="en-IN" dirty="0"/>
          </a:p>
          <a:p>
            <a:endParaRPr lang="en-IN" dirty="0"/>
          </a:p>
          <a:p>
            <a:endParaRPr lang="en-IN" dirty="0"/>
          </a:p>
          <a:p>
            <a:endParaRPr lang="en-IN" dirty="0"/>
          </a:p>
          <a:p>
            <a:endParaRPr lang="en-IN" dirty="0"/>
          </a:p>
        </p:txBody>
      </p:sp>
      <p:pic>
        <p:nvPicPr>
          <p:cNvPr id="4102" name="Picture 6">
            <a:extLst>
              <a:ext uri="{FF2B5EF4-FFF2-40B4-BE49-F238E27FC236}">
                <a16:creationId xmlns:a16="http://schemas.microsoft.com/office/drawing/2014/main" id="{CB4BEE6E-45A9-470A-AEA4-EF4533766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711" y="2129026"/>
            <a:ext cx="6180578" cy="259994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9">
            <a:extLst>
              <a:ext uri="{FF2B5EF4-FFF2-40B4-BE49-F238E27FC236}">
                <a16:creationId xmlns:a16="http://schemas.microsoft.com/office/drawing/2014/main" id="{1A181FB6-D127-4DB8-B1CE-6CE3F8AD926A}"/>
              </a:ext>
            </a:extLst>
          </p:cNvPr>
          <p:cNvSpPr>
            <a:spLocks noChangeArrowheads="1"/>
          </p:cNvSpPr>
          <p:nvPr/>
        </p:nvSpPr>
        <p:spPr bwMode="auto">
          <a:xfrm>
            <a:off x="542040" y="5037060"/>
            <a:ext cx="814475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Here we collect the listing and set “ls” standard output stream as grep standard input stream by using “|”. On “2&gt;” standard errors stream is redirected to the termination file.  The output stream of grep contains the "/</a:t>
            </a:r>
            <a:r>
              <a:rPr kumimoji="0" lang="en-US" altLang="en-US" sz="2000" b="0" i="0" u="none" strike="noStrike" cap="none" normalizeH="0" baseline="0" dirty="0" err="1">
                <a:ln>
                  <a:noFill/>
                </a:ln>
                <a:solidFill>
                  <a:schemeClr val="tx1"/>
                </a:solidFill>
                <a:effectLst/>
                <a:latin typeface="Arial" panose="020B0604020202020204" pitchFamily="34" charset="0"/>
              </a:rPr>
              <a:t>tmp</a:t>
            </a:r>
            <a:r>
              <a:rPr kumimoji="0" lang="en-US" altLang="en-US" sz="2000" b="0" i="0" u="none" strike="noStrike" cap="none" normalizeH="0" baseline="0" dirty="0">
                <a:ln>
                  <a:noFill/>
                </a:ln>
                <a:solidFill>
                  <a:schemeClr val="tx1"/>
                </a:solidFill>
                <a:effectLst/>
                <a:latin typeface="Arial" panose="020B0604020202020204" pitchFamily="34" charset="0"/>
              </a:rPr>
              <a:t>/a" filename from listing that matches by grep pattern.</a:t>
            </a:r>
          </a:p>
        </p:txBody>
      </p:sp>
    </p:spTree>
    <p:extLst>
      <p:ext uri="{BB962C8B-B14F-4D97-AF65-F5344CB8AC3E}">
        <p14:creationId xmlns:p14="http://schemas.microsoft.com/office/powerpoint/2010/main" val="148629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Here Document</a:t>
            </a:r>
          </a:p>
        </p:txBody>
      </p:sp>
      <p:pic>
        <p:nvPicPr>
          <p:cNvPr id="7" name="Picture 6">
            <a:extLst>
              <a:ext uri="{FF2B5EF4-FFF2-40B4-BE49-F238E27FC236}">
                <a16:creationId xmlns:a16="http://schemas.microsoft.com/office/drawing/2014/main" id="{80F7154A-228E-4E8F-A86F-AC90CE2B6F7C}"/>
              </a:ext>
            </a:extLst>
          </p:cNvPr>
          <p:cNvPicPr>
            <a:picLocks noChangeAspect="1"/>
          </p:cNvPicPr>
          <p:nvPr/>
        </p:nvPicPr>
        <p:blipFill>
          <a:blip r:embed="rId2"/>
          <a:stretch>
            <a:fillRect/>
          </a:stretch>
        </p:blipFill>
        <p:spPr>
          <a:xfrm>
            <a:off x="391054" y="1249490"/>
            <a:ext cx="8192210" cy="498162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0BB16C-2747-4727-8CD4-AE3DD2CCB365}"/>
              </a:ext>
            </a:extLst>
          </p:cNvPr>
          <p:cNvSpPr>
            <a:spLocks noGrp="1"/>
          </p:cNvSpPr>
          <p:nvPr>
            <p:ph idx="1"/>
          </p:nvPr>
        </p:nvSpPr>
        <p:spPr>
          <a:xfrm>
            <a:off x="457200" y="522092"/>
            <a:ext cx="8229600" cy="4525963"/>
          </a:xfrm>
        </p:spPr>
        <p:txBody>
          <a:bodyPr/>
          <a:lstStyle/>
          <a:p>
            <a:pPr marL="0" indent="0">
              <a:buNone/>
            </a:pPr>
            <a:r>
              <a:rPr lang="en-US" sz="2400" b="1" i="0" dirty="0">
                <a:solidFill>
                  <a:srgbClr val="273239"/>
                </a:solidFill>
                <a:effectLst/>
                <a:latin typeface="Nunito" pitchFamily="2" charset="0"/>
              </a:rPr>
              <a:t>The script running at console.</a:t>
            </a:r>
          </a:p>
          <a:p>
            <a:pPr algn="just"/>
            <a:r>
              <a:rPr lang="en-US" sz="2000" b="0" i="0" dirty="0">
                <a:solidFill>
                  <a:srgbClr val="273239"/>
                </a:solidFill>
                <a:effectLst/>
                <a:latin typeface="Nunito" pitchFamily="2" charset="0"/>
              </a:rPr>
              <a:t>As we can see only the second string from 3 of the strings of text for the </a:t>
            </a:r>
            <a:r>
              <a:rPr lang="en-US" sz="2000" b="1" i="0" dirty="0">
                <a:solidFill>
                  <a:srgbClr val="273239"/>
                </a:solidFill>
                <a:effectLst/>
                <a:latin typeface="Nunito" pitchFamily="2" charset="0"/>
              </a:rPr>
              <a:t>grep standard input stream </a:t>
            </a:r>
            <a:r>
              <a:rPr lang="en-US" sz="2000" b="0" i="0" dirty="0">
                <a:solidFill>
                  <a:srgbClr val="273239"/>
                </a:solidFill>
                <a:effectLst/>
                <a:latin typeface="Nunito" pitchFamily="2" charset="0"/>
              </a:rPr>
              <a:t>delimited by "EOF" match the </a:t>
            </a:r>
            <a:r>
              <a:rPr lang="en-US" sz="2000" b="1" i="0" dirty="0">
                <a:solidFill>
                  <a:srgbClr val="273239"/>
                </a:solidFill>
                <a:effectLst/>
                <a:latin typeface="Nunito" pitchFamily="2" charset="0"/>
              </a:rPr>
              <a:t>grep</a:t>
            </a:r>
            <a:r>
              <a:rPr lang="en-US" sz="2000" b="0" i="0" dirty="0">
                <a:solidFill>
                  <a:srgbClr val="273239"/>
                </a:solidFill>
                <a:effectLst/>
                <a:latin typeface="Nunito" pitchFamily="2" charset="0"/>
              </a:rPr>
              <a:t> pattern: that is why it passed to </a:t>
            </a:r>
            <a:r>
              <a:rPr lang="en-US" sz="2000" b="1" i="0" dirty="0">
                <a:solidFill>
                  <a:srgbClr val="273239"/>
                </a:solidFill>
                <a:effectLst/>
                <a:latin typeface="Nunito" pitchFamily="2" charset="0"/>
              </a:rPr>
              <a:t>grep standard output stream</a:t>
            </a:r>
            <a:r>
              <a:rPr lang="en-US" sz="2000" b="0" i="0" dirty="0">
                <a:solidFill>
                  <a:srgbClr val="273239"/>
                </a:solidFill>
                <a:effectLst/>
                <a:latin typeface="Nunito" pitchFamily="2" charset="0"/>
              </a:rPr>
              <a:t> and be displayed in the console next.</a:t>
            </a:r>
          </a:p>
          <a:p>
            <a:pPr algn="just"/>
            <a:endParaRPr lang="en-IN" sz="2000" dirty="0"/>
          </a:p>
        </p:txBody>
      </p:sp>
      <p:pic>
        <p:nvPicPr>
          <p:cNvPr id="5122" name="Picture 2">
            <a:extLst>
              <a:ext uri="{FF2B5EF4-FFF2-40B4-BE49-F238E27FC236}">
                <a16:creationId xmlns:a16="http://schemas.microsoft.com/office/drawing/2014/main" id="{67AAAFD7-8768-4D73-BD36-E7C4E3FC1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280" y="2445723"/>
            <a:ext cx="7181966" cy="375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150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Unix uses three main data streams for process communication.</a:t>
            </a:r>
          </a:p>
          <a:p>
            <a:r>
              <a:t>• Streams can be redirected, piped, or discarded as needed.</a:t>
            </a:r>
          </a:p>
          <a:p>
            <a:r>
              <a:t>• Mastering stdin, stdout, and stderr is essential for shell scripting.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615</Words>
  <Application>Microsoft Office PowerPoint</Application>
  <PresentationFormat>On-screen Show (4:3)</PresentationFormat>
  <Paragraphs>55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Nunito</vt:lpstr>
      <vt:lpstr>Office Theme</vt:lpstr>
      <vt:lpstr>Unix Programming with Standard Input and Output</vt:lpstr>
      <vt:lpstr>Introduction to Standard Streams</vt:lpstr>
      <vt:lpstr>PowerPoint Presentation</vt:lpstr>
      <vt:lpstr>Input/Output Streams Example</vt:lpstr>
      <vt:lpstr>PowerPoint Presentation</vt:lpstr>
      <vt:lpstr>Error Stream Example</vt:lpstr>
      <vt:lpstr>PowerPoint Presentation</vt:lpstr>
      <vt:lpstr>PowerPoint Presentation</vt:lpstr>
      <vt:lpstr>Redirecting Streams</vt:lpstr>
      <vt:lpstr>Redirecting Streams</vt:lpstr>
      <vt:lpstr>Discarding Output</vt:lpstr>
      <vt:lpstr>Discarding Output</vt:lpstr>
      <vt:lpstr>PowerPoint Presentation</vt:lpstr>
      <vt:lpstr>Pipelined Streams</vt:lpstr>
      <vt:lpstr>PowerPoint Presentation</vt:lpstr>
      <vt:lpstr>Here Document</vt:lpstr>
      <vt:lpstr>PowerPoint Presentation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Unix Programming with Standard Input and Output</dc:title>
  <dc:subject/>
  <dc:creator/>
  <cp:keywords/>
  <dc:description>generated using python-pptx</dc:description>
  <cp:lastModifiedBy>ASHISH MISHRA</cp:lastModifiedBy>
  <cp:revision>8</cp:revision>
  <dcterms:created xsi:type="dcterms:W3CDTF">2013-01-27T09:14:16Z</dcterms:created>
  <dcterms:modified xsi:type="dcterms:W3CDTF">2025-11-10T07:31:38Z</dcterms:modified>
  <cp:category/>
</cp:coreProperties>
</file>