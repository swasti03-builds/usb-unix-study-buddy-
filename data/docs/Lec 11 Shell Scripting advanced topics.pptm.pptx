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9361E2-92BD-4B92-8C94-5A2AA5E5D462}">
  <a:tblStyle styleId="{A29361E2-92BD-4B92-8C94-5A2AA5E5D46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Shell Scripting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Advanced Topics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Regular Expressions – grep, sed, awk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Regular Expressions or regex is a concise way to describe or match text patterns.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BRE (Basic Regular Expressions)</a:t>
            </a:r>
            <a:r>
              <a:rPr lang="en-US"/>
              <a:t> : classic </a:t>
            </a:r>
            <a:r>
              <a:rPr b="1" lang="en-US"/>
              <a:t>sed/grep </a:t>
            </a:r>
            <a:r>
              <a:rPr lang="en-US"/>
              <a:t>default (POSIX BRE). Many metacharacters need \ to be special.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ERE (Extended Regular Expressions)</a:t>
            </a:r>
            <a:r>
              <a:rPr lang="en-US"/>
              <a:t> : used by </a:t>
            </a:r>
            <a:r>
              <a:rPr b="1" lang="en-US"/>
              <a:t>egrep / grep -E / awk </a:t>
            </a:r>
            <a:r>
              <a:rPr lang="en-US"/>
              <a:t>(POSIX ERE). More meta-chars without backslashes.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PCRE (Perl Compatible Regular Expressions)</a:t>
            </a:r>
            <a:r>
              <a:rPr lang="en-US"/>
              <a:t> : most powerful (lookarounds, non-capturing groups); </a:t>
            </a:r>
            <a:r>
              <a:rPr b="1" lang="en-US"/>
              <a:t>grep -P (GNU grep) </a:t>
            </a:r>
            <a:r>
              <a:rPr lang="en-US"/>
              <a:t>supports PCRE. Not universally available on all systems.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284018" y="221673"/>
            <a:ext cx="10515600" cy="587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Core building blocks: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Literals: foo matches exactly foo.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Character classes: [abc], ranges [a-z], negation [^0-9].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Metacharacters:</a:t>
            </a:r>
            <a:br>
              <a:rPr lang="en-US"/>
            </a:b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. — any single character (except newline in many flavors).</a:t>
            </a:r>
            <a:br>
              <a:rPr lang="en-US"/>
            </a:b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^ — start of line/string.</a:t>
            </a:r>
            <a:br>
              <a:rPr lang="en-US"/>
            </a:b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$ — end of line/string.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Quantifiers:</a:t>
            </a:r>
            <a:br>
              <a:rPr lang="en-US"/>
            </a:b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* — 0 or more</a:t>
            </a:r>
            <a:br>
              <a:rPr lang="en-US"/>
            </a:b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+ — 1 or more</a:t>
            </a:r>
            <a:br>
              <a:rPr lang="en-US"/>
            </a:b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? — 0 or 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{m}, {m,}, {m,n} — exact/repeat/min-max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838200" y="20926"/>
            <a:ext cx="10515600" cy="660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Grep command</a:t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311726" y="681037"/>
            <a:ext cx="11630891" cy="5858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Searches files or stdin for lines that match a regex and prints the matching lines (by default).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103" name="Google Shape;103;p16"/>
          <p:cNvGraphicFramePr/>
          <p:nvPr/>
        </p:nvGraphicFramePr>
        <p:xfrm>
          <a:off x="0" y="16340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{A29361E2-92BD-4B92-8C94-5A2AA5E5D462}</a:tableStyleId>
              </a:tblPr>
              <a:tblGrid>
                <a:gridCol w="6096000"/>
                <a:gridCol w="6096000"/>
              </a:tblGrid>
              <a:tr h="64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-i: case sensitive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 / -R : recursive search through directories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64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-v : invert match (show lines that </a:t>
                      </a:r>
                      <a:r>
                        <a:rPr b="1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 not</a:t>
                      </a: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match)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-l : list filenames that contain a match (once each)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64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 : use ERE (extended)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-L : list filenames that do </a:t>
                      </a:r>
                      <a:r>
                        <a:rPr b="1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</a:t>
                      </a: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contain match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64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-F : fixed strings (fast; no regex,  like fgrep)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-c : count matching lines per file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64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 : show line numbers</a:t>
                      </a:r>
                      <a:b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-o : only print the matched portion (useful for extracting tokens)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64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-H : show filename (useful when multiple files)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 N : stop after N matches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64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-h : suppress filename</a:t>
                      </a:r>
                      <a:b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--color=auto : highlight matches in output (commonly used; depends on grep build)</a:t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838200" y="365126"/>
            <a:ext cx="10515600" cy="31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Examples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838200" y="1052945"/>
            <a:ext cx="10515600" cy="5124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Find lines containing error (case-insensitive) in log files: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                                grep -i 'error' /var/log/syslog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Show line numbers:</a:t>
            </a:r>
            <a:br>
              <a:rPr lang="en-US"/>
            </a:br>
            <a:r>
              <a:rPr b="1" lang="en-US"/>
              <a:t>                                   grep -n 'TODO' *.c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Search recursively for main:</a:t>
            </a:r>
            <a:br>
              <a:rPr lang="en-US"/>
            </a:br>
            <a:r>
              <a:rPr b="1" lang="en-US"/>
              <a:t>                     grep -R --include='*.c' --include='*.h' -n 'main(' 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List files that contain TODO:</a:t>
            </a:r>
            <a:br>
              <a:rPr lang="en-US"/>
            </a:br>
            <a:r>
              <a:rPr b="1" lang="en-US"/>
              <a:t>                                          grep -l 'TODO' -R 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Exit codes (useful in scripts)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0 : found match(es)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 : no match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&gt;1 : error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838200" y="365126"/>
            <a:ext cx="10515600" cy="521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Sed Command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67145" y="1163782"/>
            <a:ext cx="11547763" cy="5694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Reads input line-by-line, applies editing commands (substitute, delete, insert, etc.), prints result.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Basic command form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                 sed 's/regex/replacement/flags' infile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# or with -e for multiple commands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    </a:t>
            </a:r>
            <a:r>
              <a:rPr b="1" lang="en-US"/>
              <a:t>sed -e 's/foo/bar/g' -e '2,5d'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Options: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-n : suppress automatic printing (useful with p commands)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-e : add script (useful for multiple commands)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-f scriptfile : read sed commands from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-i[SUFFIX] : in-place edit (GNU/BSD differences: BSD sed -i '' to avoid creating backup)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-r or -E : use extended regex (GNU -r legacy; POSIX -E is portable)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         Note: -E is the POSIX option; prefer sed -E if available.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838200" y="365125"/>
            <a:ext cx="10515600" cy="660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Awk command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200890" y="1025236"/>
            <a:ext cx="11630891" cy="54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awk is both a language and a tool designed for field-oriented text processing. It reads input line-by-line, splits each line into fields, and executes patterns/actions.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Exceptionally powerful for reports, column transformation, arithmetic, and structured parsing.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Classic usage: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800"/>
              <a:buNone/>
            </a:pPr>
            <a:r>
              <a:rPr lang="en-US">
                <a:solidFill>
                  <a:srgbClr val="00B050"/>
                </a:solidFill>
              </a:rPr>
              <a:t>                awk 'pattern { action }'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awk variants: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</a:t>
            </a:r>
            <a:r>
              <a:rPr lang="en-US">
                <a:solidFill>
                  <a:srgbClr val="00B050"/>
                </a:solidFill>
              </a:rPr>
              <a:t>awk (POSIX), gawk (GNU awk),              </a:t>
            </a:r>
            <a:r>
              <a:rPr lang="en-US"/>
              <a:t>gawk has many extensions.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114300" y="171594"/>
            <a:ext cx="11963400" cy="65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Structure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800"/>
              <a:buChar char="•"/>
            </a:pPr>
            <a:r>
              <a:rPr lang="en-US">
                <a:solidFill>
                  <a:srgbClr val="00B050"/>
                </a:solidFill>
              </a:rPr>
              <a:t>BEGIN { ... } :</a:t>
            </a:r>
            <a:r>
              <a:rPr lang="en-US"/>
              <a:t> run before processing any input (e.g., set FS, print header)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800"/>
              <a:buChar char="•"/>
            </a:pPr>
            <a:r>
              <a:rPr lang="en-US">
                <a:solidFill>
                  <a:srgbClr val="00B050"/>
                </a:solidFill>
              </a:rPr>
              <a:t>pattern { action } :</a:t>
            </a:r>
            <a:r>
              <a:rPr lang="en-US"/>
              <a:t> for each line that matches pattern run action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800"/>
              <a:buChar char="•"/>
            </a:pPr>
            <a:r>
              <a:rPr lang="en-US">
                <a:solidFill>
                  <a:srgbClr val="00B050"/>
                </a:solidFill>
              </a:rPr>
              <a:t>END { ... } :</a:t>
            </a:r>
            <a:r>
              <a:rPr lang="en-US"/>
              <a:t> run after processing input (e.g., totals, footers)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Variables: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Options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800"/>
              <a:buChar char="•"/>
            </a:pPr>
            <a:r>
              <a:rPr lang="en-US">
                <a:solidFill>
                  <a:srgbClr val="00B050"/>
                </a:solidFill>
              </a:rPr>
              <a:t>-F FS</a:t>
            </a:r>
            <a:r>
              <a:rPr lang="en-US"/>
              <a:t> : set input field separator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800"/>
              <a:buChar char="•"/>
            </a:pPr>
            <a:r>
              <a:rPr lang="en-US">
                <a:solidFill>
                  <a:srgbClr val="00B050"/>
                </a:solidFill>
              </a:rPr>
              <a:t>-v var=val </a:t>
            </a:r>
            <a:r>
              <a:rPr lang="en-US"/>
              <a:t>: pass shell variables to awk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800"/>
              <a:buChar char="•"/>
            </a:pPr>
            <a:r>
              <a:rPr lang="en-US">
                <a:solidFill>
                  <a:srgbClr val="00B050"/>
                </a:solidFill>
              </a:rPr>
              <a:t>-f scriptfile </a:t>
            </a:r>
            <a:r>
              <a:rPr lang="en-US"/>
              <a:t>: read awk program from file</a:t>
            </a:r>
            <a:endParaRPr/>
          </a:p>
        </p:txBody>
      </p:sp>
      <p:graphicFrame>
        <p:nvGraphicFramePr>
          <p:cNvPr id="127" name="Google Shape;127;p20"/>
          <p:cNvGraphicFramePr/>
          <p:nvPr/>
        </p:nvGraphicFramePr>
        <p:xfrm>
          <a:off x="228600" y="2575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{A29361E2-92BD-4B92-8C94-5A2AA5E5D462}</a:tableStyleId>
              </a:tblPr>
              <a:tblGrid>
                <a:gridCol w="5981700"/>
                <a:gridCol w="5981700"/>
              </a:tblGrid>
              <a:tr h="41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 — whole line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FS — field separator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51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 $2, ... — fields (default FS is whitespace)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RS — record separator (default newline)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41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 — number of fields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OFS — output field separator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6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NR — number of records (lines) processed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ORS — output record separator</a:t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838200" y="365126"/>
            <a:ext cx="10515600" cy="715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Examples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838200" y="1080656"/>
            <a:ext cx="10515600" cy="5777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Print 1st field of each line: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                                 awk '{ print $1 }'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Print lines where 3rd field &gt; 100: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                            awk '$3 &gt; 100 { print $0 }'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Sum a column (e.g., column 2) and print total: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                       awk '{ total += $2 } END { print total }'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 custom FS (CSV):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                            awk -F, '{ print $1, $3 }' file.csv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Pretty printing with OFS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</a:t>
            </a:r>
            <a:r>
              <a:rPr b="1" lang="en-US"/>
              <a:t>awk -F: 'BEGIN { OFS="\t" } { print $1, $3, $6 }' /etc/passwd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Pass shell variable safely: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   min=100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    awk -v min="$min" '$2 &gt;= min { print $0 }' file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Debugging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Debugging is the process of finding and fixing problems (bugs) in code. For shell scripts that usually means: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locating the line(s) that behave unexpectedly,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inspecting variables and command expansions,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understanding command exit statuses and control flow,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reproducing a failure consistently.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The central built-in tool: bash -x (and set -x)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prints each command after expansions but before execution, prefixed with a trace marker (by default + ). This shows the </a:t>
            </a:r>
            <a:r>
              <a:rPr i="1" lang="en-US"/>
              <a:t>actual</a:t>
            </a:r>
            <a:r>
              <a:rPr lang="en-US"/>
              <a:t> command being executed with variables expanded.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That makes it far easier to see why a command failed (wrong variable, incorrectly quoted word-splitting, unexpected argument, etc.).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Example: run a script under xtrace: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                     bash -x myscript.sh</a:t>
            </a:r>
            <a:br>
              <a:rPr lang="en-US"/>
            </a:br>
            <a:r>
              <a:rPr lang="en-US"/>
              <a:t>Bash starts, enables xtrace for the whole run, then reads and executes myscript.sh.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NOTE: In the output, </a:t>
            </a:r>
            <a:r>
              <a:rPr lang="en-US"/>
              <a:t>The lines beginning with + are the trace lines showing the command after expansions.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838200" y="55100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Example B — enable trace inside a script: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#!/usr/bin/env bash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set –x                        # set builtin, -x flag: enable xtrace from this point onward.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a="hello world"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echo "$a“   #prints expanded variable (trace shows echo hello world then output).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set +x                        #set with +x disables xtrace (turns off the prints).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echo "done“        # runs normally without trace after +x.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US"/>
            </a:br>
            <a:r>
              <a:rPr lang="en-US"/>
              <a:t>Run: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./myscript.sh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Script copyfiles.sh (buggy):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#!/usr/bin/env bash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FILES="file a.txt file b.txt"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for f in $FILES; do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  cp "$f" /tmp/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done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Problem: filenames with spaces get split incorrectly.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7" name="Google Shape;157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Run under xtrace: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>
                <a:solidFill>
                  <a:srgbClr val="0070C0"/>
                </a:solidFill>
              </a:rPr>
              <a:t>bash -x copyfiles.sh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Trace shows: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+ FILES='file a.txt file b.txt'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+ for f in file a.txt file b.txt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+ cp file /tmp/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+ cp a.txt /tmp/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+ cp file /tmp/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+ cp b.txt /tmp/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Error Handling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shell scripting, </a:t>
            </a:r>
            <a:r>
              <a:rPr b="1" lang="en-US"/>
              <a:t>error handling</a:t>
            </a:r>
            <a:r>
              <a:rPr lang="en-US"/>
              <a:t> means detecting and managing errors that occur when commands fail.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Every command in UNIX/Linux returns an </a:t>
            </a:r>
            <a:r>
              <a:rPr b="1" lang="en-US"/>
              <a:t>exit status code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0 : success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Non-zero (e.g., 1, 2, 127) : error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By default, a shell script </a:t>
            </a:r>
            <a:r>
              <a:rPr b="1" lang="en-US"/>
              <a:t>continues executing even if a command fails</a:t>
            </a:r>
            <a:r>
              <a:rPr lang="en-US"/>
              <a:t>, which can cause unintended behavior.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 So, error handling ensures that when something fails, the script behaves appropriately, stops, retries, logs an error, or takes an alternate action.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Logical Operators for Error Handling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/>
              <a:t>&amp;&amp; : Run next command only if previous succeeds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b="1" lang="en-US">
                <a:solidFill>
                  <a:srgbClr val="0070C0"/>
                </a:solidFill>
              </a:rPr>
              <a:t>                       </a:t>
            </a:r>
            <a:r>
              <a:rPr lang="en-US">
                <a:solidFill>
                  <a:srgbClr val="0070C0"/>
                </a:solidFill>
              </a:rPr>
              <a:t>mkdir test_dir &amp;&amp; cd test_dir &amp;&amp; touch file.txt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any step fails (for ex, mkdir couldn’t create folder), the next commands are skipped.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2. || : Run next command only if previous fails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>
                <a:solidFill>
                  <a:srgbClr val="0070C0"/>
                </a:solidFill>
              </a:rPr>
              <a:t>                 mkdir /protected_dir || echo "Could not create directory!"</a:t>
            </a:r>
            <a:endParaRPr b="1">
              <a:solidFill>
                <a:srgbClr val="0070C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3. Combining &amp;&amp; and ||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Both can be combined to mimic </a:t>
            </a:r>
            <a:r>
              <a:rPr b="1" lang="en-US"/>
              <a:t>if-else</a:t>
            </a:r>
            <a:r>
              <a:rPr lang="en-US"/>
              <a:t> logic: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>
                <a:solidFill>
                  <a:srgbClr val="0070C0"/>
                </a:solidFill>
              </a:rPr>
              <a:t>   mkdir test &amp;&amp; echo "Directory created" || echo "Failed to create directory</a:t>
            </a:r>
            <a:r>
              <a:rPr lang="en-US"/>
              <a:t>"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The set Command for Error Handling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set -e : Exit on error-&gt; </a:t>
            </a:r>
            <a:r>
              <a:rPr lang="en-US"/>
              <a:t>When you use set -e at the top of your script, it tells bash:“Exit the script immediately if any command fails.”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#!/bin/bash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set –e           # </a:t>
            </a:r>
            <a:r>
              <a:rPr lang="en-US"/>
              <a:t>activates strict mode</a:t>
            </a:r>
            <a:endParaRPr>
              <a:solidFill>
                <a:srgbClr val="0070C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echo "Start script"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cp file1.txt backup/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echo "File copied"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rm /nonexistent/file  </a:t>
            </a:r>
            <a:r>
              <a:rPr lang="en-US"/>
              <a:t># this will fail, script exits immediately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echo "This line will never run“  </a:t>
            </a:r>
            <a:r>
              <a:rPr lang="en-US"/>
              <a:t># never executes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04800" y="273915"/>
            <a:ext cx="11582400" cy="6154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set -o errexit (Same as set -e): </a:t>
            </a:r>
            <a:r>
              <a:rPr lang="en-US"/>
              <a:t>Both enable “exit on error” mode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set +e : Turn it off temporarily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set –u : treat undefined variables as errors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set –x : print each command before execution (for debugging)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>
                <a:solidFill>
                  <a:srgbClr val="002060"/>
                </a:solidFill>
              </a:rPr>
              <a:t>#!/bin/bash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>
                <a:solidFill>
                  <a:srgbClr val="002060"/>
                </a:solidFill>
              </a:rPr>
              <a:t>set -euo pipefail         #</a:t>
            </a:r>
            <a:r>
              <a:rPr lang="en-US"/>
              <a:t> enables strict error handling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>
                <a:solidFill>
                  <a:srgbClr val="002060"/>
                </a:solidFill>
              </a:rPr>
              <a:t>SOURCE="/home/user/data"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>
                <a:solidFill>
                  <a:srgbClr val="002060"/>
                </a:solidFill>
              </a:rPr>
              <a:t>DEST="/home/user/backup"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>
                <a:solidFill>
                  <a:srgbClr val="002060"/>
                </a:solidFill>
              </a:rPr>
              <a:t>mkdir -p "$DEST" &amp;&amp; echo "Backup folder ready"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>
                <a:solidFill>
                  <a:srgbClr val="002060"/>
                </a:solidFill>
              </a:rPr>
              <a:t>cp -r "$SOURCE" "$DEST" &amp;&amp; echo "Backup successful" || echo "Backup failed"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