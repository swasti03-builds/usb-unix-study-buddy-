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y="6858000" cx="9144000"/>
  <p:notesSz cx="6858000" cy="9144000"/>
  <p:embeddedFontLs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67807B-D8D3-42E1-AE69-5896FB793E06}">
  <a:tblStyle styleId="{3167807B-D8D3-42E1-AE69-5896FB793E0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Mono-regular.fntdata"/><Relationship Id="rId50" Type="http://schemas.openxmlformats.org/officeDocument/2006/relationships/slide" Target="slides/slide43.xml"/><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RobotoMono-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3" name="Google Shape;103;p1:notes"/>
          <p:cNvSpPr txBox="1"/>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8/22/2012</a:t>
            </a:r>
            <a:endParaRPr b="0" i="0" sz="1400" u="none" cap="none" strike="noStrike">
              <a:solidFill>
                <a:srgbClr val="000000"/>
              </a:solidFill>
              <a:latin typeface="Arial"/>
              <a:ea typeface="Arial"/>
              <a:cs typeface="Arial"/>
              <a:sym typeface="Arial"/>
            </a:endParaRPr>
          </a:p>
        </p:txBody>
      </p:sp>
      <p:sp>
        <p:nvSpPr>
          <p:cNvPr id="104" name="Google Shape;104;p1:notes"/>
          <p:cNvSpPr txBox="1"/>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Defense</a:t>
            </a:r>
            <a:endParaRPr b="0" i="0" sz="1400" u="none" cap="none" strike="noStrike">
              <a:solidFill>
                <a:srgbClr val="000000"/>
              </a:solidFill>
              <a:latin typeface="Arial"/>
              <a:ea typeface="Arial"/>
              <a:cs typeface="Arial"/>
              <a:sym typeface="Arial"/>
            </a:endParaRPr>
          </a:p>
        </p:txBody>
      </p:sp>
      <p:sp>
        <p:nvSpPr>
          <p:cNvPr id="105" name="Google Shape;105;p1: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Christo Wilson</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6" name="Google Shape;146;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0" name="Google Shape;21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Functions are made known to the VFS via the function “register_filesystem”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7" name="Google Shape;21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Sets up the first file system.called by system call setup() after all file systems have been registered.setup() is called after init is created.Why is a system call required here?User mode process.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4" name="Google Shape;224;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6" name="Google Shape;236;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8" name="Google Shape;248;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2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Some of the operations listed in the superblock may be NULL in which case no action will take place.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27: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Christo Wilson</a:t>
            </a:r>
            <a:endParaRPr b="0" i="0" sz="1400" u="none" cap="none" strike="noStrike">
              <a:solidFill>
                <a:srgbClr val="000000"/>
              </a:solidFill>
              <a:latin typeface="Arial"/>
              <a:ea typeface="Arial"/>
              <a:cs typeface="Arial"/>
              <a:sym typeface="Arial"/>
            </a:endParaRPr>
          </a:p>
        </p:txBody>
      </p:sp>
      <p:sp>
        <p:nvSpPr>
          <p:cNvPr id="288" name="Google Shape;288;p27:notes"/>
          <p:cNvSpPr txBox="1"/>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8/22/2012</a:t>
            </a:r>
            <a:endParaRPr b="0" i="0" sz="1400" u="none" cap="none" strike="noStrike">
              <a:solidFill>
                <a:srgbClr val="000000"/>
              </a:solidFill>
              <a:latin typeface="Arial"/>
              <a:ea typeface="Arial"/>
              <a:cs typeface="Arial"/>
              <a:sym typeface="Arial"/>
            </a:endParaRPr>
          </a:p>
        </p:txBody>
      </p:sp>
      <p:sp>
        <p:nvSpPr>
          <p:cNvPr id="289" name="Google Shape;289;p27:notes"/>
          <p:cNvSpPr txBox="1"/>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Defense</a:t>
            </a:r>
            <a:endParaRPr b="0" i="0" sz="1400" u="none" cap="none" strike="noStrike">
              <a:solidFill>
                <a:srgbClr val="000000"/>
              </a:solidFill>
              <a:latin typeface="Arial"/>
              <a:ea typeface="Arial"/>
              <a:cs typeface="Arial"/>
              <a:sym typeface="Arial"/>
            </a:endParaRPr>
          </a:p>
        </p:txBody>
      </p:sp>
      <p:sp>
        <p:nvSpPr>
          <p:cNvPr id="290" name="Google Shape;290;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7" name="Google Shape;40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Inode operations create.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0" name="Google Shape;420;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3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6" name="Google Shape;426;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3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39" name="Google Shape;43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Keep data blocks close to inode,file inodes close to directory inode.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6" name="Google Shape;446;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p3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53" name="Google Shape;45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Don’t push/move the buffers around.Just change the value of the previous entry’s reclen to include this entry as well.Zero the inode number also.It can be reclaimed easily as well.</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60" name="Google Shape;46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Don’t push/move the buffers around.Just change the value of the previous entry’s reclen to include this entry as well.Zero the inode number also.It can be reclaimed easily as well.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7" name="Google Shape;46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p4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
          <p:cNvSpPr txBox="1"/>
          <p:nvPr>
            <p:ph type="ctrTitle"/>
          </p:nvPr>
        </p:nvSpPr>
        <p:spPr>
          <a:xfrm>
            <a:off x="1293813" y="762000"/>
            <a:ext cx="7772400" cy="1143000"/>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2"/>
          <p:cNvSpPr txBox="1"/>
          <p:nvPr>
            <p:ph idx="1" type="subTitle"/>
          </p:nvPr>
        </p:nvSpPr>
        <p:spPr>
          <a:xfrm>
            <a:off x="685800" y="3429000"/>
            <a:ext cx="6400800" cy="17526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640"/>
              </a:spcBef>
              <a:spcAft>
                <a:spcPts val="0"/>
              </a:spcAft>
              <a:buSzPts val="2560"/>
              <a:buFont typeface="Noto Sans Symbols"/>
              <a:buNone/>
              <a:defRPr/>
            </a:lvl1pPr>
            <a:lvl2pPr lvl="1" algn="l">
              <a:lnSpc>
                <a:spcPct val="100000"/>
              </a:lnSpc>
              <a:spcBef>
                <a:spcPts val="360"/>
              </a:spcBef>
              <a:spcAft>
                <a:spcPts val="0"/>
              </a:spcAft>
              <a:buSzPts val="1620"/>
              <a:buChar char="–"/>
              <a:defRPr/>
            </a:lvl2pPr>
            <a:lvl3pPr lvl="2" algn="l">
              <a:lnSpc>
                <a:spcPct val="100000"/>
              </a:lnSpc>
              <a:spcBef>
                <a:spcPts val="360"/>
              </a:spcBef>
              <a:spcAft>
                <a:spcPts val="0"/>
              </a:spcAft>
              <a:buSzPts val="1080"/>
              <a:buChar char="●"/>
              <a:defRPr/>
            </a:lvl3pPr>
            <a:lvl4pPr lvl="3" algn="l">
              <a:lnSpc>
                <a:spcPct val="100000"/>
              </a:lnSpc>
              <a:spcBef>
                <a:spcPts val="360"/>
              </a:spcBef>
              <a:spcAft>
                <a:spcPts val="0"/>
              </a:spcAft>
              <a:buSzPts val="1800"/>
              <a:buChar char="–"/>
              <a:defRPr/>
            </a:lvl4pPr>
            <a:lvl5pPr lvl="4" algn="l">
              <a:lnSpc>
                <a:spcPct val="100000"/>
              </a:lnSpc>
              <a:spcBef>
                <a:spcPts val="360"/>
              </a:spcBef>
              <a:spcAft>
                <a:spcPts val="0"/>
              </a:spcAft>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24" name="Google Shape;24;p2"/>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4"/>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 name="Google Shape;39;p4"/>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5"/>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 name="Shape 46"/>
        <p:cNvGrpSpPr/>
        <p:nvPr/>
      </p:nvGrpSpPr>
      <p:grpSpPr>
        <a:xfrm>
          <a:off x="0" y="0"/>
          <a:ext cx="0" cy="0"/>
          <a:chOff x="0" y="0"/>
          <a:chExt cx="0" cy="0"/>
        </a:xfrm>
      </p:grpSpPr>
      <p:sp>
        <p:nvSpPr>
          <p:cNvPr id="47" name="Google Shape;47;p6"/>
          <p:cNvSpPr txBox="1"/>
          <p:nvPr>
            <p:ph type="title"/>
          </p:nvPr>
        </p:nvSpPr>
        <p:spPr>
          <a:xfrm rot="5400000">
            <a:off x="4743450" y="2381250"/>
            <a:ext cx="5486400" cy="19431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 name="Google Shape;48;p6"/>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6"/>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2" name="Shape 52"/>
        <p:cNvGrpSpPr/>
        <p:nvPr/>
      </p:nvGrpSpPr>
      <p:grpSpPr>
        <a:xfrm>
          <a:off x="0" y="0"/>
          <a:ext cx="0" cy="0"/>
          <a:chOff x="0" y="0"/>
          <a:chExt cx="0" cy="0"/>
        </a:xfrm>
      </p:grpSpPr>
      <p:sp>
        <p:nvSpPr>
          <p:cNvPr id="53" name="Google Shape;53;p7"/>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 name="Google Shape;54;p7"/>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5" name="Google Shape;55;p7"/>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8"/>
          <p:cNvSpPr txBox="1"/>
          <p:nvPr>
            <p:ph type="title"/>
          </p:nvPr>
        </p:nvSpPr>
        <p:spPr>
          <a:xfrm>
            <a:off x="630238" y="457200"/>
            <a:ext cx="2949575" cy="1600200"/>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8"/>
          <p:cNvSpPr/>
          <p:nvPr>
            <p:ph idx="2" type="pic"/>
          </p:nvPr>
        </p:nvSpPr>
        <p:spPr>
          <a:xfrm>
            <a:off x="3887788" y="987425"/>
            <a:ext cx="4629150" cy="4873625"/>
          </a:xfrm>
          <a:prstGeom prst="rect">
            <a:avLst/>
          </a:prstGeom>
          <a:noFill/>
          <a:ln>
            <a:noFill/>
          </a:ln>
        </p:spPr>
      </p:sp>
      <p:sp>
        <p:nvSpPr>
          <p:cNvPr id="61" name="Google Shape;61;p8"/>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280"/>
              <a:buNone/>
              <a:defRPr sz="1600"/>
            </a:lvl1pPr>
            <a:lvl2pPr indent="-228600" lvl="1" marL="914400" algn="l">
              <a:lnSpc>
                <a:spcPct val="100000"/>
              </a:lnSpc>
              <a:spcBef>
                <a:spcPts val="280"/>
              </a:spcBef>
              <a:spcAft>
                <a:spcPts val="0"/>
              </a:spcAft>
              <a:buSzPts val="1260"/>
              <a:buFont typeface="Times New Roman"/>
              <a:buNone/>
              <a:defRPr sz="1400"/>
            </a:lvl2pPr>
            <a:lvl3pPr indent="-228600" lvl="2" marL="1371600" algn="l">
              <a:lnSpc>
                <a:spcPct val="100000"/>
              </a:lnSpc>
              <a:spcBef>
                <a:spcPts val="240"/>
              </a:spcBef>
              <a:spcAft>
                <a:spcPts val="0"/>
              </a:spcAft>
              <a:buSzPts val="720"/>
              <a:buNone/>
              <a:defRPr sz="1200"/>
            </a:lvl3pPr>
            <a:lvl4pPr indent="-228600" lvl="3" marL="1828800" algn="l">
              <a:lnSpc>
                <a:spcPct val="100000"/>
              </a:lnSpc>
              <a:spcBef>
                <a:spcPts val="200"/>
              </a:spcBef>
              <a:spcAft>
                <a:spcPts val="0"/>
              </a:spcAft>
              <a:buSzPts val="1000"/>
              <a:buFont typeface="Times New Roman"/>
              <a:buNone/>
              <a:defRPr sz="1000"/>
            </a:lvl4pPr>
            <a:lvl5pPr indent="-228600" lvl="4" marL="2286000" algn="l">
              <a:lnSpc>
                <a:spcPct val="100000"/>
              </a:lnSpc>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2" name="Google Shape;62;p8"/>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630238" y="457200"/>
            <a:ext cx="2949575" cy="1600200"/>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9"/>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91160" lvl="0" marL="457200" algn="l">
              <a:lnSpc>
                <a:spcPct val="100000"/>
              </a:lnSpc>
              <a:spcBef>
                <a:spcPts val="640"/>
              </a:spcBef>
              <a:spcAft>
                <a:spcPts val="0"/>
              </a:spcAft>
              <a:buSzPts val="2560"/>
              <a:buChar char="●"/>
              <a:defRPr sz="3200"/>
            </a:lvl1pPr>
            <a:lvl2pPr indent="-388619" lvl="1" marL="914400" algn="l">
              <a:lnSpc>
                <a:spcPct val="100000"/>
              </a:lnSpc>
              <a:spcBef>
                <a:spcPts val="560"/>
              </a:spcBef>
              <a:spcAft>
                <a:spcPts val="0"/>
              </a:spcAft>
              <a:buSzPts val="2520"/>
              <a:buFont typeface="Times New Roman"/>
              <a:buChar char="–"/>
              <a:defRPr sz="2800"/>
            </a:lvl2pPr>
            <a:lvl3pPr indent="-320039" lvl="2" marL="1371600" algn="l">
              <a:lnSpc>
                <a:spcPct val="100000"/>
              </a:lnSpc>
              <a:spcBef>
                <a:spcPts val="480"/>
              </a:spcBef>
              <a:spcAft>
                <a:spcPts val="0"/>
              </a:spcAft>
              <a:buSzPts val="1440"/>
              <a:buChar char="●"/>
              <a:defRPr sz="2400"/>
            </a:lvl3pPr>
            <a:lvl4pPr indent="-355600" lvl="3" marL="1828800" algn="l">
              <a:lnSpc>
                <a:spcPct val="100000"/>
              </a:lnSpc>
              <a:spcBef>
                <a:spcPts val="400"/>
              </a:spcBef>
              <a:spcAft>
                <a:spcPts val="0"/>
              </a:spcAft>
              <a:buSzPts val="2000"/>
              <a:buFont typeface="Times New Roman"/>
              <a:buChar char="–"/>
              <a:defRPr sz="2000"/>
            </a:lvl4pPr>
            <a:lvl5pPr indent="-355600" lvl="4" marL="2286000" algn="l">
              <a:lnSpc>
                <a:spcPct val="100000"/>
              </a:lnSpc>
              <a:spcBef>
                <a:spcPts val="400"/>
              </a:spcBef>
              <a:spcAft>
                <a:spcPts val="0"/>
              </a:spcAft>
              <a:buSzPts val="2000"/>
              <a:buFont typeface="Times New Roman"/>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68" name="Google Shape;68;p9"/>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280"/>
              <a:buNone/>
              <a:defRPr sz="1600"/>
            </a:lvl1pPr>
            <a:lvl2pPr indent="-228600" lvl="1" marL="914400" algn="l">
              <a:lnSpc>
                <a:spcPct val="100000"/>
              </a:lnSpc>
              <a:spcBef>
                <a:spcPts val="280"/>
              </a:spcBef>
              <a:spcAft>
                <a:spcPts val="0"/>
              </a:spcAft>
              <a:buSzPts val="1260"/>
              <a:buFont typeface="Times New Roman"/>
              <a:buNone/>
              <a:defRPr sz="1400"/>
            </a:lvl2pPr>
            <a:lvl3pPr indent="-228600" lvl="2" marL="1371600" algn="l">
              <a:lnSpc>
                <a:spcPct val="100000"/>
              </a:lnSpc>
              <a:spcBef>
                <a:spcPts val="240"/>
              </a:spcBef>
              <a:spcAft>
                <a:spcPts val="0"/>
              </a:spcAft>
              <a:buSzPts val="720"/>
              <a:buNone/>
              <a:defRPr sz="1200"/>
            </a:lvl3pPr>
            <a:lvl4pPr indent="-228600" lvl="3" marL="1828800" algn="l">
              <a:lnSpc>
                <a:spcPct val="100000"/>
              </a:lnSpc>
              <a:spcBef>
                <a:spcPts val="200"/>
              </a:spcBef>
              <a:spcAft>
                <a:spcPts val="0"/>
              </a:spcAft>
              <a:buSzPts val="1000"/>
              <a:buFont typeface="Times New Roman"/>
              <a:buNone/>
              <a:defRPr sz="1000"/>
            </a:lvl4pPr>
            <a:lvl5pPr indent="-228600" lvl="4" marL="2286000" algn="l">
              <a:lnSpc>
                <a:spcPct val="100000"/>
              </a:lnSpc>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9" name="Google Shape;69;p9"/>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0"/>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0"/>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7" name="Shape 77"/>
        <p:cNvGrpSpPr/>
        <p:nvPr/>
      </p:nvGrpSpPr>
      <p:grpSpPr>
        <a:xfrm>
          <a:off x="0" y="0"/>
          <a:ext cx="0" cy="0"/>
          <a:chOff x="0" y="0"/>
          <a:chExt cx="0" cy="0"/>
        </a:xfrm>
      </p:grpSpPr>
      <p:sp>
        <p:nvSpPr>
          <p:cNvPr id="78" name="Google Shape;78;p11"/>
          <p:cNvSpPr txBox="1"/>
          <p:nvPr>
            <p:ph type="title"/>
          </p:nvPr>
        </p:nvSpPr>
        <p:spPr>
          <a:xfrm>
            <a:off x="630238" y="365125"/>
            <a:ext cx="7886700" cy="1325563"/>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9" name="Google Shape;79;p11"/>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920"/>
              <a:buNone/>
              <a:defRPr b="1" sz="2400"/>
            </a:lvl1pPr>
            <a:lvl2pPr indent="-228600" lvl="1" marL="914400" algn="l">
              <a:lnSpc>
                <a:spcPct val="100000"/>
              </a:lnSpc>
              <a:spcBef>
                <a:spcPts val="400"/>
              </a:spcBef>
              <a:spcAft>
                <a:spcPts val="0"/>
              </a:spcAft>
              <a:buSzPts val="1800"/>
              <a:buFont typeface="Times New Roman"/>
              <a:buNone/>
              <a:defRPr b="1" sz="2000"/>
            </a:lvl2pPr>
            <a:lvl3pPr indent="-228600" lvl="2" marL="1371600" algn="l">
              <a:lnSpc>
                <a:spcPct val="100000"/>
              </a:lnSpc>
              <a:spcBef>
                <a:spcPts val="360"/>
              </a:spcBef>
              <a:spcAft>
                <a:spcPts val="0"/>
              </a:spcAft>
              <a:buSzPts val="1080"/>
              <a:buNone/>
              <a:defRPr b="1" sz="1800"/>
            </a:lvl3pPr>
            <a:lvl4pPr indent="-228600" lvl="3" marL="1828800" algn="l">
              <a:lnSpc>
                <a:spcPct val="100000"/>
              </a:lnSpc>
              <a:spcBef>
                <a:spcPts val="320"/>
              </a:spcBef>
              <a:spcAft>
                <a:spcPts val="0"/>
              </a:spcAft>
              <a:buSzPts val="1600"/>
              <a:buFont typeface="Times New Roman"/>
              <a:buNone/>
              <a:defRPr b="1" sz="1600"/>
            </a:lvl4pPr>
            <a:lvl5pPr indent="-228600" lvl="4" marL="2286000" algn="l">
              <a:lnSpc>
                <a:spcPct val="100000"/>
              </a:lnSpc>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0" name="Google Shape;80;p11"/>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1" name="Google Shape;81;p11"/>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920"/>
              <a:buNone/>
              <a:defRPr b="1" sz="2400"/>
            </a:lvl1pPr>
            <a:lvl2pPr indent="-228600" lvl="1" marL="914400" algn="l">
              <a:lnSpc>
                <a:spcPct val="100000"/>
              </a:lnSpc>
              <a:spcBef>
                <a:spcPts val="400"/>
              </a:spcBef>
              <a:spcAft>
                <a:spcPts val="0"/>
              </a:spcAft>
              <a:buSzPts val="1800"/>
              <a:buFont typeface="Times New Roman"/>
              <a:buNone/>
              <a:defRPr b="1" sz="2000"/>
            </a:lvl2pPr>
            <a:lvl3pPr indent="-228600" lvl="2" marL="1371600" algn="l">
              <a:lnSpc>
                <a:spcPct val="100000"/>
              </a:lnSpc>
              <a:spcBef>
                <a:spcPts val="360"/>
              </a:spcBef>
              <a:spcAft>
                <a:spcPts val="0"/>
              </a:spcAft>
              <a:buSzPts val="1080"/>
              <a:buNone/>
              <a:defRPr b="1" sz="1800"/>
            </a:lvl3pPr>
            <a:lvl4pPr indent="-228600" lvl="3" marL="1828800" algn="l">
              <a:lnSpc>
                <a:spcPct val="100000"/>
              </a:lnSpc>
              <a:spcBef>
                <a:spcPts val="320"/>
              </a:spcBef>
              <a:spcAft>
                <a:spcPts val="0"/>
              </a:spcAft>
              <a:buSzPts val="1600"/>
              <a:buFont typeface="Times New Roman"/>
              <a:buNone/>
              <a:defRPr b="1" sz="1600"/>
            </a:lvl4pPr>
            <a:lvl5pPr indent="-228600" lvl="4" marL="2286000" algn="l">
              <a:lnSpc>
                <a:spcPct val="100000"/>
              </a:lnSpc>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2" name="Google Shape;82;p11"/>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3" name="Google Shape;83;p11"/>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2"/>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 name="Google Shape;88;p1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 name="Google Shape;89;p1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31469" lvl="1" marL="914400" algn="l">
              <a:lnSpc>
                <a:spcPct val="100000"/>
              </a:lnSpc>
              <a:spcBef>
                <a:spcPts val="360"/>
              </a:spcBef>
              <a:spcAft>
                <a:spcPts val="0"/>
              </a:spcAft>
              <a:buSzPts val="1620"/>
              <a:buChar char="–"/>
              <a:defRPr/>
            </a:lvl2pPr>
            <a:lvl3pPr indent="-297180" lvl="2" marL="1371600" algn="l">
              <a:lnSpc>
                <a:spcPct val="100000"/>
              </a:lnSpc>
              <a:spcBef>
                <a:spcPts val="360"/>
              </a:spcBef>
              <a:spcAft>
                <a:spcPts val="0"/>
              </a:spcAft>
              <a:buSzPts val="108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0" name="Google Shape;90;p12"/>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3" name="Shape 93"/>
        <p:cNvGrpSpPr/>
        <p:nvPr/>
      </p:nvGrpSpPr>
      <p:grpSpPr>
        <a:xfrm>
          <a:off x="0" y="0"/>
          <a:ext cx="0" cy="0"/>
          <a:chOff x="0" y="0"/>
          <a:chExt cx="0" cy="0"/>
        </a:xfrm>
      </p:grpSpPr>
      <p:sp>
        <p:nvSpPr>
          <p:cNvPr id="94" name="Google Shape;94;p13"/>
          <p:cNvSpPr txBox="1"/>
          <p:nvPr>
            <p:ph type="title"/>
          </p:nvPr>
        </p:nvSpPr>
        <p:spPr>
          <a:xfrm>
            <a:off x="623888" y="1709738"/>
            <a:ext cx="7886700" cy="2852737"/>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 name="Google Shape;95;p13"/>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80"/>
              </a:spcBef>
              <a:spcAft>
                <a:spcPts val="0"/>
              </a:spcAft>
              <a:buSzPts val="1920"/>
              <a:buNone/>
              <a:defRPr sz="2400"/>
            </a:lvl1pPr>
            <a:lvl2pPr indent="-228600" lvl="1" marL="914400" algn="l">
              <a:lnSpc>
                <a:spcPct val="100000"/>
              </a:lnSpc>
              <a:spcBef>
                <a:spcPts val="400"/>
              </a:spcBef>
              <a:spcAft>
                <a:spcPts val="0"/>
              </a:spcAft>
              <a:buSzPts val="1800"/>
              <a:buFont typeface="Times New Roman"/>
              <a:buNone/>
              <a:defRPr sz="2000"/>
            </a:lvl2pPr>
            <a:lvl3pPr indent="-228600" lvl="2" marL="1371600" algn="l">
              <a:lnSpc>
                <a:spcPct val="100000"/>
              </a:lnSpc>
              <a:spcBef>
                <a:spcPts val="360"/>
              </a:spcBef>
              <a:spcAft>
                <a:spcPts val="0"/>
              </a:spcAft>
              <a:buSzPts val="1080"/>
              <a:buNone/>
              <a:defRPr sz="1800"/>
            </a:lvl3pPr>
            <a:lvl4pPr indent="-228600" lvl="3" marL="1828800" algn="l">
              <a:lnSpc>
                <a:spcPct val="100000"/>
              </a:lnSpc>
              <a:spcBef>
                <a:spcPts val="320"/>
              </a:spcBef>
              <a:spcAft>
                <a:spcPts val="0"/>
              </a:spcAft>
              <a:buSzPts val="1600"/>
              <a:buFont typeface="Times New Roman"/>
              <a:buNone/>
              <a:defRPr sz="1600"/>
            </a:lvl4pPr>
            <a:lvl5pPr indent="-228600" lvl="4" marL="2286000" algn="l">
              <a:lnSpc>
                <a:spcPct val="100000"/>
              </a:lnSpc>
              <a:spcBef>
                <a:spcPts val="320"/>
              </a:spcBef>
              <a:spcAft>
                <a:spcPts val="0"/>
              </a:spcAft>
              <a:buSzPts val="1600"/>
              <a:buFont typeface="Times New Roman"/>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96" name="Google Shape;96;p13"/>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3"/>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3"/>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1.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chemeClr val="dk1"/>
            </a:gs>
          </a:gsLst>
          <a:lin ang="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0" y="1587"/>
            <a:ext cx="9132887" cy="6845300"/>
            <a:chOff x="0" y="1"/>
            <a:chExt cx="5753" cy="4312"/>
          </a:xfrm>
        </p:grpSpPr>
        <p:sp>
          <p:nvSpPr>
            <p:cNvPr id="11" name="Google Shape;11;p1"/>
            <p:cNvSpPr/>
            <p:nvPr/>
          </p:nvSpPr>
          <p:spPr>
            <a:xfrm>
              <a:off x="3394" y="999"/>
              <a:ext cx="2359" cy="3314"/>
            </a:xfrm>
            <a:custGeom>
              <a:rect b="b" l="l" r="r" t="t"/>
              <a:pathLst>
                <a:path extrusionOk="0" h="3314" w="2359">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a:gsLst>
                <a:gs pos="0">
                  <a:srgbClr val="182F76"/>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12" name="Google Shape;12;p1"/>
            <p:cNvSpPr/>
            <p:nvPr/>
          </p:nvSpPr>
          <p:spPr>
            <a:xfrm>
              <a:off x="0" y="1"/>
              <a:ext cx="5298" cy="4312"/>
            </a:xfrm>
            <a:custGeom>
              <a:rect b="b" l="l" r="r" t="t"/>
              <a:pathLst>
                <a:path extrusionOk="0" fill="none" h="21600" w="21600">
                  <a:moveTo>
                    <a:pt x="0" y="0"/>
                  </a:moveTo>
                  <a:cubicBezTo>
                    <a:pt x="11929" y="0"/>
                    <a:pt x="21600" y="9670"/>
                    <a:pt x="21600" y="21600"/>
                  </a:cubicBezTo>
                </a:path>
                <a:path extrusionOk="0" h="21600" w="21600">
                  <a:moveTo>
                    <a:pt x="0" y="0"/>
                  </a:moveTo>
                  <a:cubicBezTo>
                    <a:pt x="11929" y="0"/>
                    <a:pt x="21600" y="9670"/>
                    <a:pt x="21600" y="21600"/>
                  </a:cubicBezTo>
                  <a:lnTo>
                    <a:pt x="0" y="21600"/>
                  </a:lnTo>
                  <a:lnTo>
                    <a:pt x="0"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13" name="Google Shape;13;p1"/>
          <p:cNvGrpSpPr/>
          <p:nvPr/>
        </p:nvGrpSpPr>
        <p:grpSpPr>
          <a:xfrm>
            <a:off x="-1035050" y="1552575"/>
            <a:ext cx="10179050" cy="5305425"/>
            <a:chOff x="-652" y="978"/>
            <a:chExt cx="6412" cy="3342"/>
          </a:xfrm>
        </p:grpSpPr>
        <p:sp>
          <p:nvSpPr>
            <p:cNvPr id="14" name="Google Shape;14;p1"/>
            <p:cNvSpPr/>
            <p:nvPr/>
          </p:nvSpPr>
          <p:spPr>
            <a:xfrm>
              <a:off x="2061" y="1707"/>
              <a:ext cx="3699" cy="2613"/>
            </a:xfrm>
            <a:custGeom>
              <a:rect b="b" l="l" r="r" t="t"/>
              <a:pathLst>
                <a:path extrusionOk="0" h="2613" w="3699">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a:gsLst>
                <a:gs pos="0">
                  <a:srgbClr val="182F76"/>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15" name="Google Shape;15;p1"/>
            <p:cNvSpPr/>
            <p:nvPr/>
          </p:nvSpPr>
          <p:spPr>
            <a:xfrm>
              <a:off x="-652" y="978"/>
              <a:ext cx="4237" cy="3342"/>
            </a:xfrm>
            <a:custGeom>
              <a:rect b="b" l="l" r="r" t="t"/>
              <a:pathLst>
                <a:path extrusionOk="0" fill="none" h="21231" w="21600">
                  <a:moveTo>
                    <a:pt x="3976" y="0"/>
                  </a:moveTo>
                  <a:cubicBezTo>
                    <a:pt x="14194" y="1914"/>
                    <a:pt x="21600" y="10835"/>
                    <a:pt x="21600" y="21231"/>
                  </a:cubicBezTo>
                </a:path>
                <a:path extrusionOk="0" h="21231" w="21600">
                  <a:moveTo>
                    <a:pt x="3976" y="0"/>
                  </a:moveTo>
                  <a:cubicBezTo>
                    <a:pt x="14194" y="1914"/>
                    <a:pt x="21600" y="10835"/>
                    <a:pt x="21600" y="21231"/>
                  </a:cubicBezTo>
                  <a:lnTo>
                    <a:pt x="0" y="21231"/>
                  </a:lnTo>
                  <a:lnTo>
                    <a:pt x="3976"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sp>
        <p:nvSpPr>
          <p:cNvPr id="16" name="Google Shape;16;p1"/>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9pPr>
          </a:lstStyle>
          <a:p/>
        </p:txBody>
      </p:sp>
      <p:sp>
        <p:nvSpPr>
          <p:cNvPr id="17" name="Google Shape;17;p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91160" lvl="0" marL="457200" marR="0" rtl="0" algn="l">
              <a:lnSpc>
                <a:spcPct val="100000"/>
              </a:lnSpc>
              <a:spcBef>
                <a:spcPts val="640"/>
              </a:spcBef>
              <a:spcAft>
                <a:spcPts val="0"/>
              </a:spcAft>
              <a:buClr>
                <a:schemeClr val="accent2"/>
              </a:buClr>
              <a:buSzPts val="2560"/>
              <a:buFont typeface="Noto Sans Symbols"/>
              <a:buChar char="●"/>
              <a:defRPr b="0" i="0" sz="3200" u="none" cap="none" strike="noStrike">
                <a:solidFill>
                  <a:schemeClr val="lt1"/>
                </a:solidFill>
                <a:latin typeface="Times New Roman"/>
                <a:ea typeface="Times New Roman"/>
                <a:cs typeface="Times New Roman"/>
                <a:sym typeface="Times New Roman"/>
              </a:defRPr>
            </a:lvl1pPr>
            <a:lvl2pPr indent="-388619" lvl="1" marL="914400" marR="0" rtl="0" algn="l">
              <a:lnSpc>
                <a:spcPct val="100000"/>
              </a:lnSpc>
              <a:spcBef>
                <a:spcPts val="560"/>
              </a:spcBef>
              <a:spcAft>
                <a:spcPts val="0"/>
              </a:spcAft>
              <a:buClr>
                <a:schemeClr val="lt1"/>
              </a:buClr>
              <a:buSzPts val="2520"/>
              <a:buFont typeface="Times New Roman"/>
              <a:buChar char="–"/>
              <a:defRPr b="0" i="0" sz="2800" u="none" cap="none" strike="noStrike">
                <a:solidFill>
                  <a:schemeClr val="lt1"/>
                </a:solidFill>
                <a:latin typeface="Times New Roman"/>
                <a:ea typeface="Times New Roman"/>
                <a:cs typeface="Times New Roman"/>
                <a:sym typeface="Times New Roman"/>
              </a:defRPr>
            </a:lvl2pPr>
            <a:lvl3pPr indent="-320039" lvl="2" marL="1371600" marR="0" rtl="0" algn="l">
              <a:lnSpc>
                <a:spcPct val="100000"/>
              </a:lnSpc>
              <a:spcBef>
                <a:spcPts val="480"/>
              </a:spcBef>
              <a:spcAft>
                <a:spcPts val="0"/>
              </a:spcAft>
              <a:buClr>
                <a:schemeClr val="accent1"/>
              </a:buClr>
              <a:buSzPts val="1440"/>
              <a:buFont typeface="Noto Sans Symbols"/>
              <a:buChar char="●"/>
              <a:defRPr b="0" i="0" sz="2400" u="none" cap="none" strike="noStrike">
                <a:solidFill>
                  <a:schemeClr val="lt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accen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9pPr>
          </a:lstStyle>
          <a:p/>
        </p:txBody>
      </p:sp>
      <p:sp>
        <p:nvSpPr>
          <p:cNvPr id="18" name="Google Shape;18;p1"/>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9pPr>
          </a:lstStyle>
          <a:p/>
        </p:txBody>
      </p:sp>
      <p:sp>
        <p:nvSpPr>
          <p:cNvPr id="19" name="Google Shape;19;p1"/>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9pPr>
          </a:lstStyle>
          <a:p/>
        </p:txBody>
      </p:sp>
      <p:sp>
        <p:nvSpPr>
          <p:cNvPr id="20" name="Google Shape;20;p1"/>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chemeClr val="dk1"/>
            </a:gs>
          </a:gsLst>
          <a:lin ang="0" scaled="0"/>
        </a:gradFill>
      </p:bgPr>
    </p:bg>
    <p:spTree>
      <p:nvGrpSpPr>
        <p:cNvPr id="27" name="Shape 27"/>
        <p:cNvGrpSpPr/>
        <p:nvPr/>
      </p:nvGrpSpPr>
      <p:grpSpPr>
        <a:xfrm>
          <a:off x="0" y="0"/>
          <a:ext cx="0" cy="0"/>
          <a:chOff x="0" y="0"/>
          <a:chExt cx="0" cy="0"/>
        </a:xfrm>
      </p:grpSpPr>
      <p:grpSp>
        <p:nvGrpSpPr>
          <p:cNvPr id="28" name="Google Shape;28;p3"/>
          <p:cNvGrpSpPr/>
          <p:nvPr/>
        </p:nvGrpSpPr>
        <p:grpSpPr>
          <a:xfrm>
            <a:off x="0" y="1587"/>
            <a:ext cx="9132887" cy="6845300"/>
            <a:chOff x="0" y="1"/>
            <a:chExt cx="5753" cy="4312"/>
          </a:xfrm>
        </p:grpSpPr>
        <p:sp>
          <p:nvSpPr>
            <p:cNvPr id="29" name="Google Shape;29;p3"/>
            <p:cNvSpPr/>
            <p:nvPr/>
          </p:nvSpPr>
          <p:spPr>
            <a:xfrm>
              <a:off x="3394" y="999"/>
              <a:ext cx="2359" cy="3314"/>
            </a:xfrm>
            <a:custGeom>
              <a:rect b="b" l="l" r="r" t="t"/>
              <a:pathLst>
                <a:path extrusionOk="0" h="3314" w="2359">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a:gsLst>
                <a:gs pos="0">
                  <a:srgbClr val="182F76"/>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0" name="Google Shape;30;p3"/>
            <p:cNvSpPr/>
            <p:nvPr/>
          </p:nvSpPr>
          <p:spPr>
            <a:xfrm>
              <a:off x="0" y="1"/>
              <a:ext cx="5298" cy="4312"/>
            </a:xfrm>
            <a:custGeom>
              <a:rect b="b" l="l" r="r" t="t"/>
              <a:pathLst>
                <a:path extrusionOk="0" fill="none" h="21600" w="21600">
                  <a:moveTo>
                    <a:pt x="0" y="0"/>
                  </a:moveTo>
                  <a:cubicBezTo>
                    <a:pt x="11929" y="0"/>
                    <a:pt x="21600" y="9670"/>
                    <a:pt x="21600" y="21600"/>
                  </a:cubicBezTo>
                </a:path>
                <a:path extrusionOk="0" h="21600" w="21600">
                  <a:moveTo>
                    <a:pt x="0" y="0"/>
                  </a:moveTo>
                  <a:cubicBezTo>
                    <a:pt x="11929" y="0"/>
                    <a:pt x="21600" y="9670"/>
                    <a:pt x="21600" y="21600"/>
                  </a:cubicBezTo>
                  <a:lnTo>
                    <a:pt x="0" y="21600"/>
                  </a:lnTo>
                  <a:lnTo>
                    <a:pt x="0"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sp>
        <p:nvSpPr>
          <p:cNvPr id="31" name="Google Shape;31;p3"/>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lt2"/>
                </a:solidFill>
                <a:latin typeface="Arial"/>
                <a:ea typeface="Arial"/>
                <a:cs typeface="Arial"/>
                <a:sym typeface="Arial"/>
              </a:defRPr>
            </a:lvl9pPr>
          </a:lstStyle>
          <a:p/>
        </p:txBody>
      </p:sp>
      <p:sp>
        <p:nvSpPr>
          <p:cNvPr id="32" name="Google Shape;32;p3"/>
          <p:cNvSpPr txBox="1"/>
          <p:nvPr>
            <p:ph idx="10" type="dt"/>
          </p:nvPr>
        </p:nvSpPr>
        <p:spPr>
          <a:xfrm>
            <a:off x="685800" y="6248400"/>
            <a:ext cx="1905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9pPr>
          </a:lstStyle>
          <a:p/>
        </p:txBody>
      </p:sp>
      <p:sp>
        <p:nvSpPr>
          <p:cNvPr id="33" name="Google Shape;33;p3"/>
          <p:cNvSpPr txBox="1"/>
          <p:nvPr>
            <p:ph idx="11" type="ftr"/>
          </p:nvPr>
        </p:nvSpPr>
        <p:spPr>
          <a:xfrm>
            <a:off x="3124200" y="6248400"/>
            <a:ext cx="28956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Times New Roman"/>
                <a:ea typeface="Times New Roman"/>
                <a:cs typeface="Times New Roman"/>
                <a:sym typeface="Times New Roman"/>
              </a:defRPr>
            </a:lvl9pPr>
          </a:lstStyle>
          <a:p/>
        </p:txBody>
      </p:sp>
      <p:sp>
        <p:nvSpPr>
          <p:cNvPr id="34" name="Google Shape;34;p3"/>
          <p:cNvSpPr txBox="1"/>
          <p:nvPr>
            <p:ph idx="12" type="sldNum"/>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35" name="Google Shape;35;p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91160" lvl="0" marL="457200" marR="0" rtl="0" algn="l">
              <a:lnSpc>
                <a:spcPct val="100000"/>
              </a:lnSpc>
              <a:spcBef>
                <a:spcPts val="640"/>
              </a:spcBef>
              <a:spcAft>
                <a:spcPts val="0"/>
              </a:spcAft>
              <a:buClr>
                <a:schemeClr val="accent2"/>
              </a:buClr>
              <a:buSzPts val="2560"/>
              <a:buFont typeface="Noto Sans Symbols"/>
              <a:buChar char="●"/>
              <a:defRPr b="0" i="0" sz="3200" u="none" cap="none" strike="noStrike">
                <a:solidFill>
                  <a:schemeClr val="lt1"/>
                </a:solidFill>
                <a:latin typeface="Times New Roman"/>
                <a:ea typeface="Times New Roman"/>
                <a:cs typeface="Times New Roman"/>
                <a:sym typeface="Times New Roman"/>
              </a:defRPr>
            </a:lvl1pPr>
            <a:lvl2pPr indent="-388619" lvl="1" marL="914400" marR="0" rtl="0" algn="l">
              <a:lnSpc>
                <a:spcPct val="100000"/>
              </a:lnSpc>
              <a:spcBef>
                <a:spcPts val="560"/>
              </a:spcBef>
              <a:spcAft>
                <a:spcPts val="0"/>
              </a:spcAft>
              <a:buClr>
                <a:schemeClr val="lt1"/>
              </a:buClr>
              <a:buSzPts val="2520"/>
              <a:buFont typeface="Times New Roman"/>
              <a:buChar char="–"/>
              <a:defRPr b="0" i="0" sz="2800" u="none" cap="none" strike="noStrike">
                <a:solidFill>
                  <a:schemeClr val="lt1"/>
                </a:solidFill>
                <a:latin typeface="Times New Roman"/>
                <a:ea typeface="Times New Roman"/>
                <a:cs typeface="Times New Roman"/>
                <a:sym typeface="Times New Roman"/>
              </a:defRPr>
            </a:lvl2pPr>
            <a:lvl3pPr indent="-320039" lvl="2" marL="1371600" marR="0" rtl="0" algn="l">
              <a:lnSpc>
                <a:spcPct val="100000"/>
              </a:lnSpc>
              <a:spcBef>
                <a:spcPts val="480"/>
              </a:spcBef>
              <a:spcAft>
                <a:spcPts val="0"/>
              </a:spcAft>
              <a:buClr>
                <a:schemeClr val="accent1"/>
              </a:buClr>
              <a:buSzPts val="1440"/>
              <a:buFont typeface="Noto Sans Symbols"/>
              <a:buChar char="●"/>
              <a:defRPr b="0" i="0" sz="2400" u="none" cap="none" strike="noStrike">
                <a:solidFill>
                  <a:schemeClr val="lt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accen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idx="1" type="subTitle"/>
          </p:nvPr>
        </p:nvSpPr>
        <p:spPr>
          <a:xfrm>
            <a:off x="1371600" y="2503487"/>
            <a:ext cx="6400800" cy="18065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SzPts val="2560"/>
              <a:buNone/>
            </a:pPr>
            <a:r>
              <a:rPr b="1" i="0" lang="en-US" sz="3200" u="none">
                <a:solidFill>
                  <a:schemeClr val="lt1"/>
                </a:solidFill>
                <a:latin typeface="Times New Roman"/>
                <a:ea typeface="Times New Roman"/>
                <a:cs typeface="Times New Roman"/>
                <a:sym typeface="Times New Roman"/>
              </a:rPr>
              <a:t>Lecture 04: File Systems and Directories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Introduction to UNIX File System</a:t>
            </a:r>
            <a:endParaRPr/>
          </a:p>
        </p:txBody>
      </p:sp>
      <p:sp>
        <p:nvSpPr>
          <p:cNvPr id="113" name="Google Shape;113;p1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fontScale="85000" lnSpcReduction="20000"/>
          </a:bodyPr>
          <a:lstStyle/>
          <a:p>
            <a:pPr indent="-320040" lvl="0" marL="342900" marR="0" rtl="0" algn="l">
              <a:lnSpc>
                <a:spcPct val="100000"/>
              </a:lnSpc>
              <a:spcBef>
                <a:spcPts val="0"/>
              </a:spcBef>
              <a:spcAft>
                <a:spcPts val="0"/>
              </a:spcAft>
              <a:buClr>
                <a:schemeClr val="accent2"/>
              </a:buClr>
              <a:buSzPct val="80000"/>
              <a:buFont typeface="Noto Sans Symbols"/>
              <a:buChar char="●"/>
            </a:pPr>
            <a:r>
              <a:rPr b="0" i="0" lang="en-US" sz="3000" u="none" cap="none" strike="noStrike">
                <a:solidFill>
                  <a:schemeClr val="lt1"/>
                </a:solidFill>
                <a:latin typeface="Times New Roman"/>
                <a:ea typeface="Times New Roman"/>
                <a:cs typeface="Times New Roman"/>
                <a:sym typeface="Times New Roman"/>
              </a:rPr>
              <a:t>Hierarchical arrangement of directories and files</a:t>
            </a:r>
            <a:endParaRPr/>
          </a:p>
          <a:p>
            <a:pPr indent="-320040" lvl="0" marL="342900" marR="0" rtl="0" algn="l">
              <a:lnSpc>
                <a:spcPct val="100000"/>
              </a:lnSpc>
              <a:spcBef>
                <a:spcPts val="0"/>
              </a:spcBef>
              <a:spcAft>
                <a:spcPts val="0"/>
              </a:spcAft>
              <a:buSzPct val="80000"/>
              <a:buChar char="●"/>
            </a:pPr>
            <a:r>
              <a:rPr lang="en-US" sz="3000"/>
              <a:t>Files are stored in a tree structure (folders inside folders).</a:t>
            </a:r>
            <a:br>
              <a:rPr lang="en-US" sz="3000"/>
            </a:br>
            <a:endParaRPr sz="3000"/>
          </a:p>
          <a:p>
            <a:pPr indent="-320040" lvl="0" marL="342900" marR="0" rtl="0" algn="l">
              <a:lnSpc>
                <a:spcPct val="100000"/>
              </a:lnSpc>
              <a:spcBef>
                <a:spcPts val="0"/>
              </a:spcBef>
              <a:spcAft>
                <a:spcPts val="0"/>
              </a:spcAft>
              <a:buSzPct val="80000"/>
              <a:buChar char="●"/>
            </a:pPr>
            <a:r>
              <a:rPr lang="en-US" sz="3000"/>
              <a:t>The topmost folder is called the root directory /.</a:t>
            </a:r>
            <a:br>
              <a:rPr lang="en-US" sz="3000"/>
            </a:br>
            <a:endParaRPr sz="3000"/>
          </a:p>
          <a:p>
            <a:pPr indent="-320040" lvl="0" marL="342900" marR="0" rtl="0" algn="l">
              <a:lnSpc>
                <a:spcPct val="100000"/>
              </a:lnSpc>
              <a:spcBef>
                <a:spcPts val="0"/>
              </a:spcBef>
              <a:spcAft>
                <a:spcPts val="0"/>
              </a:spcAft>
              <a:buSzPct val="80000"/>
              <a:buChar char="●"/>
            </a:pPr>
            <a:r>
              <a:rPr lang="en-US" sz="3000"/>
              <a:t>Each file or directory has details called attributes:</a:t>
            </a:r>
            <a:endParaRPr sz="3000"/>
          </a:p>
          <a:p>
            <a:pPr indent="-320040" lvl="0" marL="342900" marR="0" rtl="0" algn="l">
              <a:lnSpc>
                <a:spcPct val="100000"/>
              </a:lnSpc>
              <a:spcBef>
                <a:spcPts val="600"/>
              </a:spcBef>
              <a:spcAft>
                <a:spcPts val="0"/>
              </a:spcAft>
              <a:buClr>
                <a:schemeClr val="accent2"/>
              </a:buClr>
              <a:buSzPct val="80000"/>
              <a:buFont typeface="Noto Sans Symbols"/>
              <a:buChar char="●"/>
            </a:pPr>
            <a:r>
              <a:rPr b="0" i="0" lang="en-US" sz="3000" u="none" cap="none" strike="noStrike">
                <a:solidFill>
                  <a:schemeClr val="lt1"/>
                </a:solidFill>
                <a:latin typeface="Times New Roman"/>
                <a:ea typeface="Times New Roman"/>
                <a:cs typeface="Times New Roman"/>
                <a:sym typeface="Times New Roman"/>
              </a:rPr>
              <a:t>Directories contain entries with filenames and attributes</a:t>
            </a:r>
            <a:endParaRPr/>
          </a:p>
          <a:p>
            <a:pPr indent="-320040" lvl="0" marL="342900" marR="0" rtl="0" algn="l">
              <a:lnSpc>
                <a:spcPct val="100000"/>
              </a:lnSpc>
              <a:spcBef>
                <a:spcPts val="600"/>
              </a:spcBef>
              <a:spcAft>
                <a:spcPts val="0"/>
              </a:spcAft>
              <a:buClr>
                <a:schemeClr val="accent2"/>
              </a:buClr>
              <a:buSzPct val="80000"/>
              <a:buFont typeface="Noto Sans Symbols"/>
              <a:buChar char="●"/>
            </a:pPr>
            <a:r>
              <a:rPr b="0" i="0" lang="en-US" sz="3000" u="none" cap="none" strike="noStrike">
                <a:solidFill>
                  <a:schemeClr val="lt1"/>
                </a:solidFill>
                <a:latin typeface="Times New Roman"/>
                <a:ea typeface="Times New Roman"/>
                <a:cs typeface="Times New Roman"/>
                <a:sym typeface="Times New Roman"/>
              </a:rPr>
              <a:t>Attributes: type, size, owner, permissions, last modified</a:t>
            </a:r>
            <a:endParaRPr/>
          </a:p>
          <a:p>
            <a:pPr indent="-320040" lvl="0" marL="342900" marR="0" rtl="0" algn="l">
              <a:lnSpc>
                <a:spcPct val="100000"/>
              </a:lnSpc>
              <a:spcBef>
                <a:spcPts val="600"/>
              </a:spcBef>
              <a:spcAft>
                <a:spcPts val="0"/>
              </a:spcAft>
              <a:buClr>
                <a:schemeClr val="accent2"/>
              </a:buClr>
              <a:buSzPct val="80000"/>
              <a:buFont typeface="Noto Sans Symbols"/>
              <a:buChar char="●"/>
            </a:pPr>
            <a:r>
              <a:rPr b="0" i="0" lang="en-US" sz="3000" u="none" cap="none" strike="noStrike">
                <a:solidFill>
                  <a:schemeClr val="lt1"/>
                </a:solidFill>
                <a:latin typeface="Times New Roman"/>
                <a:ea typeface="Times New Roman"/>
                <a:cs typeface="Times New Roman"/>
                <a:sym typeface="Times New Roman"/>
              </a:rPr>
              <a:t>'stat' and 'fstat' functions retrieve file attributes.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Types of Files</a:t>
            </a:r>
            <a:endParaRPr/>
          </a:p>
        </p:txBody>
      </p:sp>
      <p:sp>
        <p:nvSpPr>
          <p:cNvPr id="119" name="Google Shape;119;p1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1. Regular File - Contains data (text or binary)</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2. Directory File - Contains names and pointers to files</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3. Block Special File - Buffered I/O in fixed-size units to devices</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4. Character Special File - Unbuffered I/O in variable-size units to devices</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5. FIFO (Named Pipe) - Communication between processes</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6. Socket - Network/non-network communication between processes</a:t>
            </a:r>
            <a:endParaRPr/>
          </a:p>
          <a:p>
            <a:pPr indent="0" lvl="0" marL="0" marR="0" rtl="0" algn="l">
              <a:lnSpc>
                <a:spcPct val="80000"/>
              </a:lnSpc>
              <a:spcBef>
                <a:spcPts val="500"/>
              </a:spcBef>
              <a:spcAft>
                <a:spcPts val="0"/>
              </a:spcAft>
              <a:buClr>
                <a:schemeClr val="accent2"/>
              </a:buClr>
              <a:buSzPts val="2000"/>
              <a:buFont typeface="Noto Sans Symbols"/>
              <a:buNone/>
            </a:pPr>
            <a:r>
              <a:rPr b="0" i="0" lang="en-US" sz="2500" u="none" cap="none" strike="noStrike">
                <a:solidFill>
                  <a:schemeClr val="lt1"/>
                </a:solidFill>
                <a:latin typeface="Times New Roman"/>
                <a:ea typeface="Times New Roman"/>
                <a:cs typeface="Times New Roman"/>
                <a:sym typeface="Times New Roman"/>
              </a:rPr>
              <a:t>7. Symbolic Link - Points to another file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Virtual File System Switch</a:t>
            </a:r>
            <a:endParaRPr/>
          </a:p>
        </p:txBody>
      </p:sp>
      <p:sp>
        <p:nvSpPr>
          <p:cNvPr id="125" name="Google Shape;125;p17"/>
          <p:cNvSpPr txBox="1"/>
          <p:nvPr>
            <p:ph idx="1" type="body"/>
          </p:nvPr>
        </p:nvSpPr>
        <p:spPr>
          <a:xfrm>
            <a:off x="790300" y="1752600"/>
            <a:ext cx="7772400" cy="4593900"/>
          </a:xfrm>
          <a:prstGeom prst="rect">
            <a:avLst/>
          </a:prstGeom>
          <a:noFill/>
          <a:ln>
            <a:noFill/>
          </a:ln>
        </p:spPr>
        <p:txBody>
          <a:bodyPr anchorCtr="0" anchor="t" bIns="45700" lIns="91425" spcFirstLastPara="1" rIns="91425" wrap="square" tIns="45700">
            <a:noAutofit/>
          </a:bodyPr>
          <a:lstStyle/>
          <a:p>
            <a:pPr indent="-285750" lvl="0" marL="342900" rtl="0" algn="just">
              <a:lnSpc>
                <a:spcPct val="100000"/>
              </a:lnSpc>
              <a:spcBef>
                <a:spcPts val="0"/>
              </a:spcBef>
              <a:spcAft>
                <a:spcPts val="0"/>
              </a:spcAft>
              <a:buClr>
                <a:schemeClr val="accent2"/>
              </a:buClr>
              <a:buSzPts val="1020"/>
              <a:buFont typeface="Noto Sans Symbols"/>
              <a:buChar char="●"/>
            </a:pPr>
            <a:r>
              <a:rPr b="0" i="0" lang="en-US" sz="1500" u="none">
                <a:solidFill>
                  <a:schemeClr val="lt1"/>
                </a:solidFill>
                <a:latin typeface="Times New Roman"/>
                <a:ea typeface="Times New Roman"/>
                <a:cs typeface="Times New Roman"/>
                <a:sym typeface="Times New Roman"/>
              </a:rPr>
              <a:t>Supplies applications with the system calls for file system management.</a:t>
            </a:r>
            <a:endParaRPr b="0" i="0" sz="1500" u="none">
              <a:solidFill>
                <a:schemeClr val="lt1"/>
              </a:solidFill>
              <a:latin typeface="Times New Roman"/>
              <a:ea typeface="Times New Roman"/>
              <a:cs typeface="Times New Roman"/>
              <a:sym typeface="Times New Roman"/>
            </a:endParaRPr>
          </a:p>
          <a:p>
            <a:pPr indent="-342900" lvl="0" marL="342900" rtl="0" algn="just">
              <a:lnSpc>
                <a:spcPct val="115000"/>
              </a:lnSpc>
              <a:spcBef>
                <a:spcPts val="0"/>
              </a:spcBef>
              <a:spcAft>
                <a:spcPts val="0"/>
              </a:spcAft>
              <a:buSzPts val="1500"/>
              <a:buChar char="●"/>
            </a:pPr>
            <a:r>
              <a:rPr lang="en-US" sz="1500"/>
              <a:t>Problem: Different File Systems, Different Rules</a:t>
            </a:r>
            <a:endParaRPr sz="1500"/>
          </a:p>
          <a:p>
            <a:pPr indent="-342900" lvl="0" marL="342900" rtl="0" algn="just">
              <a:lnSpc>
                <a:spcPct val="115000"/>
              </a:lnSpc>
              <a:spcBef>
                <a:spcPts val="0"/>
              </a:spcBef>
              <a:spcAft>
                <a:spcPts val="0"/>
              </a:spcAft>
              <a:buSzPts val="1500"/>
              <a:buChar char="●"/>
            </a:pPr>
            <a:r>
              <a:rPr lang="en-US" sz="1500"/>
              <a:t>Computers can use many types of file systems: ext2, NTFS, FAT32, procfs, etc.</a:t>
            </a:r>
            <a:endParaRPr sz="1500"/>
          </a:p>
          <a:p>
            <a:pPr indent="-342900" lvl="0" marL="342900" rtl="0" algn="just">
              <a:lnSpc>
                <a:spcPct val="115000"/>
              </a:lnSpc>
              <a:spcBef>
                <a:spcPts val="0"/>
              </a:spcBef>
              <a:spcAft>
                <a:spcPts val="0"/>
              </a:spcAft>
              <a:buSzPts val="1500"/>
              <a:buChar char="●"/>
            </a:pPr>
            <a:r>
              <a:rPr lang="en-US" sz="1500"/>
              <a:t>Each has its own way of storing and retrieving data.</a:t>
            </a:r>
            <a:br>
              <a:rPr lang="en-US" sz="1500"/>
            </a:br>
            <a:r>
              <a:rPr lang="en-US" sz="1500"/>
              <a:t>Without a common layer, every program would need to know all of these formats, which is very messy.</a:t>
            </a:r>
            <a:endParaRPr sz="1500"/>
          </a:p>
          <a:p>
            <a:pPr indent="0" lvl="0" marL="381000" marR="381000" rtl="0" algn="just">
              <a:lnSpc>
                <a:spcPct val="115000"/>
              </a:lnSpc>
              <a:spcBef>
                <a:spcPts val="1200"/>
              </a:spcBef>
              <a:spcAft>
                <a:spcPts val="0"/>
              </a:spcAft>
              <a:buSzPts val="1440"/>
              <a:buNone/>
            </a:pPr>
            <a:r>
              <a:rPr lang="en-US" sz="1500"/>
              <a:t>The Virtual File System (VFS) is like a universal translator between programs and all the different file systems.</a:t>
            </a:r>
            <a:endParaRPr sz="1500"/>
          </a:p>
          <a:p>
            <a:pPr indent="-298450" lvl="0" marL="457200" rtl="0" algn="just">
              <a:lnSpc>
                <a:spcPct val="115000"/>
              </a:lnSpc>
              <a:spcBef>
                <a:spcPts val="1200"/>
              </a:spcBef>
              <a:spcAft>
                <a:spcPts val="0"/>
              </a:spcAft>
              <a:buClr>
                <a:schemeClr val="dk1"/>
              </a:buClr>
              <a:buSzPts val="1100"/>
              <a:buFont typeface="Arial"/>
              <a:buChar char="●"/>
            </a:pPr>
            <a:r>
              <a:rPr lang="en-US" sz="1500"/>
              <a:t>Applications use the same commands (open, read, write)</a:t>
            </a:r>
            <a:br>
              <a:rPr lang="en-US" sz="1500"/>
            </a:br>
            <a:endParaRPr sz="1500"/>
          </a:p>
          <a:p>
            <a:pPr indent="-298450" lvl="0" marL="457200" rtl="0" algn="just">
              <a:lnSpc>
                <a:spcPct val="115000"/>
              </a:lnSpc>
              <a:spcBef>
                <a:spcPts val="0"/>
              </a:spcBef>
              <a:spcAft>
                <a:spcPts val="0"/>
              </a:spcAft>
              <a:buClr>
                <a:schemeClr val="dk1"/>
              </a:buClr>
              <a:buSzPts val="1100"/>
              <a:buFont typeface="Arial"/>
              <a:buChar char="●"/>
            </a:pPr>
            <a:r>
              <a:rPr lang="en-US" sz="1500"/>
              <a:t>VFS figures out which file system is in use and talks to it in its “native language”</a:t>
            </a:r>
            <a:endParaRPr sz="1500"/>
          </a:p>
          <a:p>
            <a:pPr indent="-285750" lvl="0" marL="342900" rtl="0" algn="just">
              <a:lnSpc>
                <a:spcPct val="100000"/>
              </a:lnSpc>
              <a:spcBef>
                <a:spcPts val="480"/>
              </a:spcBef>
              <a:spcAft>
                <a:spcPts val="0"/>
              </a:spcAft>
              <a:buClr>
                <a:schemeClr val="accent2"/>
              </a:buClr>
              <a:buSzPts val="1020"/>
              <a:buFont typeface="Noto Sans Symbols"/>
              <a:buChar char="●"/>
            </a:pPr>
            <a:r>
              <a:rPr lang="en-US" sz="1500"/>
              <a:t>Specific focus on ext2fs and procfs of Unix.</a:t>
            </a:r>
            <a:endParaRPr sz="1500"/>
          </a:p>
          <a:p>
            <a:pPr indent="-285750" lvl="0" marL="342900" rtl="0" algn="just">
              <a:lnSpc>
                <a:spcPct val="100000"/>
              </a:lnSpc>
              <a:spcBef>
                <a:spcPts val="480"/>
              </a:spcBef>
              <a:spcAft>
                <a:spcPts val="0"/>
              </a:spcAft>
              <a:buClr>
                <a:schemeClr val="accent2"/>
              </a:buClr>
              <a:buSzPts val="1020"/>
              <a:buFont typeface="Noto Sans Symbols"/>
              <a:buChar char="●"/>
            </a:pPr>
            <a:r>
              <a:rPr b="0" i="0" lang="en-US" sz="1500" u="none">
                <a:solidFill>
                  <a:schemeClr val="lt1"/>
                </a:solidFill>
                <a:latin typeface="Times New Roman"/>
                <a:ea typeface="Times New Roman"/>
                <a:cs typeface="Times New Roman"/>
                <a:sym typeface="Times New Roman"/>
              </a:rPr>
              <a:t>Different types of files are possible:regular files,directories,device files,fifo’s,pipes,symbolic links,sockets.</a:t>
            </a:r>
            <a:endParaRPr sz="2300"/>
          </a:p>
          <a:p>
            <a:pPr indent="-285750" lvl="0" marL="342900" rtl="0" algn="just">
              <a:lnSpc>
                <a:spcPct val="100000"/>
              </a:lnSpc>
              <a:spcBef>
                <a:spcPts val="480"/>
              </a:spcBef>
              <a:spcAft>
                <a:spcPts val="0"/>
              </a:spcAft>
              <a:buClr>
                <a:schemeClr val="accent2"/>
              </a:buClr>
              <a:buSzPts val="1020"/>
              <a:buFont typeface="Noto Sans Symbols"/>
              <a:buChar char="●"/>
            </a:pPr>
            <a:r>
              <a:rPr b="0" i="0" lang="en-US" sz="1500" u="none">
                <a:solidFill>
                  <a:schemeClr val="lt1"/>
                </a:solidFill>
                <a:latin typeface="Times New Roman"/>
                <a:ea typeface="Times New Roman"/>
                <a:cs typeface="Times New Roman"/>
                <a:sym typeface="Times New Roman"/>
              </a:rPr>
              <a:t>Meta data information kept separately.”inodes” are used for describing files.</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File Type Macros (&lt;sys/stat.h&gt;)</a:t>
            </a:r>
            <a:endParaRPr/>
          </a:p>
        </p:txBody>
      </p:sp>
      <p:sp>
        <p:nvSpPr>
          <p:cNvPr id="131" name="Google Shape;131;p1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17500" lvl="0" marL="457200" rtl="0" algn="just">
              <a:lnSpc>
                <a:spcPct val="115000"/>
              </a:lnSpc>
              <a:spcBef>
                <a:spcPts val="1200"/>
              </a:spcBef>
              <a:spcAft>
                <a:spcPts val="0"/>
              </a:spcAft>
              <a:buClr>
                <a:schemeClr val="lt1"/>
              </a:buClr>
              <a:buSzPts val="1400"/>
              <a:buFont typeface="Arial"/>
              <a:buChar char="●"/>
            </a:pPr>
            <a:r>
              <a:rPr b="1" lang="en-US" sz="1400">
                <a:latin typeface="Arial"/>
                <a:ea typeface="Arial"/>
                <a:cs typeface="Arial"/>
                <a:sym typeface="Arial"/>
              </a:rPr>
              <a:t>In C programming, a </a:t>
            </a:r>
            <a:r>
              <a:rPr b="1" i="1" lang="en-US" sz="1400">
                <a:latin typeface="Arial"/>
                <a:ea typeface="Arial"/>
                <a:cs typeface="Arial"/>
                <a:sym typeface="Arial"/>
              </a:rPr>
              <a:t>macro</a:t>
            </a:r>
            <a:r>
              <a:rPr b="1" lang="en-US" sz="1400">
                <a:latin typeface="Arial"/>
                <a:ea typeface="Arial"/>
                <a:cs typeface="Arial"/>
                <a:sym typeface="Arial"/>
              </a:rPr>
              <a:t> is like a shortcut name that gets replaced with some code before the program runs.</a:t>
            </a:r>
            <a:br>
              <a:rPr b="1" lang="en-US" sz="1400">
                <a:latin typeface="Arial"/>
                <a:ea typeface="Arial"/>
                <a:cs typeface="Arial"/>
                <a:sym typeface="Arial"/>
              </a:rPr>
            </a:br>
            <a:endParaRPr b="1" sz="1400">
              <a:latin typeface="Arial"/>
              <a:ea typeface="Arial"/>
              <a:cs typeface="Arial"/>
              <a:sym typeface="Arial"/>
            </a:endParaRPr>
          </a:p>
          <a:p>
            <a:pPr indent="-317500" lvl="0" marL="457200" rtl="0" algn="just">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These macros come from the header file </a:t>
            </a:r>
            <a:r>
              <a:rPr b="1" lang="en-US" sz="1400">
                <a:latin typeface="Roboto Mono"/>
                <a:ea typeface="Roboto Mono"/>
                <a:cs typeface="Roboto Mono"/>
                <a:sym typeface="Roboto Mono"/>
              </a:rPr>
              <a:t>&lt;sys/stat.h&gt;</a:t>
            </a:r>
            <a:r>
              <a:rPr b="1" lang="en-US" sz="1400">
                <a:latin typeface="Arial"/>
                <a:ea typeface="Arial"/>
                <a:cs typeface="Arial"/>
                <a:sym typeface="Arial"/>
              </a:rPr>
              <a:t> and are used to check what type a file is.</a:t>
            </a:r>
            <a:endParaRPr b="1" sz="1400">
              <a:latin typeface="Arial"/>
              <a:ea typeface="Arial"/>
              <a:cs typeface="Arial"/>
              <a:sym typeface="Arial"/>
            </a:endParaRPr>
          </a:p>
          <a:p>
            <a:pPr indent="-317500" lvl="0" marL="457200" rtl="0" algn="just">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When we write a C program, we might need to know:</a:t>
            </a:r>
            <a:br>
              <a:rPr b="1" lang="en-US" sz="1400">
                <a:latin typeface="Arial"/>
                <a:ea typeface="Arial"/>
                <a:cs typeface="Arial"/>
                <a:sym typeface="Arial"/>
              </a:rPr>
            </a:br>
            <a:endParaRPr b="1" sz="1400">
              <a:latin typeface="Arial"/>
              <a:ea typeface="Arial"/>
              <a:cs typeface="Arial"/>
              <a:sym typeface="Arial"/>
            </a:endParaRPr>
          </a:p>
          <a:p>
            <a:pPr indent="-317500" lvl="1" marL="914400" rtl="0" algn="just">
              <a:lnSpc>
                <a:spcPct val="115000"/>
              </a:lnSpc>
              <a:spcBef>
                <a:spcPts val="0"/>
              </a:spcBef>
              <a:spcAft>
                <a:spcPts val="0"/>
              </a:spcAft>
              <a:buClr>
                <a:schemeClr val="lt1"/>
              </a:buClr>
              <a:buSzPts val="1400"/>
              <a:buFont typeface="Arial"/>
              <a:buAutoNum type="alphaLcPeriod"/>
            </a:pPr>
            <a:r>
              <a:rPr b="1" lang="en-US" sz="1400">
                <a:latin typeface="Arial"/>
                <a:ea typeface="Arial"/>
                <a:cs typeface="Arial"/>
                <a:sym typeface="Arial"/>
              </a:rPr>
              <a:t>Is this file a directory?</a:t>
            </a:r>
            <a:br>
              <a:rPr b="1" lang="en-US" sz="1400">
                <a:latin typeface="Arial"/>
                <a:ea typeface="Arial"/>
                <a:cs typeface="Arial"/>
                <a:sym typeface="Arial"/>
              </a:rPr>
            </a:br>
            <a:endParaRPr b="1" sz="1400">
              <a:latin typeface="Arial"/>
              <a:ea typeface="Arial"/>
              <a:cs typeface="Arial"/>
              <a:sym typeface="Arial"/>
            </a:endParaRPr>
          </a:p>
          <a:p>
            <a:pPr indent="-317500" lvl="1" marL="914400" rtl="0" algn="just">
              <a:lnSpc>
                <a:spcPct val="115000"/>
              </a:lnSpc>
              <a:spcBef>
                <a:spcPts val="0"/>
              </a:spcBef>
              <a:spcAft>
                <a:spcPts val="0"/>
              </a:spcAft>
              <a:buClr>
                <a:schemeClr val="lt1"/>
              </a:buClr>
              <a:buSzPts val="1400"/>
              <a:buFont typeface="Arial"/>
              <a:buAutoNum type="alphaLcPeriod"/>
            </a:pPr>
            <a:r>
              <a:rPr b="1" lang="en-US" sz="1400">
                <a:latin typeface="Arial"/>
                <a:ea typeface="Arial"/>
                <a:cs typeface="Arial"/>
                <a:sym typeface="Arial"/>
              </a:rPr>
              <a:t>Is it a normal file?</a:t>
            </a:r>
            <a:br>
              <a:rPr b="1" lang="en-US" sz="1400">
                <a:latin typeface="Arial"/>
                <a:ea typeface="Arial"/>
                <a:cs typeface="Arial"/>
                <a:sym typeface="Arial"/>
              </a:rPr>
            </a:br>
            <a:endParaRPr b="1" sz="1400">
              <a:latin typeface="Arial"/>
              <a:ea typeface="Arial"/>
              <a:cs typeface="Arial"/>
              <a:sym typeface="Arial"/>
            </a:endParaRPr>
          </a:p>
          <a:p>
            <a:pPr indent="-317500" lvl="1" marL="914400" rtl="0" algn="just">
              <a:lnSpc>
                <a:spcPct val="115000"/>
              </a:lnSpc>
              <a:spcBef>
                <a:spcPts val="0"/>
              </a:spcBef>
              <a:spcAft>
                <a:spcPts val="0"/>
              </a:spcAft>
              <a:buClr>
                <a:schemeClr val="lt1"/>
              </a:buClr>
              <a:buSzPts val="1400"/>
              <a:buFont typeface="Arial"/>
              <a:buAutoNum type="alphaLcPeriod"/>
            </a:pPr>
            <a:r>
              <a:rPr b="1" lang="en-US" sz="1400">
                <a:latin typeface="Arial"/>
                <a:ea typeface="Arial"/>
                <a:cs typeface="Arial"/>
                <a:sym typeface="Arial"/>
              </a:rPr>
              <a:t>Is it a device?</a:t>
            </a:r>
            <a:br>
              <a:rPr b="1" lang="en-US" sz="1400">
                <a:latin typeface="Arial"/>
                <a:ea typeface="Arial"/>
                <a:cs typeface="Arial"/>
                <a:sym typeface="Arial"/>
              </a:rPr>
            </a:br>
            <a:endParaRPr b="1" sz="1400">
              <a:latin typeface="Arial"/>
              <a:ea typeface="Arial"/>
              <a:cs typeface="Arial"/>
              <a:sym typeface="Arial"/>
            </a:endParaRPr>
          </a:p>
          <a:p>
            <a:pPr indent="-317500" lvl="0" marL="457200" rtl="0" algn="just">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The OS stores this information in the file’s metadata.</a:t>
            </a:r>
            <a:br>
              <a:rPr b="1" lang="en-US" sz="1400">
                <a:latin typeface="Arial"/>
                <a:ea typeface="Arial"/>
                <a:cs typeface="Arial"/>
                <a:sym typeface="Arial"/>
              </a:rPr>
            </a:br>
            <a:endParaRPr b="1" sz="1400">
              <a:latin typeface="Arial"/>
              <a:ea typeface="Arial"/>
              <a:cs typeface="Arial"/>
              <a:sym typeface="Arial"/>
            </a:endParaRPr>
          </a:p>
          <a:p>
            <a:pPr indent="-317500" lvl="0" marL="457200" rtl="0" algn="just">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We can ask for this metadata with the </a:t>
            </a:r>
            <a:r>
              <a:rPr b="1" lang="en-US" sz="1400">
                <a:latin typeface="Roboto Mono"/>
                <a:ea typeface="Roboto Mono"/>
                <a:cs typeface="Roboto Mono"/>
                <a:sym typeface="Roboto Mono"/>
              </a:rPr>
              <a:t>stat()</a:t>
            </a:r>
            <a:r>
              <a:rPr b="1" lang="en-US" sz="1400">
                <a:latin typeface="Arial"/>
                <a:ea typeface="Arial"/>
                <a:cs typeface="Arial"/>
                <a:sym typeface="Arial"/>
              </a:rPr>
              <a:t> function, then check the file type with these macros.</a:t>
            </a:r>
            <a:br>
              <a:rPr b="1" lang="en-US" sz="1400">
                <a:latin typeface="Arial"/>
                <a:ea typeface="Arial"/>
                <a:cs typeface="Arial"/>
                <a:sym typeface="Arial"/>
              </a:rPr>
            </a:br>
            <a:endParaRPr b="1" sz="14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idx="1" type="body"/>
          </p:nvPr>
        </p:nvSpPr>
        <p:spPr>
          <a:xfrm>
            <a:off x="685800" y="1005850"/>
            <a:ext cx="7772400" cy="5090400"/>
          </a:xfrm>
          <a:prstGeom prst="rect">
            <a:avLst/>
          </a:prstGeom>
          <a:noFill/>
          <a:ln>
            <a:noFill/>
          </a:ln>
        </p:spPr>
        <p:txBody>
          <a:bodyPr anchorCtr="0" anchor="t" bIns="45700" lIns="91425" spcFirstLastPara="1" rIns="91425" wrap="square" tIns="45700">
            <a:noAutofit/>
          </a:bodyPr>
          <a:lstStyle/>
          <a:p>
            <a:pPr indent="-298450" lvl="0" marL="342900" rtl="0" algn="l">
              <a:lnSpc>
                <a:spcPct val="100000"/>
              </a:lnSpc>
              <a:spcBef>
                <a:spcPts val="0"/>
              </a:spcBef>
              <a:spcAft>
                <a:spcPts val="0"/>
              </a:spcAft>
              <a:buSzPts val="1860"/>
              <a:buChar char="●"/>
            </a:pPr>
            <a:r>
              <a:rPr lang="en-US" sz="2500"/>
              <a:t>S_ISREG() - Regular file    -  .txt, .c, .jpg</a:t>
            </a:r>
            <a:endParaRPr sz="2500"/>
          </a:p>
          <a:p>
            <a:pPr indent="-298450" lvl="0" marL="342900" rtl="0" algn="l">
              <a:lnSpc>
                <a:spcPct val="100000"/>
              </a:lnSpc>
              <a:spcBef>
                <a:spcPts val="640"/>
              </a:spcBef>
              <a:spcAft>
                <a:spcPts val="0"/>
              </a:spcAft>
              <a:buSzPts val="1860"/>
              <a:buChar char="●"/>
            </a:pPr>
            <a:r>
              <a:rPr lang="en-US" sz="2500"/>
              <a:t> S_ISDIR() - Directory file -   Documents/</a:t>
            </a:r>
            <a:endParaRPr sz="2500"/>
          </a:p>
          <a:p>
            <a:pPr indent="-298450" lvl="0" marL="342900" rtl="0" algn="l">
              <a:lnSpc>
                <a:spcPct val="100000"/>
              </a:lnSpc>
              <a:spcBef>
                <a:spcPts val="640"/>
              </a:spcBef>
              <a:spcAft>
                <a:spcPts val="0"/>
              </a:spcAft>
              <a:buSzPts val="1860"/>
              <a:buChar char="●"/>
            </a:pPr>
            <a:r>
              <a:rPr lang="en-US" sz="2500"/>
              <a:t> S_ISCHR() - Character special file -  /dev/tty</a:t>
            </a:r>
            <a:endParaRPr sz="2500"/>
          </a:p>
          <a:p>
            <a:pPr indent="-298450" lvl="0" marL="342900" rtl="0" algn="l">
              <a:lnSpc>
                <a:spcPct val="100000"/>
              </a:lnSpc>
              <a:spcBef>
                <a:spcPts val="640"/>
              </a:spcBef>
              <a:spcAft>
                <a:spcPts val="0"/>
              </a:spcAft>
              <a:buSzPts val="1860"/>
              <a:buChar char="●"/>
            </a:pPr>
            <a:r>
              <a:rPr lang="en-US" sz="2500"/>
              <a:t> S_ISBLK() - Block special file -  /dev/sda</a:t>
            </a:r>
            <a:endParaRPr sz="2500"/>
          </a:p>
          <a:p>
            <a:pPr indent="-298450" lvl="0" marL="342900" rtl="0" algn="l">
              <a:lnSpc>
                <a:spcPct val="100000"/>
              </a:lnSpc>
              <a:spcBef>
                <a:spcPts val="640"/>
              </a:spcBef>
              <a:spcAft>
                <a:spcPts val="0"/>
              </a:spcAft>
              <a:buSzPts val="1860"/>
              <a:buChar char="●"/>
            </a:pPr>
            <a:r>
              <a:rPr lang="en-US" sz="2500"/>
              <a:t> S_ISFIFO() - FIFO or pipe -  /tmp/myfifo</a:t>
            </a:r>
            <a:endParaRPr sz="2500"/>
          </a:p>
          <a:p>
            <a:pPr indent="-298450" lvl="0" marL="342900" rtl="0" algn="l">
              <a:lnSpc>
                <a:spcPct val="100000"/>
              </a:lnSpc>
              <a:spcBef>
                <a:spcPts val="640"/>
              </a:spcBef>
              <a:spcAft>
                <a:spcPts val="0"/>
              </a:spcAft>
              <a:buSzPts val="1860"/>
              <a:buChar char="●"/>
            </a:pPr>
            <a:r>
              <a:rPr lang="en-US" sz="2500"/>
              <a:t> S_ISLNK() - Symbolic link -   shortcut to another file</a:t>
            </a:r>
            <a:endParaRPr sz="2500"/>
          </a:p>
          <a:p>
            <a:pPr indent="-298450" lvl="0" marL="342900" rtl="0" algn="l">
              <a:lnSpc>
                <a:spcPct val="100000"/>
              </a:lnSpc>
              <a:spcBef>
                <a:spcPts val="640"/>
              </a:spcBef>
              <a:spcAft>
                <a:spcPts val="0"/>
              </a:spcAft>
              <a:buSzPts val="1860"/>
              <a:buChar char="●"/>
            </a:pPr>
            <a:r>
              <a:rPr lang="en-US" sz="2500"/>
              <a:t> S_ISSOCK() - Socket -  /var/run/docker.sock</a:t>
            </a:r>
            <a:endParaRPr sz="2500"/>
          </a:p>
          <a:p>
            <a:pPr indent="0" lvl="0" marL="0" rtl="0" algn="l">
              <a:lnSpc>
                <a:spcPct val="100000"/>
              </a:lnSpc>
              <a:spcBef>
                <a:spcPts val="360"/>
              </a:spcBef>
              <a:spcAft>
                <a:spcPts val="0"/>
              </a:spcAft>
              <a:buSzPts val="1440"/>
              <a:buNone/>
            </a:pPr>
            <a:r>
              <a:t/>
            </a:r>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IPC Type Macros (&lt;sys/stat.h&gt;)</a:t>
            </a:r>
            <a:endParaRPr/>
          </a:p>
        </p:txBody>
      </p:sp>
      <p:sp>
        <p:nvSpPr>
          <p:cNvPr id="143" name="Google Shape;143;p2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640"/>
              </a:spcBef>
              <a:spcAft>
                <a:spcPts val="0"/>
              </a:spcAft>
              <a:buClr>
                <a:schemeClr val="lt1"/>
              </a:buClr>
              <a:buSzPts val="2760"/>
              <a:buChar char="●"/>
            </a:pPr>
            <a:r>
              <a:rPr b="1" lang="en-US" sz="1300">
                <a:latin typeface="Arial"/>
                <a:ea typeface="Arial"/>
                <a:cs typeface="Arial"/>
                <a:sym typeface="Arial"/>
              </a:rPr>
              <a:t>IPC</a:t>
            </a:r>
            <a:r>
              <a:rPr lang="en-US" sz="1300">
                <a:latin typeface="Arial"/>
                <a:ea typeface="Arial"/>
                <a:cs typeface="Arial"/>
                <a:sym typeface="Arial"/>
              </a:rPr>
              <a:t> = </a:t>
            </a:r>
            <a:r>
              <a:rPr i="1" lang="en-US" sz="1300">
                <a:latin typeface="Arial"/>
                <a:ea typeface="Arial"/>
                <a:cs typeface="Arial"/>
                <a:sym typeface="Arial"/>
              </a:rPr>
              <a:t>Inter-Process Communication</a:t>
            </a:r>
            <a:r>
              <a:rPr lang="en-US" sz="1300">
                <a:latin typeface="Arial"/>
                <a:ea typeface="Arial"/>
                <a:cs typeface="Arial"/>
                <a:sym typeface="Arial"/>
              </a:rPr>
              <a:t> — a way for different programs (processes) to talk to each other.</a:t>
            </a:r>
            <a:br>
              <a:rPr lang="en-US" sz="1300">
                <a:latin typeface="Arial"/>
                <a:ea typeface="Arial"/>
                <a:cs typeface="Arial"/>
                <a:sym typeface="Arial"/>
              </a:rPr>
            </a:br>
            <a:endParaRPr sz="1300">
              <a:latin typeface="Arial"/>
              <a:ea typeface="Arial"/>
              <a:cs typeface="Arial"/>
              <a:sym typeface="Arial"/>
            </a:endParaRPr>
          </a:p>
          <a:p>
            <a:pPr indent="-284480" lvl="0" marL="342900" marR="0" rtl="0" algn="l">
              <a:lnSpc>
                <a:spcPct val="100000"/>
              </a:lnSpc>
              <a:spcBef>
                <a:spcPts val="640"/>
              </a:spcBef>
              <a:spcAft>
                <a:spcPts val="0"/>
              </a:spcAft>
              <a:buClr>
                <a:schemeClr val="lt1"/>
              </a:buClr>
              <a:buSzPts val="1640"/>
              <a:buChar char="●"/>
            </a:pPr>
            <a:r>
              <a:rPr lang="en-US" sz="1300">
                <a:latin typeface="Arial"/>
                <a:ea typeface="Arial"/>
                <a:cs typeface="Arial"/>
                <a:sym typeface="Arial"/>
              </a:rPr>
              <a:t>In UNIX, some IPC mechanisms are represented </a:t>
            </a:r>
            <a:r>
              <a:rPr b="1" lang="en-US" sz="1300">
                <a:latin typeface="Arial"/>
                <a:ea typeface="Arial"/>
                <a:cs typeface="Arial"/>
                <a:sym typeface="Arial"/>
              </a:rPr>
              <a:t>like files</a:t>
            </a:r>
            <a:r>
              <a:rPr lang="en-US" sz="1300">
                <a:latin typeface="Arial"/>
                <a:ea typeface="Arial"/>
                <a:cs typeface="Arial"/>
                <a:sym typeface="Arial"/>
              </a:rPr>
              <a:t> — so you can use similar commands to check or manage them.</a:t>
            </a:r>
            <a:endParaRPr sz="1300">
              <a:latin typeface="Arial"/>
              <a:ea typeface="Arial"/>
              <a:cs typeface="Arial"/>
              <a:sym typeface="Arial"/>
            </a:endParaRPr>
          </a:p>
          <a:p>
            <a:pPr indent="0" lvl="0" marL="0" rtl="0" algn="l">
              <a:lnSpc>
                <a:spcPct val="115000"/>
              </a:lnSpc>
              <a:spcBef>
                <a:spcPts val="1200"/>
              </a:spcBef>
              <a:spcAft>
                <a:spcPts val="0"/>
              </a:spcAft>
              <a:buSzPts val="1440"/>
              <a:buNone/>
            </a:pPr>
            <a:r>
              <a:rPr lang="en-US" sz="1300">
                <a:latin typeface="Arial"/>
                <a:ea typeface="Arial"/>
                <a:cs typeface="Arial"/>
                <a:sym typeface="Arial"/>
              </a:rPr>
              <a:t>Just like we used </a:t>
            </a:r>
            <a:r>
              <a:rPr lang="en-US" sz="1300">
                <a:latin typeface="Roboto Mono"/>
                <a:ea typeface="Roboto Mono"/>
                <a:cs typeface="Roboto Mono"/>
                <a:sym typeface="Roboto Mono"/>
              </a:rPr>
              <a:t>S_ISREG()</a:t>
            </a:r>
            <a:r>
              <a:rPr lang="en-US" sz="1300">
                <a:latin typeface="Arial"/>
                <a:ea typeface="Arial"/>
                <a:cs typeface="Arial"/>
                <a:sym typeface="Arial"/>
              </a:rPr>
              <a:t> to check if something is a regular file, IPC type macros check if a file is actually:</a:t>
            </a:r>
            <a:endParaRPr sz="1300">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lang="en-US" sz="1300">
                <a:latin typeface="Arial"/>
                <a:ea typeface="Arial"/>
                <a:cs typeface="Arial"/>
                <a:sym typeface="Arial"/>
              </a:rPr>
              <a:t>A </a:t>
            </a:r>
            <a:r>
              <a:rPr b="1" lang="en-US" sz="1300">
                <a:latin typeface="Arial"/>
                <a:ea typeface="Arial"/>
                <a:cs typeface="Arial"/>
                <a:sym typeface="Arial"/>
              </a:rPr>
              <a:t>Message Queue</a:t>
            </a:r>
            <a:r>
              <a:rPr lang="en-US" sz="1300">
                <a:latin typeface="Arial"/>
                <a:ea typeface="Arial"/>
                <a:cs typeface="Arial"/>
                <a:sym typeface="Arial"/>
              </a:rPr>
              <a:t> → passes messages between processes in order</a:t>
            </a:r>
            <a:br>
              <a:rPr lang="en-US" sz="1300">
                <a:latin typeface="Arial"/>
                <a:ea typeface="Arial"/>
                <a:cs typeface="Arial"/>
                <a:sym typeface="Arial"/>
              </a:rPr>
            </a:b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US" sz="1300">
                <a:latin typeface="Arial"/>
                <a:ea typeface="Arial"/>
                <a:cs typeface="Arial"/>
                <a:sym typeface="Arial"/>
              </a:rPr>
              <a:t>A </a:t>
            </a:r>
            <a:r>
              <a:rPr b="1" lang="en-US" sz="1300">
                <a:latin typeface="Arial"/>
                <a:ea typeface="Arial"/>
                <a:cs typeface="Arial"/>
                <a:sym typeface="Arial"/>
              </a:rPr>
              <a:t>Semaphore</a:t>
            </a:r>
            <a:r>
              <a:rPr lang="en-US" sz="1300">
                <a:latin typeface="Arial"/>
                <a:ea typeface="Arial"/>
                <a:cs typeface="Arial"/>
                <a:sym typeface="Arial"/>
              </a:rPr>
              <a:t> → used for locking, to control access to resources</a:t>
            </a:r>
            <a:br>
              <a:rPr lang="en-US" sz="1300">
                <a:latin typeface="Arial"/>
                <a:ea typeface="Arial"/>
                <a:cs typeface="Arial"/>
                <a:sym typeface="Arial"/>
              </a:rPr>
            </a:b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US" sz="1300">
                <a:latin typeface="Arial"/>
                <a:ea typeface="Arial"/>
                <a:cs typeface="Arial"/>
                <a:sym typeface="Arial"/>
              </a:rPr>
              <a:t>A </a:t>
            </a:r>
            <a:r>
              <a:rPr b="1" lang="en-US" sz="1300">
                <a:latin typeface="Arial"/>
                <a:ea typeface="Arial"/>
                <a:cs typeface="Arial"/>
                <a:sym typeface="Arial"/>
              </a:rPr>
              <a:t>Shared Memory Object</a:t>
            </a:r>
            <a:r>
              <a:rPr lang="en-US" sz="1300">
                <a:latin typeface="Arial"/>
                <a:ea typeface="Arial"/>
                <a:cs typeface="Arial"/>
                <a:sym typeface="Arial"/>
              </a:rPr>
              <a:t> → memory space that multiple processes can read/write</a:t>
            </a:r>
            <a:endParaRPr sz="1300">
              <a:latin typeface="Arial"/>
              <a:ea typeface="Arial"/>
              <a:cs typeface="Arial"/>
              <a:sym typeface="Arial"/>
            </a:endParaRPr>
          </a:p>
          <a:p>
            <a:pPr indent="-334010" lvl="0" marL="342900" rtl="0" algn="l">
              <a:lnSpc>
                <a:spcPct val="100000"/>
              </a:lnSpc>
              <a:spcBef>
                <a:spcPts val="640"/>
              </a:spcBef>
              <a:spcAft>
                <a:spcPts val="0"/>
              </a:spcAft>
              <a:buClr>
                <a:schemeClr val="lt1"/>
              </a:buClr>
              <a:buSzPts val="1300"/>
              <a:buFont typeface="Arial"/>
              <a:buChar char="●"/>
            </a:pPr>
            <a:r>
              <a:rPr lang="en-US" sz="1300">
                <a:latin typeface="Arial"/>
                <a:ea typeface="Arial"/>
                <a:cs typeface="Arial"/>
                <a:sym typeface="Arial"/>
              </a:rPr>
              <a:t>Not all UNIX systems treat these IPC objects as files — so these macros may not work everywhere.</a:t>
            </a:r>
            <a:br>
              <a:rPr lang="en-US" sz="1300">
                <a:latin typeface="Arial"/>
                <a:ea typeface="Arial"/>
                <a:cs typeface="Arial"/>
                <a:sym typeface="Arial"/>
              </a:rPr>
            </a:br>
            <a:endParaRPr sz="1300">
              <a:latin typeface="Arial"/>
              <a:ea typeface="Arial"/>
              <a:cs typeface="Arial"/>
              <a:sym typeface="Arial"/>
            </a:endParaRPr>
          </a:p>
          <a:p>
            <a:pPr indent="-334010" lvl="0" marL="342900" rtl="0" algn="l">
              <a:lnSpc>
                <a:spcPct val="100000"/>
              </a:lnSpc>
              <a:spcBef>
                <a:spcPts val="640"/>
              </a:spcBef>
              <a:spcAft>
                <a:spcPts val="0"/>
              </a:spcAft>
              <a:buClr>
                <a:schemeClr val="lt1"/>
              </a:buClr>
              <a:buSzPts val="1300"/>
              <a:buFont typeface="Arial"/>
              <a:buChar char="●"/>
            </a:pPr>
            <a:r>
              <a:rPr lang="en-US" sz="1300">
                <a:latin typeface="Arial"/>
                <a:ea typeface="Arial"/>
                <a:cs typeface="Arial"/>
                <a:sym typeface="Arial"/>
              </a:rPr>
              <a:t>This is specific to </a:t>
            </a:r>
            <a:r>
              <a:rPr b="1" lang="en-US" sz="1300">
                <a:latin typeface="Arial"/>
                <a:ea typeface="Arial"/>
                <a:cs typeface="Arial"/>
                <a:sym typeface="Arial"/>
              </a:rPr>
              <a:t>POSIX.1</a:t>
            </a:r>
            <a:r>
              <a:rPr lang="en-US" sz="1300">
                <a:latin typeface="Arial"/>
                <a:ea typeface="Arial"/>
                <a:cs typeface="Arial"/>
                <a:sym typeface="Arial"/>
              </a:rPr>
              <a:t> systems where IPC objects can appear in the filesystem (like in </a:t>
            </a:r>
            <a:r>
              <a:rPr lang="en-US" sz="1300">
                <a:latin typeface="Roboto Mono"/>
                <a:ea typeface="Roboto Mono"/>
                <a:cs typeface="Roboto Mono"/>
                <a:sym typeface="Roboto Mono"/>
              </a:rPr>
              <a:t>/dev/mqueue</a:t>
            </a:r>
            <a:r>
              <a:rPr lang="en-US" sz="1300">
                <a:latin typeface="Arial"/>
                <a:ea typeface="Arial"/>
                <a:cs typeface="Arial"/>
                <a:sym typeface="Arial"/>
              </a:rPr>
              <a:t> or </a:t>
            </a:r>
            <a:r>
              <a:rPr lang="en-US" sz="1300">
                <a:latin typeface="Roboto Mono"/>
                <a:ea typeface="Roboto Mono"/>
                <a:cs typeface="Roboto Mono"/>
                <a:sym typeface="Roboto Mono"/>
              </a:rPr>
              <a:t>/dev/shm</a:t>
            </a:r>
            <a:r>
              <a:rPr lang="en-US" sz="1300">
                <a:latin typeface="Arial"/>
                <a:ea typeface="Arial"/>
                <a:cs typeface="Arial"/>
                <a:sym typeface="Arial"/>
              </a:rPr>
              <a:t>).</a:t>
            </a:r>
            <a:endParaRPr sz="13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idx="1" type="body"/>
          </p:nvPr>
        </p:nvSpPr>
        <p:spPr>
          <a:xfrm>
            <a:off x="685800" y="979725"/>
            <a:ext cx="7772400" cy="5116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Char char="●"/>
            </a:pPr>
            <a:r>
              <a:rPr lang="en-US"/>
              <a:t>• POSIX.1 allows IPC objects as files</a:t>
            </a:r>
            <a:endParaRPr/>
          </a:p>
          <a:p>
            <a:pPr indent="-342900" lvl="0" marL="342900" rtl="0" algn="l">
              <a:lnSpc>
                <a:spcPct val="100000"/>
              </a:lnSpc>
              <a:spcBef>
                <a:spcPts val="640"/>
              </a:spcBef>
              <a:spcAft>
                <a:spcPts val="0"/>
              </a:spcAft>
              <a:buSzPts val="2560"/>
              <a:buChar char="●"/>
            </a:pPr>
            <a:r>
              <a:rPr lang="en-US"/>
              <a:t>• Macros use pointer to 'stat' structure:</a:t>
            </a:r>
            <a:endParaRPr/>
          </a:p>
          <a:p>
            <a:pPr indent="-342900" lvl="0" marL="342900" rtl="0" algn="l">
              <a:lnSpc>
                <a:spcPct val="100000"/>
              </a:lnSpc>
              <a:spcBef>
                <a:spcPts val="640"/>
              </a:spcBef>
              <a:spcAft>
                <a:spcPts val="0"/>
              </a:spcAft>
              <a:buSzPts val="2560"/>
              <a:buChar char="●"/>
            </a:pPr>
            <a:r>
              <a:rPr lang="en-US"/>
              <a:t>  - S_TYPEISMQ() - Message queue</a:t>
            </a:r>
            <a:endParaRPr/>
          </a:p>
          <a:p>
            <a:pPr indent="-342900" lvl="0" marL="342900" rtl="0" algn="l">
              <a:lnSpc>
                <a:spcPct val="100000"/>
              </a:lnSpc>
              <a:spcBef>
                <a:spcPts val="640"/>
              </a:spcBef>
              <a:spcAft>
                <a:spcPts val="0"/>
              </a:spcAft>
              <a:buSzPts val="2560"/>
              <a:buChar char="●"/>
            </a:pPr>
            <a:r>
              <a:rPr lang="en-US"/>
              <a:t>  - S_TYPEISSEM() - Semaphore</a:t>
            </a:r>
            <a:endParaRPr/>
          </a:p>
          <a:p>
            <a:pPr indent="-342900" lvl="0" marL="342900" rtl="0" algn="l">
              <a:lnSpc>
                <a:spcPct val="100000"/>
              </a:lnSpc>
              <a:spcBef>
                <a:spcPts val="640"/>
              </a:spcBef>
              <a:spcAft>
                <a:spcPts val="0"/>
              </a:spcAft>
              <a:buSzPts val="2560"/>
              <a:buChar char="●"/>
            </a:pPr>
            <a:r>
              <a:rPr lang="en-US"/>
              <a:t>  - S_TYPEISSHM() - Shared memory object</a:t>
            </a:r>
            <a:endParaRPr/>
          </a:p>
          <a:p>
            <a:pPr indent="-342900" lvl="0" marL="342900" rtl="0" algn="l">
              <a:lnSpc>
                <a:spcPct val="100000"/>
              </a:lnSpc>
              <a:spcBef>
                <a:spcPts val="640"/>
              </a:spcBef>
              <a:spcAft>
                <a:spcPts val="0"/>
              </a:spcAft>
              <a:buSzPts val="2560"/>
              <a:buChar char="●"/>
            </a:pPr>
            <a:r>
              <a:rPr lang="en-US"/>
              <a:t>• Not all UNIX implementations represent these as files</a:t>
            </a:r>
            <a:endParaRPr/>
          </a:p>
          <a:p>
            <a:pPr indent="0" lvl="0" marL="0" rtl="0" algn="l">
              <a:lnSpc>
                <a:spcPct val="100000"/>
              </a:lnSpc>
              <a:spcBef>
                <a:spcPts val="360"/>
              </a:spcBef>
              <a:spcAft>
                <a:spcPts val="0"/>
              </a:spcAft>
              <a:buSzPts val="144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C:\WINNT\Profiles\Administrator\Personal\VFS.bmp" id="154" name="Google Shape;154;p22"/>
          <p:cNvPicPr preferRelativeResize="0"/>
          <p:nvPr/>
        </p:nvPicPr>
        <p:blipFill rotWithShape="1">
          <a:blip r:embed="rId3">
            <a:alphaModFix/>
          </a:blip>
          <a:srcRect b="0" l="0" r="0" t="0"/>
          <a:stretch/>
        </p:blipFill>
        <p:spPr>
          <a:xfrm>
            <a:off x="1952625" y="1285875"/>
            <a:ext cx="5238750" cy="4286250"/>
          </a:xfrm>
          <a:prstGeom prst="rect">
            <a:avLst/>
          </a:prstGeom>
          <a:noFill/>
          <a:ln>
            <a:noFill/>
          </a:ln>
        </p:spPr>
      </p:pic>
      <p:sp>
        <p:nvSpPr>
          <p:cNvPr id="155" name="Google Shape;155;p22"/>
          <p:cNvSpPr txBox="1"/>
          <p:nvPr>
            <p:ph idx="4294967295" type="title"/>
          </p:nvPr>
        </p:nvSpPr>
        <p:spPr>
          <a:xfrm>
            <a:off x="685800" y="404812"/>
            <a:ext cx="777240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2"/>
              </a:buClr>
              <a:buSzPts val="3200"/>
              <a:buFont typeface="Arial"/>
              <a:buNone/>
            </a:pPr>
            <a:r>
              <a:rPr b="0" i="0" lang="en-US" sz="3200" u="none" cap="none" strike="noStrike">
                <a:solidFill>
                  <a:schemeClr val="lt2"/>
                </a:solidFill>
                <a:latin typeface="Arial"/>
                <a:ea typeface="Arial"/>
                <a:cs typeface="Arial"/>
                <a:sym typeface="Arial"/>
              </a:rPr>
              <a:t>Virtual File System Switch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C:\WINNT\Profiles\Administrator\Personal\Inode.bmp" id="160" name="Google Shape;160;p23"/>
          <p:cNvPicPr preferRelativeResize="0"/>
          <p:nvPr/>
        </p:nvPicPr>
        <p:blipFill rotWithShape="1">
          <a:blip r:embed="rId3">
            <a:alphaModFix/>
          </a:blip>
          <a:srcRect b="0" l="0" r="0" t="0"/>
          <a:stretch/>
        </p:blipFill>
        <p:spPr>
          <a:xfrm>
            <a:off x="2286000" y="1143000"/>
            <a:ext cx="4572000" cy="4572000"/>
          </a:xfrm>
          <a:prstGeom prst="rect">
            <a:avLst/>
          </a:prstGeom>
          <a:noFill/>
          <a:ln>
            <a:noFill/>
          </a:ln>
        </p:spPr>
      </p:pic>
      <p:sp>
        <p:nvSpPr>
          <p:cNvPr id="161" name="Google Shape;161;p23"/>
          <p:cNvSpPr txBox="1"/>
          <p:nvPr>
            <p:ph idx="4294967295" type="title"/>
          </p:nvPr>
        </p:nvSpPr>
        <p:spPr>
          <a:xfrm>
            <a:off x="685800" y="260350"/>
            <a:ext cx="777240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2"/>
              </a:buClr>
              <a:buSzPts val="2800"/>
              <a:buFont typeface="Arial"/>
              <a:buNone/>
            </a:pPr>
            <a:r>
              <a:rPr b="0" i="0" lang="en-US" sz="2800" u="none" cap="none" strike="noStrike">
                <a:solidFill>
                  <a:schemeClr val="lt2"/>
                </a:solidFill>
                <a:latin typeface="Arial"/>
                <a:ea typeface="Arial"/>
                <a:cs typeface="Arial"/>
                <a:sym typeface="Arial"/>
              </a:rPr>
              <a:t>Structure of Inode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idx="4294967295" type="title"/>
          </p:nvPr>
        </p:nvSpPr>
        <p:spPr>
          <a:xfrm>
            <a:off x="685800" y="609600"/>
            <a:ext cx="777240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2"/>
              </a:buClr>
              <a:buSzPts val="2800"/>
              <a:buFont typeface="Arial"/>
              <a:buNone/>
            </a:pPr>
            <a:r>
              <a:rPr b="0" i="0" lang="en-US" sz="2800" u="none" cap="none" strike="noStrike">
                <a:solidFill>
                  <a:schemeClr val="lt2"/>
                </a:solidFill>
                <a:latin typeface="Arial"/>
                <a:ea typeface="Arial"/>
                <a:cs typeface="Arial"/>
                <a:sym typeface="Arial"/>
              </a:rPr>
              <a:t>Unix File System </a:t>
            </a:r>
            <a:endParaRPr/>
          </a:p>
        </p:txBody>
      </p:sp>
      <p:pic>
        <p:nvPicPr>
          <p:cNvPr descr="C:\WINNT\Profiles\Administrator\Personal\UNIXFS.bmp" id="167" name="Google Shape;167;p24"/>
          <p:cNvPicPr preferRelativeResize="0"/>
          <p:nvPr/>
        </p:nvPicPr>
        <p:blipFill rotWithShape="1">
          <a:blip r:embed="rId3">
            <a:alphaModFix/>
          </a:blip>
          <a:srcRect b="0" l="0" r="0" t="0"/>
          <a:stretch/>
        </p:blipFill>
        <p:spPr>
          <a:xfrm>
            <a:off x="2667000" y="2000250"/>
            <a:ext cx="3810000" cy="2857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idx="1" type="body"/>
          </p:nvPr>
        </p:nvSpPr>
        <p:spPr>
          <a:xfrm>
            <a:off x="685800" y="228600"/>
            <a:ext cx="8001000" cy="640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rPr b="1" i="0" lang="en-US" sz="2000" u="none">
                <a:solidFill>
                  <a:schemeClr val="lt1"/>
                </a:solidFill>
                <a:latin typeface="Times New Roman"/>
                <a:ea typeface="Times New Roman"/>
                <a:cs typeface="Times New Roman"/>
                <a:sym typeface="Times New Roman"/>
              </a:rPr>
              <a:t>                             FEATURES OF UNIX FILE SYSTEMS</a:t>
            </a:r>
            <a:endParaRPr/>
          </a:p>
          <a:p>
            <a:pPr indent="0" lvl="0" marL="0" rtl="0" algn="l">
              <a:lnSpc>
                <a:spcPct val="100000"/>
              </a:lnSpc>
              <a:spcBef>
                <a:spcPts val="400"/>
              </a:spcBef>
              <a:spcAft>
                <a:spcPts val="0"/>
              </a:spcAft>
              <a:buClr>
                <a:schemeClr val="accent2"/>
              </a:buClr>
              <a:buSzPts val="1600"/>
              <a:buFont typeface="Noto Sans Symbols"/>
              <a:buNone/>
            </a:pPr>
            <a:r>
              <a:t/>
            </a:r>
            <a:endParaRPr b="1" i="0" sz="2000" u="none">
              <a:solidFill>
                <a:schemeClr val="lt1"/>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Boot Block : Will it always be present?</a:t>
            </a:r>
            <a:endParaRPr/>
          </a:p>
          <a:p>
            <a:pPr indent="0" lvl="0" marL="0" rtl="0" algn="l">
              <a:lnSpc>
                <a:spcPct val="100000"/>
              </a:lnSpc>
              <a:spcBef>
                <a:spcPts val="400"/>
              </a:spcBef>
              <a:spcAft>
                <a:spcPts val="0"/>
              </a:spcAft>
              <a:buClr>
                <a:schemeClr val="accent2"/>
              </a:buClr>
              <a:buSzPts val="1600"/>
              <a:buFont typeface="Noto Sans Symbols"/>
              <a:buNone/>
            </a:pPr>
            <a:r>
              <a:t/>
            </a:r>
            <a:endParaRPr b="1" i="0" sz="2000" u="none">
              <a:solidFill>
                <a:schemeClr val="lt1"/>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SuperBlock:Information for managing file systems</a:t>
            </a:r>
            <a:endParaRPr/>
          </a:p>
          <a:p>
            <a:pPr indent="0" lvl="0" marL="0" rtl="0" algn="l">
              <a:lnSpc>
                <a:spcPct val="100000"/>
              </a:lnSpc>
              <a:spcBef>
                <a:spcPts val="400"/>
              </a:spcBef>
              <a:spcAft>
                <a:spcPts val="0"/>
              </a:spcAft>
              <a:buClr>
                <a:schemeClr val="accent2"/>
              </a:buClr>
              <a:buSzPts val="1600"/>
              <a:buFont typeface="Noto Sans Symbols"/>
              <a:buNone/>
            </a:pPr>
            <a:r>
              <a:t/>
            </a:r>
            <a:endParaRPr b="1" i="0" sz="2000" u="none">
              <a:solidFill>
                <a:schemeClr val="lt1"/>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InodeBlocks:inode structures for the file system.</a:t>
            </a:r>
            <a:endParaRPr/>
          </a:p>
          <a:p>
            <a:pPr indent="0" lvl="0" marL="0" rtl="0" algn="l">
              <a:lnSpc>
                <a:spcPct val="100000"/>
              </a:lnSpc>
              <a:spcBef>
                <a:spcPts val="400"/>
              </a:spcBef>
              <a:spcAft>
                <a:spcPts val="0"/>
              </a:spcAft>
              <a:buClr>
                <a:schemeClr val="accent2"/>
              </a:buClr>
              <a:buSzPts val="1600"/>
              <a:buFont typeface="Noto Sans Symbols"/>
              <a:buNone/>
            </a:pPr>
            <a:r>
              <a:t/>
            </a:r>
            <a:endParaRPr b="1" i="0" sz="2000" u="none">
              <a:solidFill>
                <a:schemeClr val="lt1"/>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DataBlocks:blocks for files,directories..etc</a:t>
            </a:r>
            <a:endParaRPr/>
          </a:p>
          <a:p>
            <a:pPr indent="0" lvl="0" marL="0" rtl="0" algn="l">
              <a:lnSpc>
                <a:spcPct val="100000"/>
              </a:lnSpc>
              <a:spcBef>
                <a:spcPts val="400"/>
              </a:spcBef>
              <a:spcAft>
                <a:spcPts val="0"/>
              </a:spcAft>
              <a:buClr>
                <a:schemeClr val="accent2"/>
              </a:buClr>
              <a:buSzPts val="1600"/>
              <a:buFont typeface="Noto Sans Symbols"/>
              <a:buNone/>
            </a:pPr>
            <a:r>
              <a:t/>
            </a:r>
            <a:endParaRPr b="1" i="0" sz="2000" u="none">
              <a:solidFill>
                <a:schemeClr val="lt1"/>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Mounting,Unmounting file systems</a:t>
            </a:r>
            <a:endParaRPr/>
          </a:p>
          <a:p>
            <a:pPr indent="-241300" lvl="0" marL="342900" rtl="0" algn="l">
              <a:lnSpc>
                <a:spcPct val="100000"/>
              </a:lnSpc>
              <a:spcBef>
                <a:spcPts val="400"/>
              </a:spcBef>
              <a:spcAft>
                <a:spcPts val="0"/>
              </a:spcAft>
              <a:buSzPts val="1600"/>
              <a:buNone/>
            </a:pPr>
            <a:r>
              <a:t/>
            </a:r>
            <a:endParaRPr b="1" i="0" sz="2000" u="none">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685800" y="201612"/>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Directories</a:t>
            </a:r>
            <a:endParaRPr/>
          </a:p>
        </p:txBody>
      </p:sp>
      <p:sp>
        <p:nvSpPr>
          <p:cNvPr id="178" name="Google Shape;178;p26"/>
          <p:cNvSpPr txBox="1"/>
          <p:nvPr>
            <p:ph idx="1" type="body"/>
          </p:nvPr>
        </p:nvSpPr>
        <p:spPr>
          <a:xfrm>
            <a:off x="130175" y="1152525"/>
            <a:ext cx="8788400" cy="5173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560"/>
              <a:buFont typeface="Noto Sans Symbols"/>
              <a:buChar char="●"/>
            </a:pPr>
            <a:r>
              <a:rPr b="0" i="0" lang="en-US" sz="3200" u="none" cap="none" strike="noStrike">
                <a:solidFill>
                  <a:schemeClr val="lt1"/>
                </a:solidFill>
                <a:latin typeface="Times New Roman"/>
                <a:ea typeface="Times New Roman"/>
                <a:cs typeface="Times New Roman"/>
                <a:sym typeface="Times New Roman"/>
              </a:rPr>
              <a:t>Traditionally, file systems have used a hierarchical, tree-structured namespace</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Directories are objects that contain other objects</a:t>
            </a:r>
            <a:endParaRPr/>
          </a:p>
          <a:p>
            <a:pPr indent="-228600" lvl="2" marL="1143000" marR="0" rtl="0" algn="l">
              <a:lnSpc>
                <a:spcPct val="100000"/>
              </a:lnSpc>
              <a:spcBef>
                <a:spcPts val="480"/>
              </a:spcBef>
              <a:spcAft>
                <a:spcPts val="0"/>
              </a:spcAft>
              <a:buClr>
                <a:schemeClr val="accent1"/>
              </a:buClr>
              <a:buSzPts val="1440"/>
              <a:buFont typeface="Noto Sans Symbols"/>
              <a:buChar char="●"/>
            </a:pPr>
            <a:r>
              <a:rPr b="0" i="0" lang="en-US" sz="2400" u="none" cap="none" strike="noStrike">
                <a:solidFill>
                  <a:schemeClr val="lt1"/>
                </a:solidFill>
                <a:latin typeface="Times New Roman"/>
                <a:ea typeface="Times New Roman"/>
                <a:cs typeface="Times New Roman"/>
                <a:sym typeface="Times New Roman"/>
              </a:rPr>
              <a:t>i.e. a directory may (or may not) have children</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Files are leaves in the tree</a:t>
            </a:r>
            <a:endParaRPr/>
          </a:p>
          <a:p>
            <a:pPr indent="-342900" lvl="0" marL="342900" marR="0" rtl="0" algn="l">
              <a:lnSpc>
                <a:spcPct val="100000"/>
              </a:lnSpc>
              <a:spcBef>
                <a:spcPts val="640"/>
              </a:spcBef>
              <a:spcAft>
                <a:spcPts val="0"/>
              </a:spcAft>
              <a:buClr>
                <a:schemeClr val="accent2"/>
              </a:buClr>
              <a:buSzPts val="2560"/>
              <a:buFont typeface="Noto Sans Symbols"/>
              <a:buChar char="●"/>
            </a:pPr>
            <a:r>
              <a:rPr b="0" i="0" lang="en-US" sz="3200" u="none" cap="none" strike="noStrike">
                <a:solidFill>
                  <a:schemeClr val="lt1"/>
                </a:solidFill>
                <a:latin typeface="Times New Roman"/>
                <a:ea typeface="Times New Roman"/>
                <a:cs typeface="Times New Roman"/>
                <a:sym typeface="Times New Roman"/>
              </a:rPr>
              <a:t>By default, directories contain at least two entries</a:t>
            </a:r>
            <a:endParaRPr/>
          </a:p>
        </p:txBody>
      </p:sp>
      <p:sp>
        <p:nvSpPr>
          <p:cNvPr id="179" name="Google Shape;179;p26"/>
          <p:cNvSpPr txBox="1"/>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descr="D:\Pictures\soft-scraps icons\Folder-01.png" id="180" name="Google Shape;180;p26"/>
          <p:cNvPicPr preferRelativeResize="0"/>
          <p:nvPr/>
        </p:nvPicPr>
        <p:blipFill rotWithShape="1">
          <a:blip r:embed="rId3">
            <a:alphaModFix/>
          </a:blip>
          <a:srcRect b="0" l="0" r="0" t="0"/>
          <a:stretch/>
        </p:blipFill>
        <p:spPr>
          <a:xfrm>
            <a:off x="2271712" y="5648325"/>
            <a:ext cx="630237" cy="630237"/>
          </a:xfrm>
          <a:prstGeom prst="rect">
            <a:avLst/>
          </a:prstGeom>
          <a:noFill/>
          <a:ln>
            <a:noFill/>
          </a:ln>
        </p:spPr>
      </p:pic>
      <p:pic>
        <p:nvPicPr>
          <p:cNvPr descr="D:\Pictures\soft-scraps icons\Folder-01.png" id="181" name="Google Shape;181;p26"/>
          <p:cNvPicPr preferRelativeResize="0"/>
          <p:nvPr/>
        </p:nvPicPr>
        <p:blipFill rotWithShape="1">
          <a:blip r:embed="rId3">
            <a:alphaModFix/>
          </a:blip>
          <a:srcRect b="0" l="0" r="0" t="0"/>
          <a:stretch/>
        </p:blipFill>
        <p:spPr>
          <a:xfrm>
            <a:off x="4200525" y="5648325"/>
            <a:ext cx="630237" cy="630237"/>
          </a:xfrm>
          <a:prstGeom prst="rect">
            <a:avLst/>
          </a:prstGeom>
          <a:noFill/>
          <a:ln>
            <a:noFill/>
          </a:ln>
        </p:spPr>
      </p:pic>
      <p:sp>
        <p:nvSpPr>
          <p:cNvPr id="182" name="Google Shape;182;p26"/>
          <p:cNvSpPr txBox="1"/>
          <p:nvPr/>
        </p:nvSpPr>
        <p:spPr>
          <a:xfrm>
            <a:off x="2116137" y="6192837"/>
            <a:ext cx="941387"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Times New Roman"/>
              <a:buNone/>
            </a:pPr>
            <a:r>
              <a:rPr b="0" i="0" lang="en-US" sz="2000" u="none" cap="none" strike="noStrike">
                <a:solidFill>
                  <a:schemeClr val="lt1"/>
                </a:solidFill>
                <a:latin typeface="Times New Roman"/>
                <a:ea typeface="Times New Roman"/>
                <a:cs typeface="Times New Roman"/>
                <a:sym typeface="Times New Roman"/>
              </a:rPr>
              <a:t>/ (root)</a:t>
            </a:r>
            <a:endParaRPr b="0" i="0" sz="1400" u="none" cap="none" strike="noStrike">
              <a:solidFill>
                <a:srgbClr val="000000"/>
              </a:solidFill>
              <a:latin typeface="Arial"/>
              <a:ea typeface="Arial"/>
              <a:cs typeface="Arial"/>
              <a:sym typeface="Arial"/>
            </a:endParaRPr>
          </a:p>
        </p:txBody>
      </p:sp>
      <p:sp>
        <p:nvSpPr>
          <p:cNvPr id="183" name="Google Shape;183;p26"/>
          <p:cNvSpPr txBox="1"/>
          <p:nvPr/>
        </p:nvSpPr>
        <p:spPr>
          <a:xfrm>
            <a:off x="4259262" y="6176962"/>
            <a:ext cx="512762"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Times New Roman"/>
              <a:buNone/>
            </a:pPr>
            <a:r>
              <a:rPr b="0" i="0" lang="en-US" sz="2000" u="none" cap="none" strike="noStrike">
                <a:solidFill>
                  <a:schemeClr val="lt1"/>
                </a:solidFill>
                <a:latin typeface="Times New Roman"/>
                <a:ea typeface="Times New Roman"/>
                <a:cs typeface="Times New Roman"/>
                <a:sym typeface="Times New Roman"/>
              </a:rPr>
              <a:t>bin</a:t>
            </a:r>
            <a:endParaRPr b="0" i="0" sz="1400" u="none" cap="none" strike="noStrike">
              <a:solidFill>
                <a:srgbClr val="000000"/>
              </a:solidFill>
              <a:latin typeface="Arial"/>
              <a:ea typeface="Arial"/>
              <a:cs typeface="Arial"/>
              <a:sym typeface="Arial"/>
            </a:endParaRPr>
          </a:p>
        </p:txBody>
      </p:sp>
      <p:pic>
        <p:nvPicPr>
          <p:cNvPr descr="D:\Pictures\soft-scraps icons\Folder-01.png" id="184" name="Google Shape;184;p26"/>
          <p:cNvPicPr preferRelativeResize="0"/>
          <p:nvPr/>
        </p:nvPicPr>
        <p:blipFill rotWithShape="1">
          <a:blip r:embed="rId3">
            <a:alphaModFix/>
          </a:blip>
          <a:srcRect b="0" l="0" r="0" t="0"/>
          <a:stretch/>
        </p:blipFill>
        <p:spPr>
          <a:xfrm>
            <a:off x="6230937" y="5881687"/>
            <a:ext cx="630237" cy="630237"/>
          </a:xfrm>
          <a:prstGeom prst="rect">
            <a:avLst/>
          </a:prstGeom>
          <a:noFill/>
          <a:ln>
            <a:noFill/>
          </a:ln>
        </p:spPr>
      </p:pic>
      <p:grpSp>
        <p:nvGrpSpPr>
          <p:cNvPr id="185" name="Google Shape;185;p26"/>
          <p:cNvGrpSpPr/>
          <p:nvPr/>
        </p:nvGrpSpPr>
        <p:grpSpPr>
          <a:xfrm>
            <a:off x="6202362" y="4976812"/>
            <a:ext cx="688975" cy="687387"/>
            <a:chOff x="6581088" y="526057"/>
            <a:chExt cx="3251200" cy="3251201"/>
          </a:xfrm>
        </p:grpSpPr>
        <p:pic>
          <p:nvPicPr>
            <p:cNvPr descr="D:\Pictures\soft-scraps icons\Document Blank-01.png" id="186" name="Google Shape;186;p26"/>
            <p:cNvPicPr preferRelativeResize="0"/>
            <p:nvPr/>
          </p:nvPicPr>
          <p:blipFill rotWithShape="1">
            <a:blip r:embed="rId4">
              <a:alphaModFix/>
            </a:blip>
            <a:srcRect b="0" l="0" r="0" t="0"/>
            <a:stretch/>
          </p:blipFill>
          <p:spPr>
            <a:xfrm>
              <a:off x="6581088" y="526057"/>
              <a:ext cx="3251200" cy="3251201"/>
            </a:xfrm>
            <a:prstGeom prst="rect">
              <a:avLst/>
            </a:prstGeom>
            <a:noFill/>
            <a:ln>
              <a:noFill/>
            </a:ln>
          </p:spPr>
        </p:pic>
        <p:pic>
          <p:nvPicPr>
            <p:cNvPr descr="D:\Pictures\soft-scraps icons\Gear-01.png" id="187" name="Google Shape;187;p26"/>
            <p:cNvPicPr preferRelativeResize="0"/>
            <p:nvPr/>
          </p:nvPicPr>
          <p:blipFill rotWithShape="1">
            <a:blip r:embed="rId5">
              <a:alphaModFix/>
            </a:blip>
            <a:srcRect b="0" l="0" r="0" t="0"/>
            <a:stretch/>
          </p:blipFill>
          <p:spPr>
            <a:xfrm>
              <a:off x="7135491" y="1100287"/>
              <a:ext cx="2142393" cy="2142393"/>
            </a:xfrm>
            <a:prstGeom prst="rect">
              <a:avLst/>
            </a:prstGeom>
            <a:noFill/>
            <a:ln>
              <a:noFill/>
            </a:ln>
          </p:spPr>
        </p:pic>
      </p:grpSp>
      <p:sp>
        <p:nvSpPr>
          <p:cNvPr id="188" name="Google Shape;188;p26"/>
          <p:cNvSpPr txBox="1"/>
          <p:nvPr/>
        </p:nvSpPr>
        <p:spPr>
          <a:xfrm>
            <a:off x="6062662" y="6397625"/>
            <a:ext cx="925512"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Times New Roman"/>
              <a:buNone/>
            </a:pPr>
            <a:r>
              <a:rPr b="0" i="0" lang="en-US" sz="2000" u="none" cap="none" strike="noStrike">
                <a:solidFill>
                  <a:schemeClr val="lt1"/>
                </a:solidFill>
                <a:latin typeface="Times New Roman"/>
                <a:ea typeface="Times New Roman"/>
                <a:cs typeface="Times New Roman"/>
                <a:sym typeface="Times New Roman"/>
              </a:rPr>
              <a:t>python</a:t>
            </a:r>
            <a:endParaRPr b="0" i="0" sz="1400" u="none" cap="none" strike="noStrike">
              <a:solidFill>
                <a:srgbClr val="000000"/>
              </a:solidFill>
              <a:latin typeface="Arial"/>
              <a:ea typeface="Arial"/>
              <a:cs typeface="Arial"/>
              <a:sym typeface="Arial"/>
            </a:endParaRPr>
          </a:p>
        </p:txBody>
      </p:sp>
      <p:cxnSp>
        <p:nvCxnSpPr>
          <p:cNvPr id="189" name="Google Shape;189;p26"/>
          <p:cNvCxnSpPr/>
          <p:nvPr/>
        </p:nvCxnSpPr>
        <p:spPr>
          <a:xfrm flipH="1">
            <a:off x="2901825" y="6096000"/>
            <a:ext cx="1298700" cy="600"/>
          </a:xfrm>
          <a:prstGeom prst="bentConnector3">
            <a:avLst>
              <a:gd fmla="val 50000" name="adj1"/>
            </a:avLst>
          </a:prstGeom>
          <a:noFill/>
          <a:ln cap="flat" cmpd="sng" w="57150">
            <a:solidFill>
              <a:srgbClr val="FFFFFF"/>
            </a:solidFill>
            <a:prstDash val="solid"/>
            <a:miter lim="800000"/>
            <a:headEnd len="sm" w="sm" type="none"/>
            <a:tailEnd len="med" w="med" type="triangle"/>
          </a:ln>
        </p:spPr>
      </p:cxnSp>
      <p:cxnSp>
        <p:nvCxnSpPr>
          <p:cNvPr id="190" name="Google Shape;190;p26"/>
          <p:cNvCxnSpPr/>
          <p:nvPr/>
        </p:nvCxnSpPr>
        <p:spPr>
          <a:xfrm flipH="1" rot="10800000">
            <a:off x="4830762" y="5321250"/>
            <a:ext cx="1371600" cy="641400"/>
          </a:xfrm>
          <a:prstGeom prst="bentConnector3">
            <a:avLst>
              <a:gd fmla="val 11230" name="adj1"/>
            </a:avLst>
          </a:prstGeom>
          <a:noFill/>
          <a:ln cap="flat" cmpd="sng" w="57150">
            <a:solidFill>
              <a:srgbClr val="FFFFFF"/>
            </a:solidFill>
            <a:prstDash val="solid"/>
            <a:miter lim="800000"/>
            <a:headEnd len="sm" w="sm" type="none"/>
            <a:tailEnd len="med" w="med" type="triangle"/>
          </a:ln>
        </p:spPr>
      </p:cxnSp>
      <p:cxnSp>
        <p:nvCxnSpPr>
          <p:cNvPr id="191" name="Google Shape;191;p26"/>
          <p:cNvCxnSpPr/>
          <p:nvPr/>
        </p:nvCxnSpPr>
        <p:spPr>
          <a:xfrm>
            <a:off x="4830762" y="5962650"/>
            <a:ext cx="1400100" cy="234900"/>
          </a:xfrm>
          <a:prstGeom prst="bentConnector3">
            <a:avLst>
              <a:gd fmla="val 11011" name="adj1"/>
            </a:avLst>
          </a:prstGeom>
          <a:noFill/>
          <a:ln cap="flat" cmpd="sng" w="57150">
            <a:solidFill>
              <a:srgbClr val="FFFFFF"/>
            </a:solidFill>
            <a:prstDash val="solid"/>
            <a:miter lim="800000"/>
            <a:headEnd len="sm" w="sm" type="none"/>
            <a:tailEnd len="med" w="med" type="triangle"/>
          </a:ln>
        </p:spPr>
      </p:cxnSp>
      <p:cxnSp>
        <p:nvCxnSpPr>
          <p:cNvPr id="192" name="Google Shape;192;p26"/>
          <p:cNvCxnSpPr/>
          <p:nvPr/>
        </p:nvCxnSpPr>
        <p:spPr>
          <a:xfrm flipH="1">
            <a:off x="4200450" y="5648325"/>
            <a:ext cx="314400" cy="314400"/>
          </a:xfrm>
          <a:prstGeom prst="bentConnector4">
            <a:avLst>
              <a:gd fmla="val 0" name="adj1"/>
              <a:gd fmla="val 0" name="adj2"/>
            </a:avLst>
          </a:prstGeom>
          <a:noFill/>
          <a:ln cap="flat" cmpd="sng" w="57150">
            <a:solidFill>
              <a:srgbClr val="FFFFFF"/>
            </a:solidFill>
            <a:prstDash val="solid"/>
            <a:miter lim="800000"/>
            <a:headEnd len="sm" w="sm" type="none"/>
            <a:tailEnd len="med" w="med" type="triangle"/>
          </a:ln>
        </p:spPr>
      </p:cxnSp>
      <p:sp>
        <p:nvSpPr>
          <p:cNvPr id="193" name="Google Shape;193;p26"/>
          <p:cNvSpPr txBox="1"/>
          <p:nvPr/>
        </p:nvSpPr>
        <p:spPr>
          <a:xfrm>
            <a:off x="4117975" y="4953000"/>
            <a:ext cx="280987"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800"/>
              <a:buFont typeface="Times New Roman"/>
              <a:buNone/>
            </a:pPr>
            <a:r>
              <a:rPr b="1" i="0" lang="en-US" sz="2800" u="none" cap="none" strike="noStrike">
                <a:solidFill>
                  <a:schemeClr val="lt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94" name="Google Shape;194;p26"/>
          <p:cNvSpPr txBox="1"/>
          <p:nvPr/>
        </p:nvSpPr>
        <p:spPr>
          <a:xfrm>
            <a:off x="3362325" y="5572125"/>
            <a:ext cx="3778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800"/>
              <a:buFont typeface="Times New Roman"/>
              <a:buNone/>
            </a:pPr>
            <a:r>
              <a:rPr b="1" i="0" lang="en-US" sz="2800" u="none" cap="none" strike="noStrike">
                <a:solidFill>
                  <a:schemeClr val="lt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95" name="Google Shape;195;p26"/>
          <p:cNvSpPr/>
          <p:nvPr/>
        </p:nvSpPr>
        <p:spPr>
          <a:xfrm>
            <a:off x="3892550" y="4367212"/>
            <a:ext cx="2105025" cy="527050"/>
          </a:xfrm>
          <a:prstGeom prst="wedgeRectCallout">
            <a:avLst>
              <a:gd fmla="val 3729" name="adj1"/>
              <a:gd fmla="val 34338" name="adj2"/>
            </a:avLst>
          </a:prstGeom>
          <a:solidFill>
            <a:schemeClr val="accent2"/>
          </a:solidFill>
          <a:ln cap="flat" cmpd="sng" w="57150">
            <a:solidFill>
              <a:srgbClr val="0039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rgbClr val="FFFFFF"/>
                </a:solidFill>
                <a:latin typeface="Times New Roman"/>
                <a:ea typeface="Times New Roman"/>
                <a:cs typeface="Times New Roman"/>
                <a:sym typeface="Times New Roman"/>
              </a:rPr>
              <a:t>“.” self pointer</a:t>
            </a:r>
            <a:endParaRPr b="0" i="0" sz="1400" u="none" cap="none" strike="noStrike">
              <a:solidFill>
                <a:srgbClr val="000000"/>
              </a:solidFill>
              <a:latin typeface="Arial"/>
              <a:ea typeface="Arial"/>
              <a:cs typeface="Arial"/>
              <a:sym typeface="Arial"/>
            </a:endParaRPr>
          </a:p>
        </p:txBody>
      </p:sp>
      <p:sp>
        <p:nvSpPr>
          <p:cNvPr id="196" name="Google Shape;196;p26"/>
          <p:cNvSpPr/>
          <p:nvPr/>
        </p:nvSpPr>
        <p:spPr>
          <a:xfrm>
            <a:off x="771525" y="4449762"/>
            <a:ext cx="2616200" cy="817562"/>
          </a:xfrm>
          <a:prstGeom prst="wedgeRectCallout">
            <a:avLst>
              <a:gd fmla="val 22768" name="adj1"/>
              <a:gd fmla="val 33978" name="adj2"/>
            </a:avLst>
          </a:prstGeom>
          <a:solidFill>
            <a:schemeClr val="accent2"/>
          </a:solidFill>
          <a:ln cap="flat" cmpd="sng" w="57150">
            <a:solidFill>
              <a:srgbClr val="0039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rgbClr val="FFFFFF"/>
                </a:solidFill>
                <a:latin typeface="Times New Roman"/>
                <a:ea typeface="Times New Roman"/>
                <a:cs typeface="Times New Roman"/>
                <a:sym typeface="Times New Roman"/>
              </a:rPr>
              <a:t>“..” points the the parents directory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685800" y="468312"/>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More on Directories</a:t>
            </a:r>
            <a:endParaRPr/>
          </a:p>
        </p:txBody>
      </p:sp>
      <p:sp>
        <p:nvSpPr>
          <p:cNvPr id="202" name="Google Shape;202;p27"/>
          <p:cNvSpPr txBox="1"/>
          <p:nvPr>
            <p:ph idx="1" type="body"/>
          </p:nvPr>
        </p:nvSpPr>
        <p:spPr>
          <a:xfrm>
            <a:off x="173037" y="1501775"/>
            <a:ext cx="8797925" cy="51720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560"/>
              <a:buFont typeface="Noto Sans Symbols"/>
              <a:buChar char="●"/>
            </a:pPr>
            <a:r>
              <a:rPr b="0" i="0" lang="en-US" sz="3200" u="none" cap="none" strike="noStrike">
                <a:solidFill>
                  <a:schemeClr val="lt1"/>
                </a:solidFill>
                <a:latin typeface="Times New Roman"/>
                <a:ea typeface="Times New Roman"/>
                <a:cs typeface="Times New Roman"/>
                <a:sym typeface="Times New Roman"/>
              </a:rPr>
              <a:t>Directories have associated meta-data</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Name, number of entries</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Created time, modified time, access time</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Permissions (read/write), owner, and group</a:t>
            </a:r>
            <a:endParaRPr/>
          </a:p>
          <a:p>
            <a:pPr indent="-342900" lvl="0" marL="342900" marR="0" rtl="0" algn="l">
              <a:lnSpc>
                <a:spcPct val="100000"/>
              </a:lnSpc>
              <a:spcBef>
                <a:spcPts val="640"/>
              </a:spcBef>
              <a:spcAft>
                <a:spcPts val="0"/>
              </a:spcAft>
              <a:buClr>
                <a:schemeClr val="accent2"/>
              </a:buClr>
              <a:buSzPts val="2560"/>
              <a:buFont typeface="Noto Sans Symbols"/>
              <a:buChar char="●"/>
            </a:pPr>
            <a:r>
              <a:rPr b="0" i="0" lang="en-US" sz="3200" u="none" cap="none" strike="noStrike">
                <a:solidFill>
                  <a:schemeClr val="lt1"/>
                </a:solidFill>
                <a:latin typeface="Times New Roman"/>
                <a:ea typeface="Times New Roman"/>
                <a:cs typeface="Times New Roman"/>
                <a:sym typeface="Times New Roman"/>
              </a:rPr>
              <a:t>The file system must encode directories and store them on the disk</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Typically, directories are stored as a special type of file</a:t>
            </a:r>
            <a:endParaRPr/>
          </a:p>
          <a:p>
            <a:pPr indent="-285750" lvl="1" marL="742950" marR="0" rtl="0" algn="l">
              <a:lnSpc>
                <a:spcPct val="100000"/>
              </a:lnSpc>
              <a:spcBef>
                <a:spcPts val="560"/>
              </a:spcBef>
              <a:spcAft>
                <a:spcPts val="0"/>
              </a:spcAft>
              <a:buClr>
                <a:schemeClr val="lt1"/>
              </a:buClr>
              <a:buSzPts val="2520"/>
              <a:buFont typeface="Times New Roman"/>
              <a:buChar char="–"/>
            </a:pPr>
            <a:r>
              <a:rPr b="0" i="0" lang="en-US" sz="2800" u="none" cap="none" strike="noStrike">
                <a:solidFill>
                  <a:schemeClr val="lt1"/>
                </a:solidFill>
                <a:latin typeface="Times New Roman"/>
                <a:ea typeface="Times New Roman"/>
                <a:cs typeface="Times New Roman"/>
                <a:sym typeface="Times New Roman"/>
              </a:rPr>
              <a:t>File contains a list of entries inside the directory, plus some meta-data for each entry</a:t>
            </a:r>
            <a:endParaRPr/>
          </a:p>
          <a:p>
            <a:pPr indent="-125730" lvl="1" marL="742950" marR="0" rtl="0" algn="l">
              <a:lnSpc>
                <a:spcPct val="100000"/>
              </a:lnSpc>
              <a:spcBef>
                <a:spcPts val="560"/>
              </a:spcBef>
              <a:spcAft>
                <a:spcPts val="0"/>
              </a:spcAft>
              <a:buClr>
                <a:schemeClr val="lt1"/>
              </a:buClr>
              <a:buSzPts val="2520"/>
              <a:buFont typeface="Times New Roman"/>
              <a:buNone/>
            </a:pPr>
            <a:r>
              <a:t/>
            </a:r>
            <a:endParaRPr b="0" i="0" sz="2800" u="none" cap="none" strike="noStrike">
              <a:solidFill>
                <a:schemeClr val="lt1"/>
              </a:solidFill>
              <a:latin typeface="Times New Roman"/>
              <a:ea typeface="Times New Roman"/>
              <a:cs typeface="Times New Roman"/>
              <a:sym typeface="Times New Roman"/>
            </a:endParaRPr>
          </a:p>
          <a:p>
            <a:pPr indent="-125730" lvl="1" marL="742950" marR="0" rtl="0" algn="l">
              <a:lnSpc>
                <a:spcPct val="100000"/>
              </a:lnSpc>
              <a:spcBef>
                <a:spcPts val="560"/>
              </a:spcBef>
              <a:spcAft>
                <a:spcPts val="0"/>
              </a:spcAft>
              <a:buClr>
                <a:schemeClr val="lt1"/>
              </a:buClr>
              <a:buSzPts val="2520"/>
              <a:buFont typeface="Times New Roman"/>
              <a:buNone/>
            </a:pPr>
            <a:r>
              <a:t/>
            </a:r>
            <a:endParaRPr b="0" i="0" sz="2800" u="none" cap="none" strike="noStrike">
              <a:solidFill>
                <a:schemeClr val="lt1"/>
              </a:solidFill>
              <a:latin typeface="Times New Roman"/>
              <a:ea typeface="Times New Roman"/>
              <a:cs typeface="Times New Roman"/>
              <a:sym typeface="Times New Roman"/>
            </a:endParaRPr>
          </a:p>
          <a:p>
            <a:pPr indent="-200660" lvl="0" marL="342900" marR="0" rtl="0" algn="l">
              <a:lnSpc>
                <a:spcPct val="100000"/>
              </a:lnSpc>
              <a:spcBef>
                <a:spcPts val="560"/>
              </a:spcBef>
              <a:spcAft>
                <a:spcPts val="0"/>
              </a:spcAft>
              <a:buClr>
                <a:schemeClr val="accent2"/>
              </a:buClr>
              <a:buSzPts val="2240"/>
              <a:buFont typeface="Noto Sans Symbols"/>
              <a:buNone/>
            </a:pPr>
            <a:r>
              <a:t/>
            </a:r>
            <a:endParaRPr b="0" i="0" sz="2800" u="none" cap="none" strike="noStrike">
              <a:solidFill>
                <a:schemeClr val="lt1"/>
              </a:solidFill>
              <a:latin typeface="Times New Roman"/>
              <a:ea typeface="Times New Roman"/>
              <a:cs typeface="Times New Roman"/>
              <a:sym typeface="Times New Roman"/>
            </a:endParaRPr>
          </a:p>
        </p:txBody>
      </p:sp>
      <p:sp>
        <p:nvSpPr>
          <p:cNvPr id="203" name="Google Shape;203;p27"/>
          <p:cNvSpPr txBox="1"/>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descr="D:\Pictures\soft-scraps icons\Folder Generic Blue-01.png" id="204" name="Google Shape;204;p27"/>
          <p:cNvPicPr preferRelativeResize="0"/>
          <p:nvPr/>
        </p:nvPicPr>
        <p:blipFill rotWithShape="1">
          <a:blip r:embed="rId3">
            <a:alphaModFix/>
          </a:blip>
          <a:srcRect b="0" l="0" r="0" t="0"/>
          <a:stretch/>
        </p:blipFill>
        <p:spPr>
          <a:xfrm>
            <a:off x="7959725" y="328612"/>
            <a:ext cx="1077912" cy="1077912"/>
          </a:xfrm>
          <a:prstGeom prst="rect">
            <a:avLst/>
          </a:prstGeom>
          <a:noFill/>
          <a:ln>
            <a:noFill/>
          </a:ln>
        </p:spPr>
      </p:pic>
      <p:pic>
        <p:nvPicPr>
          <p:cNvPr descr="D:\Pictures\soft-scraps icons\Folder Generic Green-01.png" id="205" name="Google Shape;205;p27"/>
          <p:cNvPicPr preferRelativeResize="0"/>
          <p:nvPr/>
        </p:nvPicPr>
        <p:blipFill rotWithShape="1">
          <a:blip r:embed="rId4">
            <a:alphaModFix/>
          </a:blip>
          <a:srcRect b="0" l="0" r="0" t="0"/>
          <a:stretch/>
        </p:blipFill>
        <p:spPr>
          <a:xfrm>
            <a:off x="7312025" y="963612"/>
            <a:ext cx="1077912" cy="1076325"/>
          </a:xfrm>
          <a:prstGeom prst="rect">
            <a:avLst/>
          </a:prstGeom>
          <a:noFill/>
          <a:ln>
            <a:noFill/>
          </a:ln>
        </p:spPr>
      </p:pic>
      <p:pic>
        <p:nvPicPr>
          <p:cNvPr descr="D:\Pictures\soft-scraps icons\Folder Generic Red-01.png" id="206" name="Google Shape;206;p27"/>
          <p:cNvPicPr preferRelativeResize="0"/>
          <p:nvPr/>
        </p:nvPicPr>
        <p:blipFill rotWithShape="1">
          <a:blip r:embed="rId5">
            <a:alphaModFix/>
          </a:blip>
          <a:srcRect b="0" l="0" r="0" t="0"/>
          <a:stretch/>
        </p:blipFill>
        <p:spPr>
          <a:xfrm>
            <a:off x="7959725" y="1598612"/>
            <a:ext cx="1077912" cy="1076325"/>
          </a:xfrm>
          <a:prstGeom prst="rect">
            <a:avLst/>
          </a:prstGeom>
          <a:noFill/>
          <a:ln>
            <a:noFill/>
          </a:ln>
        </p:spPr>
      </p:pic>
      <p:pic>
        <p:nvPicPr>
          <p:cNvPr descr="D:\Pictures\soft-scraps icons\Folder-01.png" id="207" name="Google Shape;207;p27"/>
          <p:cNvPicPr preferRelativeResize="0"/>
          <p:nvPr/>
        </p:nvPicPr>
        <p:blipFill rotWithShape="1">
          <a:blip r:embed="rId6">
            <a:alphaModFix/>
          </a:blip>
          <a:srcRect b="0" l="0" r="0" t="0"/>
          <a:stretch/>
        </p:blipFill>
        <p:spPr>
          <a:xfrm>
            <a:off x="7502525" y="2266950"/>
            <a:ext cx="1077912" cy="10779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685800" y="228600"/>
            <a:ext cx="7772400" cy="533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Representation of File systems </a:t>
            </a:r>
            <a:endParaRPr/>
          </a:p>
        </p:txBody>
      </p:sp>
      <p:sp>
        <p:nvSpPr>
          <p:cNvPr id="214" name="Google Shape;214;p28"/>
          <p:cNvSpPr txBox="1"/>
          <p:nvPr>
            <p:ph idx="1" type="body"/>
          </p:nvPr>
        </p:nvSpPr>
        <p:spPr>
          <a:xfrm>
            <a:off x="609600" y="914400"/>
            <a:ext cx="7848600" cy="5181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Management structures for file systems is similar to logical structure of UNIX file system.</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VFS responsible for calling file-system specific implementations. How does VFS know which filesystems are configured?</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register_filesystem(struct file_system_type *);</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Configured at boot-time and possibly loaded as modules as well.</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file_system_type {</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Const char *name;</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Int fs_flags;</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Struct super_block *(*read_super)(struct super_block*,void *,int);</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#ifdef VERSION &gt; 2.4 </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Struct module *owner;</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Struct vfsmount *kern_mnt;</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#endif</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Struct file_system_type *next;</a:t>
            </a:r>
            <a:endParaRPr/>
          </a:p>
          <a:p>
            <a:pPr indent="-285750" lvl="1" marL="742950" rtl="0" algn="l">
              <a:lnSpc>
                <a:spcPct val="90000"/>
              </a:lnSpc>
              <a:spcBef>
                <a:spcPts val="360"/>
              </a:spcBef>
              <a:spcAft>
                <a:spcPts val="0"/>
              </a:spcAft>
              <a:buClr>
                <a:schemeClr val="lt1"/>
              </a:buClr>
              <a:buSzPts val="1620"/>
              <a:buFont typeface="Times New Roman"/>
              <a:buChar char="–"/>
            </a:pPr>
            <a:r>
              <a:rPr b="0" i="0" lang="en-US" sz="1800" u="none">
                <a:solidFill>
                  <a:schemeClr val="lt1"/>
                </a:solidFill>
                <a:latin typeface="Times New Roman"/>
                <a:ea typeface="Times New Roman"/>
                <a:cs typeface="Times New Roman"/>
                <a:sym typeface="Times New Roman"/>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type="title"/>
          </p:nvPr>
        </p:nvSpPr>
        <p:spPr>
          <a:xfrm>
            <a:off x="685800" y="228600"/>
            <a:ext cx="77724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Mounting</a:t>
            </a:r>
            <a:endParaRPr/>
          </a:p>
        </p:txBody>
      </p:sp>
      <p:sp>
        <p:nvSpPr>
          <p:cNvPr id="221" name="Google Shape;221;p29"/>
          <p:cNvSpPr txBox="1"/>
          <p:nvPr>
            <p:ph idx="1" type="body"/>
          </p:nvPr>
        </p:nvSpPr>
        <p:spPr>
          <a:xfrm>
            <a:off x="609600" y="1066800"/>
            <a:ext cx="7772400" cy="5562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480"/>
              </a:spcBef>
              <a:spcAft>
                <a:spcPts val="0"/>
              </a:spcAft>
              <a:buClr>
                <a:schemeClr val="lt1"/>
              </a:buClr>
              <a:buSzPts val="1500"/>
              <a:buChar char="●"/>
            </a:pPr>
            <a:r>
              <a:rPr b="1" lang="en-US" sz="1500">
                <a:latin typeface="Arial"/>
                <a:ea typeface="Arial"/>
                <a:cs typeface="Arial"/>
                <a:sym typeface="Arial"/>
              </a:rPr>
              <a:t>Mounting</a:t>
            </a:r>
            <a:r>
              <a:rPr lang="en-US" sz="1500">
                <a:latin typeface="Arial"/>
                <a:ea typeface="Arial"/>
                <a:cs typeface="Arial"/>
                <a:sym typeface="Arial"/>
              </a:rPr>
              <a:t> = making a file system accessible by attaching it to the main directory tree at a specific location (called a </a:t>
            </a:r>
            <a:r>
              <a:rPr b="1" lang="en-US" sz="1500">
                <a:latin typeface="Arial"/>
                <a:ea typeface="Arial"/>
                <a:cs typeface="Arial"/>
                <a:sym typeface="Arial"/>
              </a:rPr>
              <a:t>mount point</a:t>
            </a:r>
            <a:r>
              <a:rPr lang="en-US" sz="1500">
                <a:latin typeface="Arial"/>
                <a:ea typeface="Arial"/>
                <a:cs typeface="Arial"/>
                <a:sym typeface="Arial"/>
              </a:rPr>
              <a:t>).</a:t>
            </a:r>
            <a:br>
              <a:rPr lang="en-US" sz="1500">
                <a:latin typeface="Arial"/>
                <a:ea typeface="Arial"/>
                <a:cs typeface="Arial"/>
                <a:sym typeface="Arial"/>
              </a:rPr>
            </a:br>
            <a:endParaRPr sz="1500">
              <a:latin typeface="Arial"/>
              <a:ea typeface="Arial"/>
              <a:cs typeface="Arial"/>
              <a:sym typeface="Arial"/>
            </a:endParaRPr>
          </a:p>
          <a:p>
            <a:pPr indent="-342900" lvl="0" marL="342900" rtl="0" algn="l">
              <a:lnSpc>
                <a:spcPct val="100000"/>
              </a:lnSpc>
              <a:spcBef>
                <a:spcPts val="480"/>
              </a:spcBef>
              <a:spcAft>
                <a:spcPts val="0"/>
              </a:spcAft>
              <a:buClr>
                <a:schemeClr val="lt1"/>
              </a:buClr>
              <a:buSzPts val="1500"/>
              <a:buChar char="●"/>
            </a:pPr>
            <a:r>
              <a:rPr lang="en-US" sz="1500">
                <a:latin typeface="Arial"/>
                <a:ea typeface="Arial"/>
                <a:cs typeface="Arial"/>
                <a:sym typeface="Arial"/>
              </a:rPr>
              <a:t>Without mounting, the OS cannot see or access the files on that device.</a:t>
            </a:r>
            <a:endParaRPr sz="1500">
              <a:latin typeface="Arial"/>
              <a:ea typeface="Arial"/>
              <a:cs typeface="Arial"/>
              <a:sym typeface="Arial"/>
            </a:endParaRPr>
          </a:p>
          <a:p>
            <a:pPr indent="0" lvl="0" marL="0" rtl="0" algn="l">
              <a:lnSpc>
                <a:spcPct val="115000"/>
              </a:lnSpc>
              <a:spcBef>
                <a:spcPts val="1400"/>
              </a:spcBef>
              <a:spcAft>
                <a:spcPts val="0"/>
              </a:spcAft>
              <a:buSzPts val="1440"/>
              <a:buNone/>
            </a:pPr>
            <a:r>
              <a:rPr b="1" lang="en-US" sz="1500">
                <a:latin typeface="Arial"/>
                <a:ea typeface="Arial"/>
                <a:cs typeface="Arial"/>
                <a:sym typeface="Arial"/>
              </a:rPr>
              <a:t>What is </a:t>
            </a:r>
            <a:r>
              <a:rPr b="1" lang="en-US" sz="1500">
                <a:latin typeface="Roboto Mono"/>
                <a:ea typeface="Roboto Mono"/>
                <a:cs typeface="Roboto Mono"/>
                <a:sym typeface="Roboto Mono"/>
              </a:rPr>
              <a:t>mount_root()</a:t>
            </a:r>
            <a:r>
              <a:rPr b="1" lang="en-US" sz="1500">
                <a:latin typeface="Arial"/>
                <a:ea typeface="Arial"/>
                <a:cs typeface="Arial"/>
                <a:sym typeface="Arial"/>
              </a:rPr>
              <a:t>?</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lang="en-US" sz="1500">
                <a:latin typeface="Arial"/>
                <a:ea typeface="Arial"/>
                <a:cs typeface="Arial"/>
                <a:sym typeface="Arial"/>
              </a:rPr>
              <a:t>Special function used during </a:t>
            </a:r>
            <a:r>
              <a:rPr b="1" lang="en-US" sz="1500">
                <a:latin typeface="Arial"/>
                <a:ea typeface="Arial"/>
                <a:cs typeface="Arial"/>
                <a:sym typeface="Arial"/>
              </a:rPr>
              <a:t>system startup</a:t>
            </a:r>
            <a:r>
              <a:rPr lang="en-US" sz="1500">
                <a:latin typeface="Arial"/>
                <a:ea typeface="Arial"/>
                <a:cs typeface="Arial"/>
                <a:sym typeface="Arial"/>
              </a:rPr>
              <a:t>.</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lang="en-US" sz="1500">
                <a:latin typeface="Arial"/>
                <a:ea typeface="Arial"/>
                <a:cs typeface="Arial"/>
                <a:sym typeface="Arial"/>
              </a:rPr>
              <a:t>Mounts the </a:t>
            </a:r>
            <a:r>
              <a:rPr b="1" lang="en-US" sz="1500">
                <a:latin typeface="Arial"/>
                <a:ea typeface="Arial"/>
                <a:cs typeface="Arial"/>
                <a:sym typeface="Arial"/>
              </a:rPr>
              <a:t>root file system</a:t>
            </a:r>
            <a:r>
              <a:rPr lang="en-US" sz="1500">
                <a:latin typeface="Arial"/>
                <a:ea typeface="Arial"/>
                <a:cs typeface="Arial"/>
                <a:sym typeface="Arial"/>
              </a:rPr>
              <a:t> </a:t>
            </a:r>
            <a:r>
              <a:rPr lang="en-US" sz="1500">
                <a:latin typeface="Roboto Mono"/>
                <a:ea typeface="Roboto Mono"/>
                <a:cs typeface="Roboto Mono"/>
                <a:sym typeface="Roboto Mono"/>
              </a:rPr>
              <a:t>/</a:t>
            </a:r>
            <a:r>
              <a:rPr lang="en-US" sz="1500">
                <a:latin typeface="Arial"/>
                <a:ea typeface="Arial"/>
                <a:cs typeface="Arial"/>
                <a:sym typeface="Arial"/>
              </a:rPr>
              <a:t> so the OS can start using it.</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lang="en-US" sz="1500">
                <a:latin typeface="Arial"/>
                <a:ea typeface="Arial"/>
                <a:cs typeface="Arial"/>
                <a:sym typeface="Arial"/>
              </a:rPr>
              <a:t>Without this step, the OS wouldn’t even have a place to store logs, run programs, or read configs.</a:t>
            </a:r>
            <a:endParaRPr sz="1500">
              <a:latin typeface="Arial"/>
              <a:ea typeface="Arial"/>
              <a:cs typeface="Arial"/>
              <a:sym typeface="Arial"/>
            </a:endParaRPr>
          </a:p>
          <a:p>
            <a:pPr indent="-342900" lvl="0" marL="342900" rtl="0" algn="l">
              <a:lnSpc>
                <a:spcPct val="100000"/>
              </a:lnSpc>
              <a:spcBef>
                <a:spcPts val="480"/>
              </a:spcBef>
              <a:spcAft>
                <a:spcPts val="0"/>
              </a:spcAft>
              <a:buClr>
                <a:schemeClr val="lt1"/>
              </a:buClr>
              <a:buSzPts val="1500"/>
              <a:buChar char="●"/>
            </a:pPr>
            <a:r>
              <a:rPr lang="en-US" sz="1500"/>
              <a:t>Before Mounting:          After Mounting:</a:t>
            </a:r>
            <a:endParaRPr sz="1500"/>
          </a:p>
          <a:p>
            <a:pPr indent="-342900" lvl="0" marL="342900" rtl="0" algn="l">
              <a:lnSpc>
                <a:spcPct val="100000"/>
              </a:lnSpc>
              <a:spcBef>
                <a:spcPts val="480"/>
              </a:spcBef>
              <a:spcAft>
                <a:spcPts val="0"/>
              </a:spcAft>
              <a:buSzPts val="1500"/>
              <a:buChar char="●"/>
            </a:pPr>
            <a:r>
              <a:rPr lang="en-US" sz="1500"/>
              <a:t>/                         /</a:t>
            </a:r>
            <a:endParaRPr sz="1500"/>
          </a:p>
          <a:p>
            <a:pPr indent="-342900" lvl="0" marL="342900" rtl="0" algn="l">
              <a:lnSpc>
                <a:spcPct val="100000"/>
              </a:lnSpc>
              <a:spcBef>
                <a:spcPts val="480"/>
              </a:spcBef>
              <a:spcAft>
                <a:spcPts val="0"/>
              </a:spcAft>
              <a:buSzPts val="1500"/>
              <a:buChar char="●"/>
            </a:pPr>
            <a:r>
              <a:rPr lang="en-US" sz="1500"/>
              <a:t>├── home/                 ├── home/</a:t>
            </a:r>
            <a:endParaRPr sz="1500"/>
          </a:p>
          <a:p>
            <a:pPr indent="-342900" lvl="0" marL="342900" rtl="0" algn="l">
              <a:lnSpc>
                <a:spcPct val="100000"/>
              </a:lnSpc>
              <a:spcBef>
                <a:spcPts val="480"/>
              </a:spcBef>
              <a:spcAft>
                <a:spcPts val="0"/>
              </a:spcAft>
              <a:buSzPts val="1500"/>
              <a:buChar char="●"/>
            </a:pPr>
            <a:r>
              <a:rPr lang="en-US" sz="1500"/>
              <a:t>├── bin/                  ├── bin/</a:t>
            </a:r>
            <a:endParaRPr sz="1500"/>
          </a:p>
          <a:p>
            <a:pPr indent="-342900" lvl="0" marL="342900" rtl="0" algn="l">
              <a:lnSpc>
                <a:spcPct val="100000"/>
              </a:lnSpc>
              <a:spcBef>
                <a:spcPts val="480"/>
              </a:spcBef>
              <a:spcAft>
                <a:spcPts val="0"/>
              </a:spcAft>
              <a:buSzPts val="1500"/>
              <a:buChar char="●"/>
            </a:pPr>
            <a:r>
              <a:rPr lang="en-US" sz="1500"/>
              <a:t>└── media/usb/ (empty)    └── media/usb/</a:t>
            </a:r>
            <a:endParaRPr sz="1500"/>
          </a:p>
          <a:p>
            <a:pPr indent="-342900" lvl="0" marL="342900" rtl="0" algn="l">
              <a:lnSpc>
                <a:spcPct val="100000"/>
              </a:lnSpc>
              <a:spcBef>
                <a:spcPts val="480"/>
              </a:spcBef>
              <a:spcAft>
                <a:spcPts val="0"/>
              </a:spcAft>
              <a:buSzPts val="1500"/>
              <a:buChar char="●"/>
            </a:pPr>
            <a:r>
              <a:rPr lang="en-US" sz="1500"/>
              <a:t>                              ├── file1.txt</a:t>
            </a:r>
            <a:endParaRPr sz="1500"/>
          </a:p>
          <a:p>
            <a:pPr indent="-342900" lvl="0" marL="342900" rtl="0" algn="l">
              <a:lnSpc>
                <a:spcPct val="100000"/>
              </a:lnSpc>
              <a:spcBef>
                <a:spcPts val="480"/>
              </a:spcBef>
              <a:spcAft>
                <a:spcPts val="0"/>
              </a:spcAft>
              <a:buSzPts val="1500"/>
              <a:buChar char="●"/>
            </a:pPr>
            <a:r>
              <a:rPr lang="en-US" sz="1500"/>
              <a:t>                              └── image.jpg</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idx="1" type="body"/>
          </p:nvPr>
        </p:nvSpPr>
        <p:spPr>
          <a:xfrm>
            <a:off x="685800" y="496400"/>
            <a:ext cx="7772400" cy="5599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20"/>
              <a:buChar char="●"/>
            </a:pPr>
            <a:r>
              <a:rPr lang="en-US" sz="2400"/>
              <a:t>Any file system in UNIX must be mounted before it can be accessed,either through mount() or mount_root().</a:t>
            </a:r>
            <a:endParaRPr/>
          </a:p>
          <a:p>
            <a:pPr indent="-342900" lvl="0" marL="342900" rtl="0" algn="l">
              <a:lnSpc>
                <a:spcPct val="100000"/>
              </a:lnSpc>
              <a:spcBef>
                <a:spcPts val="480"/>
              </a:spcBef>
              <a:spcAft>
                <a:spcPts val="0"/>
              </a:spcAft>
              <a:buSzPts val="1920"/>
              <a:buChar char="●"/>
            </a:pPr>
            <a:r>
              <a:rPr lang="en-US" sz="2400"/>
              <a:t>What is mount_root() ?</a:t>
            </a:r>
            <a:endParaRPr/>
          </a:p>
          <a:p>
            <a:pPr indent="-342900" lvl="0" marL="342900" rtl="0" algn="l">
              <a:lnSpc>
                <a:spcPct val="100000"/>
              </a:lnSpc>
              <a:spcBef>
                <a:spcPts val="480"/>
              </a:spcBef>
              <a:spcAft>
                <a:spcPts val="0"/>
              </a:spcAft>
              <a:buSzPts val="1920"/>
              <a:buChar char="●"/>
            </a:pPr>
            <a:r>
              <a:rPr lang="en-US" sz="2400"/>
              <a:t>Representation of a mounted file system : struct super_block.Limited to NR_SUPER.</a:t>
            </a:r>
            <a:endParaRPr/>
          </a:p>
          <a:p>
            <a:pPr indent="-342900" lvl="0" marL="342900" rtl="0" algn="l">
              <a:lnSpc>
                <a:spcPct val="100000"/>
              </a:lnSpc>
              <a:spcBef>
                <a:spcPts val="480"/>
              </a:spcBef>
              <a:spcAft>
                <a:spcPts val="0"/>
              </a:spcAft>
              <a:buSzPts val="1920"/>
              <a:buChar char="●"/>
            </a:pPr>
            <a:r>
              <a:rPr lang="en-US" sz="2400"/>
              <a:t>It is initialized by the function “read_super” in the VFS.It interrogates floppy disks,CD-ROM for a change of media,tests if superblock is present and if so returns it.else it calls the fs-specific function to create a superblock.</a:t>
            </a:r>
            <a:endParaRPr/>
          </a:p>
          <a:p>
            <a:pPr indent="-342900" lvl="0" marL="342900" rtl="0" algn="l">
              <a:lnSpc>
                <a:spcPct val="100000"/>
              </a:lnSpc>
              <a:spcBef>
                <a:spcPts val="480"/>
              </a:spcBef>
              <a:spcAft>
                <a:spcPts val="0"/>
              </a:spcAft>
              <a:buSzPts val="1920"/>
              <a:buChar char="●"/>
            </a:pPr>
            <a:r>
              <a:rPr lang="en-US" sz="2400"/>
              <a:t>File system specific Read_super() reads its data from the block device using the Unix cache functions,bread,brw_page.Processes may be put to sleep when reading/writing or mounting file systems.</a:t>
            </a:r>
            <a:endParaRPr/>
          </a:p>
          <a:p>
            <a:pPr indent="0" lvl="0" marL="0" rtl="0" algn="l">
              <a:lnSpc>
                <a:spcPct val="100000"/>
              </a:lnSpc>
              <a:spcBef>
                <a:spcPts val="360"/>
              </a:spcBef>
              <a:spcAft>
                <a:spcPts val="0"/>
              </a:spcAft>
              <a:buSzPts val="14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685800" y="228600"/>
            <a:ext cx="7620000" cy="533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Superblock</a:t>
            </a:r>
            <a:endParaRPr/>
          </a:p>
        </p:txBody>
      </p:sp>
      <p:sp>
        <p:nvSpPr>
          <p:cNvPr id="233" name="Google Shape;233;p31"/>
          <p:cNvSpPr txBox="1"/>
          <p:nvPr>
            <p:ph idx="1" type="body"/>
          </p:nvPr>
        </p:nvSpPr>
        <p:spPr>
          <a:xfrm>
            <a:off x="533400" y="838200"/>
            <a:ext cx="8229600" cy="5715000"/>
          </a:xfrm>
          <a:prstGeom prst="rect">
            <a:avLst/>
          </a:prstGeom>
          <a:noFill/>
          <a:ln>
            <a:noFill/>
          </a:ln>
        </p:spPr>
        <p:txBody>
          <a:bodyPr anchorCtr="0" anchor="t" bIns="45700" lIns="91425" spcFirstLastPara="1" rIns="91425" wrap="square" tIns="45700">
            <a:noAutofit/>
          </a:bodyPr>
          <a:lstStyle/>
          <a:p>
            <a:pPr indent="-271780" lvl="0" marL="342900" rtl="0" algn="l">
              <a:lnSpc>
                <a:spcPct val="100000"/>
              </a:lnSpc>
              <a:spcBef>
                <a:spcPts val="280"/>
              </a:spcBef>
              <a:spcAft>
                <a:spcPts val="0"/>
              </a:spcAft>
              <a:buClr>
                <a:schemeClr val="dk1"/>
              </a:buClr>
              <a:buSzPts val="1100"/>
              <a:buFont typeface="Arial"/>
              <a:buNone/>
            </a:pPr>
            <a:r>
              <a:rPr lang="en-US" sz="1200">
                <a:latin typeface="Arial"/>
                <a:ea typeface="Arial"/>
                <a:cs typeface="Arial"/>
                <a:sym typeface="Arial"/>
              </a:rPr>
              <a:t>A </a:t>
            </a:r>
            <a:r>
              <a:rPr b="1" lang="en-US" sz="1200">
                <a:latin typeface="Arial"/>
                <a:ea typeface="Arial"/>
                <a:cs typeface="Arial"/>
                <a:sym typeface="Arial"/>
              </a:rPr>
              <a:t>superblock</a:t>
            </a:r>
            <a:r>
              <a:rPr lang="en-US" sz="1200">
                <a:latin typeface="Arial"/>
                <a:ea typeface="Arial"/>
                <a:cs typeface="Arial"/>
                <a:sym typeface="Arial"/>
              </a:rPr>
              <a:t> is a special data structure that holds </a:t>
            </a:r>
            <a:r>
              <a:rPr b="1" lang="en-US" sz="1200">
                <a:latin typeface="Arial"/>
                <a:ea typeface="Arial"/>
                <a:cs typeface="Arial"/>
                <a:sym typeface="Arial"/>
              </a:rPr>
              <a:t>information about the entire file system</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271780" lvl="0" marL="342900" rtl="0" algn="l">
              <a:lnSpc>
                <a:spcPct val="100000"/>
              </a:lnSpc>
              <a:spcBef>
                <a:spcPts val="280"/>
              </a:spcBef>
              <a:spcAft>
                <a:spcPts val="0"/>
              </a:spcAft>
              <a:buClr>
                <a:schemeClr val="dk1"/>
              </a:buClr>
              <a:buSzPts val="1100"/>
              <a:buFont typeface="Arial"/>
              <a:buNone/>
            </a:pPr>
            <a:r>
              <a:rPr lang="en-US" sz="1200">
                <a:latin typeface="Arial"/>
                <a:ea typeface="Arial"/>
                <a:cs typeface="Arial"/>
                <a:sym typeface="Arial"/>
              </a:rPr>
              <a:t>It’s like the </a:t>
            </a:r>
            <a:r>
              <a:rPr b="1" lang="en-US" sz="1200">
                <a:latin typeface="Arial"/>
                <a:ea typeface="Arial"/>
                <a:cs typeface="Arial"/>
                <a:sym typeface="Arial"/>
              </a:rPr>
              <a:t>table of contents</a:t>
            </a:r>
            <a:r>
              <a:rPr lang="en-US" sz="1200">
                <a:latin typeface="Arial"/>
                <a:ea typeface="Arial"/>
                <a:cs typeface="Arial"/>
                <a:sym typeface="Arial"/>
              </a:rPr>
              <a:t> for the disk — the OS uses it to understand how to read and manage files.</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lang="en-US" sz="1200">
                <a:latin typeface="Arial"/>
                <a:ea typeface="Arial"/>
                <a:cs typeface="Arial"/>
                <a:sym typeface="Arial"/>
              </a:rPr>
              <a:t>The OS </a:t>
            </a:r>
            <a:r>
              <a:rPr b="1" lang="en-US" sz="1200">
                <a:latin typeface="Arial"/>
                <a:ea typeface="Arial"/>
                <a:cs typeface="Arial"/>
                <a:sym typeface="Arial"/>
              </a:rPr>
              <a:t>cannot</a:t>
            </a:r>
            <a:r>
              <a:rPr lang="en-US" sz="1200">
                <a:latin typeface="Arial"/>
                <a:ea typeface="Arial"/>
                <a:cs typeface="Arial"/>
                <a:sym typeface="Arial"/>
              </a:rPr>
              <a:t> use the file system if the superblock is missing or corrupted.</a:t>
            </a:r>
            <a:br>
              <a:rPr lang="en-US" sz="1200">
                <a:latin typeface="Arial"/>
                <a:ea typeface="Arial"/>
                <a:cs typeface="Arial"/>
                <a:sym typeface="Arial"/>
              </a:rPr>
            </a:br>
            <a:endParaRPr sz="1200">
              <a:latin typeface="Arial"/>
              <a:ea typeface="Arial"/>
              <a:cs typeface="Arial"/>
              <a:sym typeface="Arial"/>
            </a:endParaRPr>
          </a:p>
          <a:p>
            <a:pPr indent="-271780" lvl="0" marL="342900" rtl="0" algn="l">
              <a:lnSpc>
                <a:spcPct val="100000"/>
              </a:lnSpc>
              <a:spcBef>
                <a:spcPts val="1200"/>
              </a:spcBef>
              <a:spcAft>
                <a:spcPts val="0"/>
              </a:spcAft>
              <a:buSzPts val="1120"/>
              <a:buNone/>
            </a:pPr>
            <a:r>
              <a:rPr lang="en-US" sz="1200">
                <a:latin typeface="Arial"/>
                <a:ea typeface="Arial"/>
                <a:cs typeface="Arial"/>
                <a:sym typeface="Arial"/>
              </a:rPr>
              <a:t>ext2/ext4 keep </a:t>
            </a:r>
            <a:r>
              <a:rPr b="1" lang="en-US" sz="1200">
                <a:latin typeface="Arial"/>
                <a:ea typeface="Arial"/>
                <a:cs typeface="Arial"/>
                <a:sym typeface="Arial"/>
              </a:rPr>
              <a:t>backup copies</a:t>
            </a:r>
            <a:r>
              <a:rPr lang="en-US" sz="1200">
                <a:latin typeface="Arial"/>
                <a:ea typeface="Arial"/>
                <a:cs typeface="Arial"/>
                <a:sym typeface="Arial"/>
              </a:rPr>
              <a:t> of the superblock in different places so that if one is damaged, it can be restored.</a:t>
            </a:r>
            <a:endParaRPr sz="1200">
              <a:latin typeface="Arial"/>
              <a:ea typeface="Arial"/>
              <a:cs typeface="Arial"/>
              <a:sym typeface="Arial"/>
            </a:endParaRPr>
          </a:p>
          <a:p>
            <a:pPr indent="-271780" lvl="0" marL="342900" rtl="0" algn="l">
              <a:lnSpc>
                <a:spcPct val="100000"/>
              </a:lnSpc>
              <a:spcBef>
                <a:spcPts val="280"/>
              </a:spcBef>
              <a:spcAft>
                <a:spcPts val="0"/>
              </a:spcAft>
              <a:buClr>
                <a:schemeClr val="dk1"/>
              </a:buClr>
              <a:buSzPts val="1100"/>
              <a:buFont typeface="Arial"/>
              <a:buNone/>
            </a:pPr>
            <a:r>
              <a:rPr b="1" lang="en-US" sz="1200">
                <a:latin typeface="Arial"/>
                <a:ea typeface="Arial"/>
                <a:cs typeface="Arial"/>
                <a:sym typeface="Arial"/>
              </a:rPr>
              <a:t>In memory</a:t>
            </a:r>
            <a:r>
              <a:rPr lang="en-US" sz="1200">
                <a:latin typeface="Arial"/>
                <a:ea typeface="Arial"/>
                <a:cs typeface="Arial"/>
                <a:sym typeface="Arial"/>
              </a:rPr>
              <a:t>: </a:t>
            </a:r>
            <a:r>
              <a:rPr lang="en-US" sz="1200">
                <a:latin typeface="Roboto Mono"/>
                <a:ea typeface="Roboto Mono"/>
                <a:cs typeface="Roboto Mono"/>
                <a:sym typeface="Roboto Mono"/>
              </a:rPr>
              <a:t>struct super_block</a:t>
            </a:r>
            <a:r>
              <a:rPr lang="en-US" sz="1200">
                <a:latin typeface="Arial"/>
                <a:ea typeface="Arial"/>
                <a:cs typeface="Arial"/>
                <a:sym typeface="Arial"/>
              </a:rPr>
              <a:t> in the kernel represents a mounted file system.</a:t>
            </a:r>
            <a:br>
              <a:rPr lang="en-US" sz="1200">
                <a:latin typeface="Arial"/>
                <a:ea typeface="Arial"/>
                <a:cs typeface="Arial"/>
                <a:sym typeface="Arial"/>
              </a:rPr>
            </a:br>
            <a:endParaRPr sz="1200">
              <a:latin typeface="Arial"/>
              <a:ea typeface="Arial"/>
              <a:cs typeface="Arial"/>
              <a:sym typeface="Arial"/>
            </a:endParaRPr>
          </a:p>
          <a:p>
            <a:pPr indent="-271780" lvl="0" marL="342900" rtl="0" algn="l">
              <a:lnSpc>
                <a:spcPct val="100000"/>
              </a:lnSpc>
              <a:spcBef>
                <a:spcPts val="280"/>
              </a:spcBef>
              <a:spcAft>
                <a:spcPts val="0"/>
              </a:spcAft>
              <a:buClr>
                <a:schemeClr val="dk1"/>
              </a:buClr>
              <a:buSzPts val="1100"/>
              <a:buFont typeface="Arial"/>
              <a:buNone/>
            </a:pPr>
            <a:r>
              <a:rPr b="1" lang="en-US" sz="1200">
                <a:latin typeface="Arial"/>
                <a:ea typeface="Arial"/>
                <a:cs typeface="Arial"/>
                <a:sym typeface="Arial"/>
              </a:rPr>
              <a:t>On disk</a:t>
            </a:r>
            <a:r>
              <a:rPr lang="en-US" sz="1200">
                <a:latin typeface="Arial"/>
                <a:ea typeface="Arial"/>
                <a:cs typeface="Arial"/>
                <a:sym typeface="Arial"/>
              </a:rPr>
              <a:t>: Contains permanent info about the file system.</a:t>
            </a:r>
            <a:br>
              <a:rPr lang="en-US" sz="1200">
                <a:latin typeface="Arial"/>
                <a:ea typeface="Arial"/>
                <a:cs typeface="Arial"/>
                <a:sym typeface="Arial"/>
              </a:rPr>
            </a:br>
            <a:endParaRPr sz="1200">
              <a:latin typeface="Arial"/>
              <a:ea typeface="Arial"/>
              <a:cs typeface="Arial"/>
              <a:sym typeface="Arial"/>
            </a:endParaRPr>
          </a:p>
          <a:p>
            <a:pPr indent="-271780" lvl="0" marL="342900" rtl="0" algn="l">
              <a:lnSpc>
                <a:spcPct val="100000"/>
              </a:lnSpc>
              <a:spcBef>
                <a:spcPts val="280"/>
              </a:spcBef>
              <a:spcAft>
                <a:spcPts val="0"/>
              </a:spcAft>
              <a:buClr>
                <a:schemeClr val="dk1"/>
              </a:buClr>
              <a:buSzPts val="1100"/>
              <a:buFont typeface="Arial"/>
              <a:buNone/>
            </a:pPr>
            <a:r>
              <a:rPr b="1" lang="en-US" sz="1200">
                <a:latin typeface="Arial"/>
                <a:ea typeface="Arial"/>
                <a:cs typeface="Arial"/>
                <a:sym typeface="Arial"/>
              </a:rPr>
              <a:t>Key fields in </a:t>
            </a:r>
            <a:r>
              <a:rPr b="1" lang="en-US" sz="1200">
                <a:latin typeface="Roboto Mono"/>
                <a:ea typeface="Roboto Mono"/>
                <a:cs typeface="Roboto Mono"/>
                <a:sym typeface="Roboto Mono"/>
              </a:rPr>
              <a:t>struct super_block</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lang="en-US" sz="1200">
                <a:latin typeface="Roboto Mono"/>
                <a:ea typeface="Roboto Mono"/>
                <a:cs typeface="Roboto Mono"/>
                <a:sym typeface="Roboto Mono"/>
              </a:rPr>
              <a:t>s_dev</a:t>
            </a:r>
            <a:r>
              <a:rPr lang="en-US" sz="1200">
                <a:latin typeface="Arial"/>
                <a:ea typeface="Arial"/>
                <a:cs typeface="Arial"/>
                <a:sym typeface="Arial"/>
              </a:rPr>
              <a:t> → Device identifier</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Roboto Mono"/>
                <a:ea typeface="Roboto Mono"/>
                <a:cs typeface="Roboto Mono"/>
                <a:sym typeface="Roboto Mono"/>
              </a:rPr>
              <a:t>s_blocksize</a:t>
            </a:r>
            <a:r>
              <a:rPr lang="en-US" sz="1200">
                <a:latin typeface="Arial"/>
                <a:ea typeface="Arial"/>
                <a:cs typeface="Arial"/>
                <a:sym typeface="Arial"/>
              </a:rPr>
              <a:t> → Block size in bytes</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Roboto Mono"/>
                <a:ea typeface="Roboto Mono"/>
                <a:cs typeface="Roboto Mono"/>
                <a:sym typeface="Roboto Mono"/>
              </a:rPr>
              <a:t>s_flags</a:t>
            </a:r>
            <a:r>
              <a:rPr lang="en-US" sz="1200">
                <a:latin typeface="Arial"/>
                <a:ea typeface="Arial"/>
                <a:cs typeface="Arial"/>
                <a:sym typeface="Arial"/>
              </a:rPr>
              <a:t> → File system state (read-only, dirty, etc.)</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Roboto Mono"/>
                <a:ea typeface="Roboto Mono"/>
                <a:cs typeface="Roboto Mono"/>
                <a:sym typeface="Roboto Mono"/>
              </a:rPr>
              <a:t>s_type</a:t>
            </a:r>
            <a:r>
              <a:rPr lang="en-US" sz="1200">
                <a:latin typeface="Arial"/>
                <a:ea typeface="Arial"/>
                <a:cs typeface="Arial"/>
                <a:sym typeface="Arial"/>
              </a:rPr>
              <a:t> → File system type (</a:t>
            </a:r>
            <a:r>
              <a:rPr lang="en-US" sz="1200">
                <a:latin typeface="Roboto Mono"/>
                <a:ea typeface="Roboto Mono"/>
                <a:cs typeface="Roboto Mono"/>
                <a:sym typeface="Roboto Mono"/>
              </a:rPr>
              <a:t>ext2</a:t>
            </a:r>
            <a:r>
              <a:rPr lang="en-US" sz="1200">
                <a:latin typeface="Arial"/>
                <a:ea typeface="Arial"/>
                <a:cs typeface="Arial"/>
                <a:sym typeface="Arial"/>
              </a:rPr>
              <a:t>, </a:t>
            </a:r>
            <a:r>
              <a:rPr lang="en-US" sz="1200">
                <a:latin typeface="Roboto Mono"/>
                <a:ea typeface="Roboto Mono"/>
                <a:cs typeface="Roboto Mono"/>
                <a:sym typeface="Roboto Mono"/>
              </a:rPr>
              <a:t>procfs</a:t>
            </a:r>
            <a:r>
              <a:rPr lang="en-US" sz="1200">
                <a:latin typeface="Arial"/>
                <a:ea typeface="Arial"/>
                <a:cs typeface="Arial"/>
                <a:sym typeface="Arial"/>
              </a:rPr>
              <a:t>, etc.)</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Roboto Mono"/>
                <a:ea typeface="Roboto Mono"/>
                <a:cs typeface="Roboto Mono"/>
                <a:sym typeface="Roboto Mono"/>
              </a:rPr>
              <a:t>s_mounted</a:t>
            </a:r>
            <a:r>
              <a:rPr lang="en-US" sz="1200">
                <a:latin typeface="Arial"/>
                <a:ea typeface="Arial"/>
                <a:cs typeface="Arial"/>
                <a:sym typeface="Arial"/>
              </a:rPr>
              <a:t> → Pointer to root inode</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Roboto Mono"/>
                <a:ea typeface="Roboto Mono"/>
                <a:cs typeface="Roboto Mono"/>
                <a:sym typeface="Roboto Mono"/>
              </a:rPr>
              <a:t>s_op</a:t>
            </a:r>
            <a:r>
              <a:rPr lang="en-US" sz="1200">
                <a:latin typeface="Arial"/>
                <a:ea typeface="Arial"/>
                <a:cs typeface="Arial"/>
                <a:sym typeface="Arial"/>
              </a:rPr>
              <a:t> → Pointer to </a:t>
            </a:r>
            <a:r>
              <a:rPr b="1" lang="en-US" sz="1200">
                <a:latin typeface="Arial"/>
                <a:ea typeface="Arial"/>
                <a:cs typeface="Arial"/>
                <a:sym typeface="Arial"/>
              </a:rPr>
              <a:t>superblock operations</a:t>
            </a:r>
            <a:r>
              <a:rPr lang="en-US" sz="1200">
                <a:latin typeface="Arial"/>
                <a:ea typeface="Arial"/>
                <a:cs typeface="Arial"/>
                <a:sym typeface="Arial"/>
              </a:rPr>
              <a:t> (functions for mounting, unmounting, syncing, etc.)</a:t>
            </a:r>
            <a:endParaRPr sz="1200">
              <a:latin typeface="Arial"/>
              <a:ea typeface="Arial"/>
              <a:cs typeface="Arial"/>
              <a:sym typeface="Arial"/>
            </a:endParaRPr>
          </a:p>
          <a:p>
            <a:pPr indent="-271780" lvl="0" marL="342900" rtl="0" algn="l">
              <a:lnSpc>
                <a:spcPct val="100000"/>
              </a:lnSpc>
              <a:spcBef>
                <a:spcPts val="1200"/>
              </a:spcBef>
              <a:spcAft>
                <a:spcPts val="0"/>
              </a:spcAft>
              <a:buSzPts val="1120"/>
              <a:buNone/>
            </a:pPr>
            <a:r>
              <a:t/>
            </a:r>
            <a:endParaRPr sz="12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idx="1" type="body"/>
          </p:nvPr>
        </p:nvSpPr>
        <p:spPr>
          <a:xfrm>
            <a:off x="685800" y="535575"/>
            <a:ext cx="7772400" cy="55605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440"/>
              <a:buChar char="●"/>
            </a:pPr>
            <a:r>
              <a:rPr lang="en-US" sz="1800"/>
              <a:t>struct super_block {</a:t>
            </a:r>
            <a:endParaRPr/>
          </a:p>
          <a:p>
            <a:pPr indent="-285750" lvl="1" marL="742950" rtl="0" algn="l">
              <a:lnSpc>
                <a:spcPct val="90000"/>
              </a:lnSpc>
              <a:spcBef>
                <a:spcPts val="320"/>
              </a:spcBef>
              <a:spcAft>
                <a:spcPts val="0"/>
              </a:spcAft>
              <a:buSzPts val="1440"/>
              <a:buChar char="–"/>
            </a:pPr>
            <a:r>
              <a:rPr lang="en-US" sz="1600"/>
              <a:t>kdev_t s_dev;/* device */</a:t>
            </a:r>
            <a:endParaRPr/>
          </a:p>
          <a:p>
            <a:pPr indent="-285750" lvl="1" marL="742950" rtl="0" algn="l">
              <a:lnSpc>
                <a:spcPct val="90000"/>
              </a:lnSpc>
              <a:spcBef>
                <a:spcPts val="320"/>
              </a:spcBef>
              <a:spcAft>
                <a:spcPts val="0"/>
              </a:spcAft>
              <a:buSzPts val="1440"/>
              <a:buChar char="–"/>
            </a:pPr>
            <a:r>
              <a:rPr lang="en-US" sz="1600"/>
              <a:t>unsigned long s_blocksize;/* block size */</a:t>
            </a:r>
            <a:endParaRPr/>
          </a:p>
          <a:p>
            <a:pPr indent="-285750" lvl="1" marL="742950" rtl="0" algn="l">
              <a:lnSpc>
                <a:spcPct val="90000"/>
              </a:lnSpc>
              <a:spcBef>
                <a:spcPts val="320"/>
              </a:spcBef>
              <a:spcAft>
                <a:spcPts val="0"/>
              </a:spcAft>
              <a:buSzPts val="1440"/>
              <a:buChar char="–"/>
            </a:pPr>
            <a:r>
              <a:rPr lang="en-US" sz="1600"/>
              <a:t>unsigned char s_blocksize_bits;/* ld(block size) */</a:t>
            </a:r>
            <a:endParaRPr/>
          </a:p>
          <a:p>
            <a:pPr indent="-285750" lvl="1" marL="742950" rtl="0" algn="l">
              <a:lnSpc>
                <a:spcPct val="90000"/>
              </a:lnSpc>
              <a:spcBef>
                <a:spcPts val="320"/>
              </a:spcBef>
              <a:spcAft>
                <a:spcPts val="0"/>
              </a:spcAft>
              <a:buSzPts val="1440"/>
              <a:buChar char="–"/>
            </a:pPr>
            <a:r>
              <a:rPr lang="en-US" sz="1600"/>
              <a:t>unsigned char s_lock;/* superblock lock */</a:t>
            </a:r>
            <a:endParaRPr/>
          </a:p>
          <a:p>
            <a:pPr indent="-285750" lvl="1" marL="742950" rtl="0" algn="l">
              <a:lnSpc>
                <a:spcPct val="90000"/>
              </a:lnSpc>
              <a:spcBef>
                <a:spcPts val="320"/>
              </a:spcBef>
              <a:spcAft>
                <a:spcPts val="0"/>
              </a:spcAft>
              <a:buSzPts val="1440"/>
              <a:buChar char="–"/>
            </a:pPr>
            <a:r>
              <a:rPr lang="en-US" sz="1600"/>
              <a:t>unsigned char s_rd_only; </a:t>
            </a:r>
            <a:endParaRPr/>
          </a:p>
          <a:p>
            <a:pPr indent="-285750" lvl="1" marL="742950" rtl="0" algn="l">
              <a:lnSpc>
                <a:spcPct val="90000"/>
              </a:lnSpc>
              <a:spcBef>
                <a:spcPts val="320"/>
              </a:spcBef>
              <a:spcAft>
                <a:spcPts val="0"/>
              </a:spcAft>
              <a:buSzPts val="1440"/>
              <a:buChar char="–"/>
            </a:pPr>
            <a:r>
              <a:rPr lang="en-US" sz="1600"/>
              <a:t>Unsigned char s_dirt;</a:t>
            </a:r>
            <a:endParaRPr/>
          </a:p>
          <a:p>
            <a:pPr indent="-285750" lvl="1" marL="742950" rtl="0" algn="l">
              <a:lnSpc>
                <a:spcPct val="90000"/>
              </a:lnSpc>
              <a:spcBef>
                <a:spcPts val="320"/>
              </a:spcBef>
              <a:spcAft>
                <a:spcPts val="0"/>
              </a:spcAft>
              <a:buSzPts val="1440"/>
              <a:buChar char="–"/>
            </a:pPr>
            <a:r>
              <a:rPr lang="en-US" sz="1600"/>
              <a:t>Struct file_system_type *s_type;</a:t>
            </a:r>
            <a:endParaRPr/>
          </a:p>
          <a:p>
            <a:pPr indent="-285750" lvl="1" marL="742950" rtl="0" algn="l">
              <a:lnSpc>
                <a:spcPct val="90000"/>
              </a:lnSpc>
              <a:spcBef>
                <a:spcPts val="320"/>
              </a:spcBef>
              <a:spcAft>
                <a:spcPts val="0"/>
              </a:spcAft>
              <a:buSzPts val="1440"/>
              <a:buChar char="–"/>
            </a:pPr>
            <a:r>
              <a:rPr lang="en-US" sz="1600"/>
              <a:t>Struct super_operations *s_op;</a:t>
            </a:r>
            <a:endParaRPr/>
          </a:p>
          <a:p>
            <a:pPr indent="-285750" lvl="1" marL="742950" rtl="0" algn="l">
              <a:lnSpc>
                <a:spcPct val="90000"/>
              </a:lnSpc>
              <a:spcBef>
                <a:spcPts val="320"/>
              </a:spcBef>
              <a:spcAft>
                <a:spcPts val="0"/>
              </a:spcAft>
              <a:buSzPts val="1440"/>
              <a:buChar char="–"/>
            </a:pPr>
            <a:r>
              <a:rPr lang="en-US" sz="1600"/>
              <a:t>Unsigned long s_flags;</a:t>
            </a:r>
            <a:endParaRPr/>
          </a:p>
          <a:p>
            <a:pPr indent="-285750" lvl="1" marL="742950" rtl="0" algn="l">
              <a:lnSpc>
                <a:spcPct val="90000"/>
              </a:lnSpc>
              <a:spcBef>
                <a:spcPts val="320"/>
              </a:spcBef>
              <a:spcAft>
                <a:spcPts val="0"/>
              </a:spcAft>
              <a:buSzPts val="1440"/>
              <a:buChar char="–"/>
            </a:pPr>
            <a:r>
              <a:rPr lang="en-US" sz="1600"/>
              <a:t>Unsigned long s_magic;</a:t>
            </a:r>
            <a:endParaRPr/>
          </a:p>
          <a:p>
            <a:pPr indent="-285750" lvl="1" marL="742950" rtl="0" algn="l">
              <a:lnSpc>
                <a:spcPct val="90000"/>
              </a:lnSpc>
              <a:spcBef>
                <a:spcPts val="320"/>
              </a:spcBef>
              <a:spcAft>
                <a:spcPts val="0"/>
              </a:spcAft>
              <a:buSzPts val="1440"/>
              <a:buChar char="–"/>
            </a:pPr>
            <a:r>
              <a:rPr lang="en-US" sz="1600"/>
              <a:t>Unsigned long s_time;</a:t>
            </a:r>
            <a:endParaRPr/>
          </a:p>
          <a:p>
            <a:pPr indent="-285750" lvl="1" marL="742950" rtl="0" algn="l">
              <a:lnSpc>
                <a:spcPct val="90000"/>
              </a:lnSpc>
              <a:spcBef>
                <a:spcPts val="320"/>
              </a:spcBef>
              <a:spcAft>
                <a:spcPts val="0"/>
              </a:spcAft>
              <a:buSzPts val="1440"/>
              <a:buChar char="–"/>
            </a:pPr>
            <a:r>
              <a:rPr lang="en-US" sz="1600"/>
              <a:t>Struct inode *s_covered;/* mount point */</a:t>
            </a:r>
            <a:endParaRPr/>
          </a:p>
          <a:p>
            <a:pPr indent="-285750" lvl="1" marL="742950" rtl="0" algn="l">
              <a:lnSpc>
                <a:spcPct val="90000"/>
              </a:lnSpc>
              <a:spcBef>
                <a:spcPts val="320"/>
              </a:spcBef>
              <a:spcAft>
                <a:spcPts val="0"/>
              </a:spcAft>
              <a:buSzPts val="1440"/>
              <a:buChar char="–"/>
            </a:pPr>
            <a:r>
              <a:rPr lang="en-US" sz="1600"/>
              <a:t>Struct inode *s_mounted; /* root inode */</a:t>
            </a:r>
            <a:endParaRPr/>
          </a:p>
          <a:p>
            <a:pPr indent="-285750" lvl="1" marL="742950" rtl="0" algn="l">
              <a:lnSpc>
                <a:spcPct val="90000"/>
              </a:lnSpc>
              <a:spcBef>
                <a:spcPts val="320"/>
              </a:spcBef>
              <a:spcAft>
                <a:spcPts val="0"/>
              </a:spcAft>
              <a:buSzPts val="1440"/>
              <a:buChar char="–"/>
            </a:pPr>
            <a:r>
              <a:rPr lang="en-US" sz="1600"/>
              <a:t>Struct wait_queue *s_wait;/* s_lock wait queue */</a:t>
            </a:r>
            <a:endParaRPr/>
          </a:p>
          <a:p>
            <a:pPr indent="-285750" lvl="1" marL="742950" rtl="0" algn="l">
              <a:lnSpc>
                <a:spcPct val="90000"/>
              </a:lnSpc>
              <a:spcBef>
                <a:spcPts val="320"/>
              </a:spcBef>
              <a:spcAft>
                <a:spcPts val="0"/>
              </a:spcAft>
              <a:buSzPts val="1440"/>
              <a:buChar char="–"/>
            </a:pPr>
            <a:r>
              <a:rPr lang="en-US" sz="1600"/>
              <a:t>Union {</a:t>
            </a:r>
            <a:endParaRPr/>
          </a:p>
          <a:p>
            <a:pPr indent="-228600" lvl="2" marL="1143000" rtl="0" algn="l">
              <a:lnSpc>
                <a:spcPct val="90000"/>
              </a:lnSpc>
              <a:spcBef>
                <a:spcPts val="280"/>
              </a:spcBef>
              <a:spcAft>
                <a:spcPts val="0"/>
              </a:spcAft>
              <a:buSzPts val="840"/>
              <a:buChar char="●"/>
            </a:pPr>
            <a:r>
              <a:rPr lang="en-US" sz="1400"/>
              <a:t>Struct minix_sb_info minix_sb;</a:t>
            </a:r>
            <a:endParaRPr/>
          </a:p>
          <a:p>
            <a:pPr indent="-228600" lvl="2" marL="1143000" rtl="0" algn="l">
              <a:lnSpc>
                <a:spcPct val="90000"/>
              </a:lnSpc>
              <a:spcBef>
                <a:spcPts val="280"/>
              </a:spcBef>
              <a:spcAft>
                <a:spcPts val="0"/>
              </a:spcAft>
              <a:buSzPts val="840"/>
              <a:buChar char="●"/>
            </a:pPr>
            <a:r>
              <a:rPr lang="en-US" sz="1400"/>
              <a:t>Struct ext2_sb_info ext2_sb;</a:t>
            </a:r>
            <a:endParaRPr/>
          </a:p>
          <a:p>
            <a:pPr indent="-228600" lvl="2" marL="1143000" rtl="0" algn="l">
              <a:lnSpc>
                <a:spcPct val="90000"/>
              </a:lnSpc>
              <a:spcBef>
                <a:spcPts val="280"/>
              </a:spcBef>
              <a:spcAft>
                <a:spcPts val="0"/>
              </a:spcAft>
              <a:buSzPts val="840"/>
              <a:buChar char="●"/>
            </a:pPr>
            <a:r>
              <a:rPr lang="en-US" sz="1400"/>
              <a:t>….</a:t>
            </a:r>
            <a:endParaRPr/>
          </a:p>
          <a:p>
            <a:pPr indent="-228600" lvl="2" marL="1143000" rtl="0" algn="l">
              <a:lnSpc>
                <a:spcPct val="90000"/>
              </a:lnSpc>
              <a:spcBef>
                <a:spcPts val="280"/>
              </a:spcBef>
              <a:spcAft>
                <a:spcPts val="0"/>
              </a:spcAft>
              <a:buSzPts val="840"/>
              <a:buChar char="●"/>
            </a:pPr>
            <a:r>
              <a:rPr lang="en-US" sz="1400"/>
              <a:t>Void *generic_sb;</a:t>
            </a:r>
            <a:endParaRPr/>
          </a:p>
          <a:p>
            <a:pPr indent="-228600" lvl="2" marL="1143000" rtl="0" algn="l">
              <a:lnSpc>
                <a:spcPct val="90000"/>
              </a:lnSpc>
              <a:spcBef>
                <a:spcPts val="280"/>
              </a:spcBef>
              <a:spcAft>
                <a:spcPts val="0"/>
              </a:spcAft>
              <a:buSzPts val="840"/>
              <a:buChar char="●"/>
            </a:pPr>
            <a:r>
              <a:rPr lang="en-US" sz="1400"/>
              <a:t>}u;</a:t>
            </a:r>
            <a:endParaRPr/>
          </a:p>
          <a:p>
            <a:pPr indent="-271780" lvl="0" marL="342900" rtl="0" algn="l">
              <a:lnSpc>
                <a:spcPct val="100000"/>
              </a:lnSpc>
              <a:spcBef>
                <a:spcPts val="280"/>
              </a:spcBef>
              <a:spcAft>
                <a:spcPts val="0"/>
              </a:spcAft>
              <a:buClr>
                <a:schemeClr val="dk1"/>
              </a:buClr>
              <a:buSzPts val="1120"/>
              <a:buFont typeface="Arial"/>
              <a:buNone/>
            </a:pPr>
            <a:r>
              <a:t/>
            </a:r>
            <a:endParaRPr sz="1400"/>
          </a:p>
          <a:p>
            <a:pPr indent="0" lvl="0" marL="0" rtl="0" algn="l">
              <a:lnSpc>
                <a:spcPct val="100000"/>
              </a:lnSpc>
              <a:spcBef>
                <a:spcPts val="360"/>
              </a:spcBef>
              <a:spcAft>
                <a:spcPts val="0"/>
              </a:spcAft>
              <a:buSzPts val="144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685800" y="152400"/>
            <a:ext cx="7696200" cy="457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Locking/Unlocking superblock</a:t>
            </a:r>
            <a:endParaRPr/>
          </a:p>
        </p:txBody>
      </p:sp>
      <p:sp>
        <p:nvSpPr>
          <p:cNvPr id="245" name="Google Shape;245;p33"/>
          <p:cNvSpPr txBox="1"/>
          <p:nvPr>
            <p:ph idx="1" type="body"/>
          </p:nvPr>
        </p:nvSpPr>
        <p:spPr>
          <a:xfrm>
            <a:off x="762000" y="685800"/>
            <a:ext cx="76962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lt1"/>
              </a:buClr>
              <a:buSzPts val="2020"/>
              <a:buChar char="●"/>
            </a:pPr>
            <a:r>
              <a:rPr lang="en-US" sz="1200">
                <a:latin typeface="Arial"/>
                <a:ea typeface="Arial"/>
                <a:cs typeface="Arial"/>
                <a:sym typeface="Arial"/>
              </a:rPr>
              <a:t>In a multitasking OS like UNIX, </a:t>
            </a:r>
            <a:r>
              <a:rPr b="1" lang="en-US" sz="1200">
                <a:latin typeface="Arial"/>
                <a:ea typeface="Arial"/>
                <a:cs typeface="Arial"/>
                <a:sym typeface="Arial"/>
              </a:rPr>
              <a:t>multiple processes</a:t>
            </a:r>
            <a:r>
              <a:rPr lang="en-US" sz="1200">
                <a:latin typeface="Arial"/>
                <a:ea typeface="Arial"/>
                <a:cs typeface="Arial"/>
                <a:sym typeface="Arial"/>
              </a:rPr>
              <a:t> (or threads inside the kernel) might try to </a:t>
            </a:r>
            <a:r>
              <a:rPr b="1" lang="en-US" sz="1200">
                <a:latin typeface="Arial"/>
                <a:ea typeface="Arial"/>
                <a:cs typeface="Arial"/>
                <a:sym typeface="Arial"/>
              </a:rPr>
              <a:t>read or modify</a:t>
            </a:r>
            <a:r>
              <a:rPr lang="en-US" sz="1200">
                <a:latin typeface="Arial"/>
                <a:ea typeface="Arial"/>
                <a:cs typeface="Arial"/>
                <a:sym typeface="Arial"/>
              </a:rPr>
              <a:t> the same superblock at the same time.</a:t>
            </a:r>
            <a:br>
              <a:rPr lang="en-US" sz="1200">
                <a:latin typeface="Arial"/>
                <a:ea typeface="Arial"/>
                <a:cs typeface="Arial"/>
                <a:sym typeface="Arial"/>
              </a:rPr>
            </a:br>
            <a:endParaRPr sz="1200">
              <a:latin typeface="Arial"/>
              <a:ea typeface="Arial"/>
              <a:cs typeface="Arial"/>
              <a:sym typeface="Arial"/>
            </a:endParaRPr>
          </a:p>
          <a:p>
            <a:pPr indent="-342900" lvl="0" marL="342900" rtl="0" algn="l">
              <a:lnSpc>
                <a:spcPct val="100000"/>
              </a:lnSpc>
              <a:spcBef>
                <a:spcPts val="0"/>
              </a:spcBef>
              <a:spcAft>
                <a:spcPts val="0"/>
              </a:spcAft>
              <a:buClr>
                <a:schemeClr val="lt1"/>
              </a:buClr>
              <a:buSzPts val="2020"/>
              <a:buChar char="●"/>
            </a:pPr>
            <a:r>
              <a:rPr lang="en-US" sz="1200">
                <a:latin typeface="Arial"/>
                <a:ea typeface="Arial"/>
                <a:cs typeface="Arial"/>
                <a:sym typeface="Arial"/>
              </a:rPr>
              <a:t>If two things change it at once, data can become </a:t>
            </a:r>
            <a:r>
              <a:rPr b="1" lang="en-US" sz="1200">
                <a:latin typeface="Arial"/>
                <a:ea typeface="Arial"/>
                <a:cs typeface="Arial"/>
                <a:sym typeface="Arial"/>
              </a:rPr>
              <a:t>corrupted</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342900" lvl="0" marL="342900" rtl="0" algn="l">
              <a:lnSpc>
                <a:spcPct val="100000"/>
              </a:lnSpc>
              <a:spcBef>
                <a:spcPts val="0"/>
              </a:spcBef>
              <a:spcAft>
                <a:spcPts val="0"/>
              </a:spcAft>
              <a:buClr>
                <a:schemeClr val="lt1"/>
              </a:buClr>
              <a:buSzPts val="2020"/>
              <a:buChar char="●"/>
            </a:pPr>
            <a:r>
              <a:rPr b="1" lang="en-US" sz="1200">
                <a:latin typeface="Arial"/>
                <a:ea typeface="Arial"/>
                <a:cs typeface="Arial"/>
                <a:sym typeface="Arial"/>
              </a:rPr>
              <a:t>Locking</a:t>
            </a:r>
            <a:r>
              <a:rPr lang="en-US" sz="1200">
                <a:latin typeface="Arial"/>
                <a:ea typeface="Arial"/>
                <a:cs typeface="Arial"/>
                <a:sym typeface="Arial"/>
              </a:rPr>
              <a:t> ensures that </a:t>
            </a:r>
            <a:r>
              <a:rPr b="1" lang="en-US" sz="1200">
                <a:latin typeface="Arial"/>
                <a:ea typeface="Arial"/>
                <a:cs typeface="Arial"/>
                <a:sym typeface="Arial"/>
              </a:rPr>
              <a:t>only one process</a:t>
            </a:r>
            <a:r>
              <a:rPr lang="en-US" sz="1200">
                <a:latin typeface="Arial"/>
                <a:ea typeface="Arial"/>
                <a:cs typeface="Arial"/>
                <a:sym typeface="Arial"/>
              </a:rPr>
              <a:t> can access/modify the superblock at a time.</a:t>
            </a:r>
            <a:endParaRPr sz="1200">
              <a:latin typeface="Arial"/>
              <a:ea typeface="Arial"/>
              <a:cs typeface="Arial"/>
              <a:sym typeface="Arial"/>
            </a:endParaRPr>
          </a:p>
          <a:p>
            <a:pPr indent="-327660" lvl="0" marL="342900" rtl="0" algn="l">
              <a:lnSpc>
                <a:spcPct val="100000"/>
              </a:lnSpc>
              <a:spcBef>
                <a:spcPts val="0"/>
              </a:spcBef>
              <a:spcAft>
                <a:spcPts val="0"/>
              </a:spcAft>
              <a:buSzPts val="1200"/>
              <a:buFont typeface="Arial"/>
              <a:buChar char="●"/>
            </a:pPr>
            <a:r>
              <a:t/>
            </a:r>
            <a:endParaRPr sz="1200">
              <a:latin typeface="Arial"/>
              <a:ea typeface="Arial"/>
              <a:cs typeface="Arial"/>
              <a:sym typeface="Arial"/>
            </a:endParaRPr>
          </a:p>
          <a:p>
            <a:pPr indent="0" lvl="0" marL="0" rtl="0" algn="l">
              <a:lnSpc>
                <a:spcPct val="100000"/>
              </a:lnSpc>
              <a:spcBef>
                <a:spcPts val="0"/>
              </a:spcBef>
              <a:spcAft>
                <a:spcPts val="0"/>
              </a:spcAft>
              <a:buSzPts val="1440"/>
              <a:buNone/>
            </a:pPr>
            <a:r>
              <a:rPr lang="en-US" sz="1900"/>
              <a:t>WORKING:</a:t>
            </a:r>
            <a:br>
              <a:rPr lang="en-US"/>
            </a:br>
            <a:r>
              <a:rPr lang="en-US" sz="1200">
                <a:latin typeface="Arial"/>
                <a:ea typeface="Arial"/>
                <a:cs typeface="Arial"/>
                <a:sym typeface="Arial"/>
              </a:rPr>
              <a:t>The kernel uses a </a:t>
            </a:r>
            <a:r>
              <a:rPr b="1" lang="en-US" sz="1200">
                <a:latin typeface="Arial"/>
                <a:ea typeface="Arial"/>
                <a:cs typeface="Arial"/>
                <a:sym typeface="Arial"/>
              </a:rPr>
              <a:t>flag</a:t>
            </a:r>
            <a:r>
              <a:rPr lang="en-US" sz="1200">
                <a:latin typeface="Arial"/>
                <a:ea typeface="Arial"/>
                <a:cs typeface="Arial"/>
                <a:sym typeface="Arial"/>
              </a:rPr>
              <a:t> inside </a:t>
            </a:r>
            <a:r>
              <a:rPr lang="en-US" sz="1200">
                <a:latin typeface="Roboto Mono"/>
                <a:ea typeface="Roboto Mono"/>
                <a:cs typeface="Roboto Mono"/>
                <a:sym typeface="Roboto Mono"/>
              </a:rPr>
              <a:t>struct super_block</a:t>
            </a:r>
            <a:r>
              <a:rPr lang="en-US" sz="1200">
                <a:latin typeface="Arial"/>
                <a:ea typeface="Arial"/>
                <a:cs typeface="Arial"/>
                <a:sym typeface="Arial"/>
              </a:rPr>
              <a:t> (e.g., </a:t>
            </a:r>
            <a:r>
              <a:rPr lang="en-US" sz="1200">
                <a:latin typeface="Roboto Mono"/>
                <a:ea typeface="Roboto Mono"/>
                <a:cs typeface="Roboto Mono"/>
                <a:sym typeface="Roboto Mono"/>
              </a:rPr>
              <a:t>s_lock</a:t>
            </a:r>
            <a:r>
              <a:rPr lang="en-US" sz="1200">
                <a:latin typeface="Arial"/>
                <a:ea typeface="Arial"/>
                <a:cs typeface="Arial"/>
                <a:sym typeface="Arial"/>
              </a:rPr>
              <a:t>) to mark whether it’s in use.</a:t>
            </a:r>
            <a:br>
              <a:rPr lang="en-US" sz="1200">
                <a:latin typeface="Arial"/>
                <a:ea typeface="Arial"/>
                <a:cs typeface="Arial"/>
                <a:sym typeface="Arial"/>
              </a:rPr>
            </a:br>
            <a:endParaRPr sz="12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n-US" sz="1200">
                <a:latin typeface="Arial"/>
                <a:ea typeface="Arial"/>
                <a:cs typeface="Arial"/>
                <a:sym typeface="Arial"/>
              </a:rPr>
              <a:t>Locking</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lang="en-US" sz="1200">
                <a:latin typeface="Arial"/>
                <a:ea typeface="Arial"/>
                <a:cs typeface="Arial"/>
                <a:sym typeface="Arial"/>
              </a:rPr>
              <a:t>If </a:t>
            </a:r>
            <a:r>
              <a:rPr lang="en-US" sz="1200">
                <a:latin typeface="Roboto Mono"/>
                <a:ea typeface="Roboto Mono"/>
                <a:cs typeface="Roboto Mono"/>
                <a:sym typeface="Roboto Mono"/>
              </a:rPr>
              <a:t>s_lock</a:t>
            </a:r>
            <a:r>
              <a:rPr lang="en-US" sz="1200">
                <a:latin typeface="Arial"/>
                <a:ea typeface="Arial"/>
                <a:cs typeface="Arial"/>
                <a:sym typeface="Arial"/>
              </a:rPr>
              <a:t> is already set → another process is using it → wait until it’s free.</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Arial"/>
                <a:ea typeface="Arial"/>
                <a:cs typeface="Arial"/>
                <a:sym typeface="Arial"/>
              </a:rPr>
              <a:t>If not set → set it to 1 and proceed.</a:t>
            </a:r>
            <a:br>
              <a:rPr lang="en-US" sz="1200">
                <a:latin typeface="Arial"/>
                <a:ea typeface="Arial"/>
                <a:cs typeface="Arial"/>
                <a:sym typeface="Arial"/>
              </a:rPr>
            </a:br>
            <a:endParaRPr sz="12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200">
                <a:latin typeface="Arial"/>
                <a:ea typeface="Arial"/>
                <a:cs typeface="Arial"/>
                <a:sym typeface="Arial"/>
              </a:rPr>
              <a:t>Unlocking</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lang="en-US" sz="1200">
                <a:latin typeface="Arial"/>
                <a:ea typeface="Arial"/>
                <a:cs typeface="Arial"/>
                <a:sym typeface="Arial"/>
              </a:rPr>
              <a:t>Set </a:t>
            </a:r>
            <a:r>
              <a:rPr lang="en-US" sz="1200">
                <a:latin typeface="Roboto Mono"/>
                <a:ea typeface="Roboto Mono"/>
                <a:cs typeface="Roboto Mono"/>
                <a:sym typeface="Roboto Mono"/>
              </a:rPr>
              <a:t>s_lock</a:t>
            </a:r>
            <a:r>
              <a:rPr lang="en-US" sz="1200">
                <a:latin typeface="Arial"/>
                <a:ea typeface="Arial"/>
                <a:cs typeface="Arial"/>
                <a:sym typeface="Arial"/>
              </a:rPr>
              <a:t> back to 0.</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Arial"/>
                <a:ea typeface="Arial"/>
                <a:cs typeface="Arial"/>
                <a:sym typeface="Arial"/>
              </a:rPr>
              <a:t>Wake up any processes waiting to use it.</a:t>
            </a:r>
            <a:endParaRPr sz="1200">
              <a:latin typeface="Arial"/>
              <a:ea typeface="Arial"/>
              <a:cs typeface="Arial"/>
              <a:sym typeface="Arial"/>
            </a:endParaRPr>
          </a:p>
          <a:p>
            <a:pPr indent="0" lvl="0" marL="0" rtl="0" algn="l">
              <a:lnSpc>
                <a:spcPct val="100000"/>
              </a:lnSpc>
              <a:spcBef>
                <a:spcPts val="1200"/>
              </a:spcBef>
              <a:spcAft>
                <a:spcPts val="0"/>
              </a:spcAft>
              <a:buSzPts val="144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idx="1" type="body"/>
          </p:nvPr>
        </p:nvSpPr>
        <p:spPr>
          <a:xfrm>
            <a:off x="685800" y="483325"/>
            <a:ext cx="7772400" cy="5612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20"/>
              <a:buChar char="●"/>
            </a:pPr>
            <a:r>
              <a:rPr lang="en-US" sz="2400"/>
              <a:t>Lock_super(struct super_block *sb)</a:t>
            </a:r>
            <a:endParaRPr/>
          </a:p>
          <a:p>
            <a:pPr indent="-342900" lvl="0" marL="342900" rtl="0" algn="l">
              <a:lnSpc>
                <a:spcPct val="100000"/>
              </a:lnSpc>
              <a:spcBef>
                <a:spcPts val="480"/>
              </a:spcBef>
              <a:spcAft>
                <a:spcPts val="0"/>
              </a:spcAft>
              <a:buSzPts val="1920"/>
              <a:buChar char="●"/>
            </a:pPr>
            <a:r>
              <a:rPr lang="en-US" sz="2400"/>
              <a:t>{</a:t>
            </a:r>
            <a:endParaRPr/>
          </a:p>
          <a:p>
            <a:pPr indent="-285750" lvl="1" marL="742950" rtl="0" algn="l">
              <a:lnSpc>
                <a:spcPct val="100000"/>
              </a:lnSpc>
              <a:spcBef>
                <a:spcPts val="400"/>
              </a:spcBef>
              <a:spcAft>
                <a:spcPts val="0"/>
              </a:spcAft>
              <a:buSzPts val="1800"/>
              <a:buChar char="–"/>
            </a:pPr>
            <a:r>
              <a:rPr lang="en-US" sz="2000"/>
              <a:t>If(sb-&gt;s_lock) __wait_on_super(sb);</a:t>
            </a:r>
            <a:endParaRPr/>
          </a:p>
          <a:p>
            <a:pPr indent="-285750" lvl="1" marL="742950" rtl="0" algn="l">
              <a:lnSpc>
                <a:spcPct val="100000"/>
              </a:lnSpc>
              <a:spcBef>
                <a:spcPts val="400"/>
              </a:spcBef>
              <a:spcAft>
                <a:spcPts val="0"/>
              </a:spcAft>
              <a:buSzPts val="1800"/>
              <a:buChar char="–"/>
            </a:pPr>
            <a:r>
              <a:rPr lang="en-US" sz="2000"/>
              <a:t>Sb-&gt;s_lock=1;</a:t>
            </a:r>
            <a:endParaRPr/>
          </a:p>
          <a:p>
            <a:pPr indent="-285750" lvl="1" marL="742950" rtl="0" algn="l">
              <a:lnSpc>
                <a:spcPct val="100000"/>
              </a:lnSpc>
              <a:spcBef>
                <a:spcPts val="400"/>
              </a:spcBef>
              <a:spcAft>
                <a:spcPts val="0"/>
              </a:spcAft>
              <a:buSzPts val="1800"/>
              <a:buChar char="–"/>
            </a:pPr>
            <a:r>
              <a:rPr b="1" lang="en-US" sz="2000"/>
              <a:t>}</a:t>
            </a:r>
            <a:r>
              <a:rPr lang="en-US" sz="2000"/>
              <a:t>                                                                                                                                                                 </a:t>
            </a:r>
            <a:endParaRPr/>
          </a:p>
          <a:p>
            <a:pPr indent="-171450" lvl="1" marL="742950" rtl="0" algn="l">
              <a:lnSpc>
                <a:spcPct val="100000"/>
              </a:lnSpc>
              <a:spcBef>
                <a:spcPts val="400"/>
              </a:spcBef>
              <a:spcAft>
                <a:spcPts val="0"/>
              </a:spcAft>
              <a:buClr>
                <a:schemeClr val="lt1"/>
              </a:buClr>
              <a:buSzPts val="1800"/>
              <a:buFont typeface="Times New Roman"/>
              <a:buNone/>
            </a:pPr>
            <a:r>
              <a:t/>
            </a:r>
            <a:endParaRPr sz="2000"/>
          </a:p>
          <a:p>
            <a:pPr indent="-285750" lvl="1" marL="742950" rtl="0" algn="l">
              <a:lnSpc>
                <a:spcPct val="100000"/>
              </a:lnSpc>
              <a:spcBef>
                <a:spcPts val="400"/>
              </a:spcBef>
              <a:spcAft>
                <a:spcPts val="0"/>
              </a:spcAft>
              <a:buSzPts val="1800"/>
              <a:buChar char="–"/>
            </a:pPr>
            <a:r>
              <a:rPr b="1" lang="en-US" sz="2000"/>
              <a:t>unlock_super(struct super_block *sb)</a:t>
            </a:r>
            <a:endParaRPr/>
          </a:p>
          <a:p>
            <a:pPr indent="-285750" lvl="1" marL="742950" rtl="0" algn="l">
              <a:lnSpc>
                <a:spcPct val="100000"/>
              </a:lnSpc>
              <a:spcBef>
                <a:spcPts val="400"/>
              </a:spcBef>
              <a:spcAft>
                <a:spcPts val="0"/>
              </a:spcAft>
              <a:buSzPts val="1800"/>
              <a:buChar char="–"/>
            </a:pPr>
            <a:r>
              <a:rPr b="1" lang="en-US" sz="2000"/>
              <a:t>{</a:t>
            </a:r>
            <a:endParaRPr/>
          </a:p>
          <a:p>
            <a:pPr indent="-285750" lvl="1" marL="742950" rtl="0" algn="l">
              <a:lnSpc>
                <a:spcPct val="100000"/>
              </a:lnSpc>
              <a:spcBef>
                <a:spcPts val="400"/>
              </a:spcBef>
              <a:spcAft>
                <a:spcPts val="0"/>
              </a:spcAft>
              <a:buSzPts val="1800"/>
              <a:buChar char="–"/>
            </a:pPr>
            <a:r>
              <a:rPr lang="en-US" sz="2000"/>
              <a:t>sb-&gt;s_lock=0;</a:t>
            </a:r>
            <a:endParaRPr/>
          </a:p>
          <a:p>
            <a:pPr indent="-285750" lvl="1" marL="742950" rtl="0" algn="l">
              <a:lnSpc>
                <a:spcPct val="100000"/>
              </a:lnSpc>
              <a:spcBef>
                <a:spcPts val="400"/>
              </a:spcBef>
              <a:spcAft>
                <a:spcPts val="0"/>
              </a:spcAft>
              <a:buSzPts val="1800"/>
              <a:buChar char="–"/>
            </a:pPr>
            <a:r>
              <a:rPr lang="en-US" sz="2000"/>
              <a:t>wake_up(&amp;sb-&gt;s_wait);</a:t>
            </a:r>
            <a:endParaRPr/>
          </a:p>
          <a:p>
            <a:pPr indent="-285750" lvl="1" marL="742950" rtl="0" algn="l">
              <a:lnSpc>
                <a:spcPct val="100000"/>
              </a:lnSpc>
              <a:spcBef>
                <a:spcPts val="400"/>
              </a:spcBef>
              <a:spcAft>
                <a:spcPts val="0"/>
              </a:spcAft>
              <a:buSzPts val="1800"/>
              <a:buChar char="–"/>
            </a:pPr>
            <a:r>
              <a:rPr b="1" lang="en-US" sz="2000"/>
              <a:t>}</a:t>
            </a:r>
            <a:endParaRPr/>
          </a:p>
          <a:p>
            <a:pPr indent="-285750" lvl="1" marL="742950" rtl="0" algn="l">
              <a:lnSpc>
                <a:spcPct val="100000"/>
              </a:lnSpc>
              <a:spcBef>
                <a:spcPts val="400"/>
              </a:spcBef>
              <a:spcAft>
                <a:spcPts val="0"/>
              </a:spcAft>
              <a:buSzPts val="1800"/>
              <a:buChar char="–"/>
            </a:pPr>
            <a:r>
              <a:rPr lang="en-US" sz="2000"/>
              <a:t>The read_super( ) function in the file system specific implementation should also make the root inode available using the function iget( );</a:t>
            </a:r>
            <a:endParaRPr/>
          </a:p>
          <a:p>
            <a:pPr indent="0" lvl="0" marL="0" rtl="0" algn="l">
              <a:lnSpc>
                <a:spcPct val="100000"/>
              </a:lnSpc>
              <a:spcBef>
                <a:spcPts val="360"/>
              </a:spcBef>
              <a:spcAft>
                <a:spcPts val="0"/>
              </a:spcAft>
              <a:buSzPts val="144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685800" y="228600"/>
            <a:ext cx="7620000" cy="381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Superblock operations</a:t>
            </a:r>
            <a:endParaRPr/>
          </a:p>
        </p:txBody>
      </p:sp>
      <p:sp>
        <p:nvSpPr>
          <p:cNvPr id="258" name="Google Shape;258;p35"/>
          <p:cNvSpPr txBox="1"/>
          <p:nvPr>
            <p:ph idx="1" type="body"/>
          </p:nvPr>
        </p:nvSpPr>
        <p:spPr>
          <a:xfrm>
            <a:off x="609600" y="685800"/>
            <a:ext cx="8153400" cy="5943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s_op points to a vector of functions for accessing the file system.</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super_operations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(*read_inode)(struct inode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Int (*notify_change)(struct inode *,struct iattr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(*write_inode)(struct inode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(*put_inode)(struct inode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(*put_super)(struct super_block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(*write_super)(struct super_block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(*statfs)(struct super_block *,struct statfs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(*remount_fs)(struct super_block *,int *,char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These functions serve to translate the specific representation of the superblock and inode on data media to their general form in memory and vice-versa.Does every file system have a superblock and inode?</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Elaborating a little more…</a:t>
            </a:r>
            <a:endParaRPr/>
          </a:p>
          <a:p>
            <a:pPr indent="-241300" lvl="0" marL="342900" rtl="0" algn="l">
              <a:lnSpc>
                <a:spcPct val="100000"/>
              </a:lnSpc>
              <a:spcBef>
                <a:spcPts val="400"/>
              </a:spcBef>
              <a:spcAft>
                <a:spcPts val="0"/>
              </a:spcAft>
              <a:buSzPts val="1600"/>
              <a:buNone/>
            </a:pPr>
            <a:r>
              <a:t/>
            </a:r>
            <a:endParaRPr b="0" i="0" sz="2000" u="none">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body"/>
          </p:nvPr>
        </p:nvSpPr>
        <p:spPr>
          <a:xfrm>
            <a:off x="838200" y="228600"/>
            <a:ext cx="7848600" cy="6324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Write_super(sb)</a:t>
            </a:r>
            <a:r>
              <a:rPr b="0" i="0" lang="en-US" sz="2000" u="none">
                <a:solidFill>
                  <a:schemeClr val="lt1"/>
                </a:solidFill>
                <a:latin typeface="Times New Roman"/>
                <a:ea typeface="Times New Roman"/>
                <a:cs typeface="Times New Roman"/>
                <a:sym typeface="Times New Roman"/>
              </a:rPr>
              <a:t> : saves info on super block.Used in synchronising the device.dirty bit is set in buffer.</a:t>
            </a:r>
            <a:endParaRPr/>
          </a:p>
          <a:p>
            <a:pPr indent="-342900" lvl="0" marL="34290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Put_super(sb) :</a:t>
            </a:r>
            <a:r>
              <a:rPr b="0" i="0" lang="en-US" sz="2000" u="none">
                <a:solidFill>
                  <a:schemeClr val="lt1"/>
                </a:solidFill>
                <a:latin typeface="Times New Roman"/>
                <a:ea typeface="Times New Roman"/>
                <a:cs typeface="Times New Roman"/>
                <a:sym typeface="Times New Roman"/>
              </a:rPr>
              <a:t> Called when unmounting file systems.Releases super_block and buffers used.restores consistency if necessary.super_block structure can be reused.</a:t>
            </a:r>
            <a:endParaRPr/>
          </a:p>
          <a:p>
            <a:pPr indent="-342900" lvl="0" marL="34290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Statfs(sb,statfsbuf)</a:t>
            </a:r>
            <a:r>
              <a:rPr b="0" i="0" lang="en-US" sz="2000" u="none">
                <a:solidFill>
                  <a:schemeClr val="lt1"/>
                </a:solidFill>
                <a:latin typeface="Times New Roman"/>
                <a:ea typeface="Times New Roman"/>
                <a:cs typeface="Times New Roman"/>
                <a:sym typeface="Times New Roman"/>
              </a:rPr>
              <a:t> : fills the statfs structure with file system information.</a:t>
            </a:r>
            <a:endParaRPr/>
          </a:p>
          <a:p>
            <a:pPr indent="-342900" lvl="0" marL="34290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Remount_fs(sb,flags,options)</a:t>
            </a:r>
            <a:r>
              <a:rPr b="0" i="0" lang="en-US" sz="2000" u="none">
                <a:solidFill>
                  <a:schemeClr val="lt1"/>
                </a:solidFill>
                <a:latin typeface="Times New Roman"/>
                <a:ea typeface="Times New Roman"/>
                <a:cs typeface="Times New Roman"/>
                <a:sym typeface="Times New Roman"/>
              </a:rPr>
              <a:t> : new attributes for file system and restoring consistency.</a:t>
            </a:r>
            <a:endParaRPr/>
          </a:p>
          <a:p>
            <a:pPr indent="-342900" lvl="0" marL="342900" rtl="0" algn="l">
              <a:lnSpc>
                <a:spcPct val="100000"/>
              </a:lnSpc>
              <a:spcBef>
                <a:spcPts val="400"/>
              </a:spcBef>
              <a:spcAft>
                <a:spcPts val="0"/>
              </a:spcAft>
              <a:buClr>
                <a:schemeClr val="accent2"/>
              </a:buClr>
              <a:buSzPts val="1600"/>
              <a:buFont typeface="Noto Sans Symbols"/>
              <a:buChar char="●"/>
            </a:pPr>
            <a:r>
              <a:rPr b="1" i="0" lang="en-US" sz="2000" u="none">
                <a:solidFill>
                  <a:schemeClr val="lt1"/>
                </a:solidFill>
                <a:latin typeface="Times New Roman"/>
                <a:ea typeface="Times New Roman"/>
                <a:cs typeface="Times New Roman"/>
                <a:sym typeface="Times New Roman"/>
              </a:rPr>
              <a:t>Read_inode(inode)</a:t>
            </a:r>
            <a:r>
              <a:rPr b="0" i="0" lang="en-US" sz="2000" u="none">
                <a:solidFill>
                  <a:schemeClr val="lt1"/>
                </a:solidFill>
                <a:latin typeface="Times New Roman"/>
                <a:ea typeface="Times New Roman"/>
                <a:cs typeface="Times New Roman"/>
                <a:sym typeface="Times New Roman"/>
              </a:rPr>
              <a:t> : fills in the inode structure.Marks different file types by using different inode_operations struct.for example</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If(S_ISREG(inode-&gt;I_mode)</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Inode-&gt;I_op=&amp;ext2_file_inode_operations;</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Else if(S_ISDIR(inode-&gt;I_mode)</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Inode-&gt;I_op=&amp;ext2_dir_inode_operations;</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Else if(S_ISLNK(inode-&gt;I-mode)</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Inode-&gt;I_op=&amp;ext2_symlink_inode_operations;</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…….Similiarly for character devices,block devices,fifos,etc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body"/>
          </p:nvPr>
        </p:nvSpPr>
        <p:spPr>
          <a:xfrm>
            <a:off x="838200" y="228600"/>
            <a:ext cx="7848600" cy="6324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Notify_change(inode,attr) : changes made to inode are acknowledged by this function.It is of interest only in NFS/Coda etc.Why?Each file on such a system has a local and a remote inode.The remote file system is informed of the change using iattr.</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Write_inode(inode) : saves inode structure.</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Put_inode(inode) : if inode is no longer required.Called when deleting file and release its blocks.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INODE</a:t>
            </a:r>
            <a:endParaRPr/>
          </a:p>
        </p:txBody>
      </p:sp>
      <p:sp>
        <p:nvSpPr>
          <p:cNvPr id="274" name="Google Shape;274;p38"/>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Kdev_t I_dev;</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Unsigned long I_ino;</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Umode_t  I_mode;</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Nlink_t I_nlinkl;</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Uid,gid etc….</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Dev_t I_rdev; /* only if device special file */</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Offset,times of modification,access,creation etc</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semaphore *I_sem;</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inode_operations *I_op;</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super_block *I_sb;</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wait_queue (I_wait;</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file_lock *I_flock;</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vm_area_struct *I_mmap;</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*I_next,*I_prev;</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*I_hash_next,*I_hash_prev;</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*I_boundto;</a:t>
            </a:r>
            <a:endParaRPr/>
          </a:p>
          <a:p>
            <a:pPr indent="-241300" lvl="0" marL="342900" rtl="0" algn="l">
              <a:lnSpc>
                <a:spcPct val="100000"/>
              </a:lnSpc>
              <a:spcBef>
                <a:spcPts val="400"/>
              </a:spcBef>
              <a:spcAft>
                <a:spcPts val="0"/>
              </a:spcAft>
              <a:buSzPts val="1600"/>
              <a:buNone/>
            </a:pPr>
            <a:r>
              <a:t/>
            </a:r>
            <a:endParaRPr b="0" i="0" sz="2000" u="none">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9"/>
          <p:cNvSpPr txBox="1"/>
          <p:nvPr>
            <p:ph type="title"/>
          </p:nvPr>
        </p:nvSpPr>
        <p:spPr>
          <a:xfrm>
            <a:off x="606425" y="115887"/>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ext2 inodes</a:t>
            </a:r>
            <a:endParaRPr/>
          </a:p>
        </p:txBody>
      </p:sp>
      <p:graphicFrame>
        <p:nvGraphicFramePr>
          <p:cNvPr id="280" name="Google Shape;280;p39"/>
          <p:cNvGraphicFramePr/>
          <p:nvPr/>
        </p:nvGraphicFramePr>
        <p:xfrm>
          <a:off x="606425" y="1057275"/>
          <a:ext cx="3000000" cy="3000000"/>
        </p:xfrm>
        <a:graphic>
          <a:graphicData uri="http://schemas.openxmlformats.org/drawingml/2006/table">
            <a:tbl>
              <a:tblPr>
                <a:noFill/>
                <a:tableStyleId>{3167807B-D8D3-42E1-AE69-5896FB793E06}</a:tableStyleId>
              </a:tblPr>
              <a:tblGrid>
                <a:gridCol w="1435100"/>
                <a:gridCol w="1420800"/>
                <a:gridCol w="5154600"/>
              </a:tblGrid>
              <a:tr h="395275">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Size (bytes)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Name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What is this field for?</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mode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Read/write/execute?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uid</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User ID of the file owner</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r h="3952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size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Size of the file in bytes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Last access 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r h="3952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ctime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Creation 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mtime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Last modification 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dtime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Deletion time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52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gid</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Group ID of the file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links_count</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How many hard links point to this file?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52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blocks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How many data blocks are allocated to this file?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4</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flags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File or directory? Plus, other simple flags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FFFF"/>
                    </a:solidFill>
                  </a:tcPr>
                </a:tc>
              </a:tr>
              <a:tr h="396875">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60</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block</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15 direct and indirect pointers to data blocks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FFF"/>
                    </a:solidFill>
                  </a:tcPr>
                </a:tc>
              </a:tr>
            </a:tbl>
          </a:graphicData>
        </a:graphic>
      </p:graphicFrame>
      <p:sp>
        <p:nvSpPr>
          <p:cNvPr id="281" name="Google Shape;281;p39"/>
          <p:cNvSpPr txBox="1"/>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2" name="Google Shape;282;p39"/>
          <p:cNvSpPr txBox="1"/>
          <p:nvPr/>
        </p:nvSpPr>
        <p:spPr>
          <a:xfrm>
            <a:off x="593725" y="5022850"/>
            <a:ext cx="8051800" cy="409575"/>
          </a:xfrm>
          <a:prstGeom prst="rect">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283" name="Google Shape;283;p39"/>
          <p:cNvSpPr txBox="1"/>
          <p:nvPr/>
        </p:nvSpPr>
        <p:spPr>
          <a:xfrm>
            <a:off x="593725" y="5816600"/>
            <a:ext cx="8051800" cy="409575"/>
          </a:xfrm>
          <a:prstGeom prst="rect">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457200" y="0"/>
            <a:ext cx="8229600" cy="831850"/>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inode Block Pointers</a:t>
            </a:r>
            <a:endParaRPr/>
          </a:p>
        </p:txBody>
      </p:sp>
      <p:sp>
        <p:nvSpPr>
          <p:cNvPr id="293" name="Google Shape;293;p40"/>
          <p:cNvSpPr txBox="1"/>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4" name="Google Shape;294;p40"/>
          <p:cNvSpPr txBox="1"/>
          <p:nvPr>
            <p:ph idx="1" type="body"/>
          </p:nvPr>
        </p:nvSpPr>
        <p:spPr>
          <a:xfrm>
            <a:off x="246062" y="825500"/>
            <a:ext cx="8680450" cy="1181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560"/>
              <a:buFont typeface="Noto Sans Symbols"/>
              <a:buChar char="●"/>
            </a:pPr>
            <a:r>
              <a:rPr b="0" i="0" lang="en-US" sz="3200" u="none">
                <a:solidFill>
                  <a:schemeClr val="lt1"/>
                </a:solidFill>
                <a:latin typeface="Times New Roman"/>
                <a:ea typeface="Times New Roman"/>
                <a:cs typeface="Times New Roman"/>
                <a:sym typeface="Times New Roman"/>
              </a:rPr>
              <a:t>Each inode is the root of an unbalanced tree of data blocks</a:t>
            </a:r>
            <a:endParaRPr/>
          </a:p>
        </p:txBody>
      </p:sp>
      <p:cxnSp>
        <p:nvCxnSpPr>
          <p:cNvPr id="295" name="Google Shape;295;p40"/>
          <p:cNvCxnSpPr/>
          <p:nvPr/>
        </p:nvCxnSpPr>
        <p:spPr>
          <a:xfrm flipH="1">
            <a:off x="641350" y="2090737"/>
            <a:ext cx="3811587" cy="615950"/>
          </a:xfrm>
          <a:prstGeom prst="straightConnector1">
            <a:avLst/>
          </a:prstGeom>
          <a:noFill/>
          <a:ln cap="flat" cmpd="sng" w="57150">
            <a:solidFill>
              <a:srgbClr val="00007F"/>
            </a:solidFill>
            <a:prstDash val="solid"/>
            <a:miter lim="800000"/>
            <a:headEnd len="sm" w="sm" type="none"/>
            <a:tailEnd len="med" w="med" type="triangle"/>
          </a:ln>
        </p:spPr>
      </p:cxnSp>
      <p:cxnSp>
        <p:nvCxnSpPr>
          <p:cNvPr id="296" name="Google Shape;296;p40"/>
          <p:cNvCxnSpPr/>
          <p:nvPr/>
        </p:nvCxnSpPr>
        <p:spPr>
          <a:xfrm flipH="1">
            <a:off x="923925" y="2090737"/>
            <a:ext cx="3529012" cy="873125"/>
          </a:xfrm>
          <a:prstGeom prst="straightConnector1">
            <a:avLst/>
          </a:prstGeom>
          <a:noFill/>
          <a:ln cap="flat" cmpd="sng" w="57150">
            <a:solidFill>
              <a:srgbClr val="00007F"/>
            </a:solidFill>
            <a:prstDash val="solid"/>
            <a:miter lim="800000"/>
            <a:headEnd len="sm" w="sm" type="none"/>
            <a:tailEnd len="med" w="med" type="triangle"/>
          </a:ln>
        </p:spPr>
      </p:cxnSp>
      <p:cxnSp>
        <p:nvCxnSpPr>
          <p:cNvPr id="297" name="Google Shape;297;p40"/>
          <p:cNvCxnSpPr/>
          <p:nvPr/>
        </p:nvCxnSpPr>
        <p:spPr>
          <a:xfrm flipH="1">
            <a:off x="1225550" y="2090737"/>
            <a:ext cx="3227387" cy="1116012"/>
          </a:xfrm>
          <a:prstGeom prst="straightConnector1">
            <a:avLst/>
          </a:prstGeom>
          <a:noFill/>
          <a:ln cap="flat" cmpd="sng" w="57150">
            <a:solidFill>
              <a:srgbClr val="00007F"/>
            </a:solidFill>
            <a:prstDash val="solid"/>
            <a:miter lim="800000"/>
            <a:headEnd len="sm" w="sm" type="none"/>
            <a:tailEnd len="med" w="med" type="triangle"/>
          </a:ln>
        </p:spPr>
      </p:cxnSp>
      <p:cxnSp>
        <p:nvCxnSpPr>
          <p:cNvPr id="298" name="Google Shape;298;p40"/>
          <p:cNvCxnSpPr/>
          <p:nvPr/>
        </p:nvCxnSpPr>
        <p:spPr>
          <a:xfrm flipH="1">
            <a:off x="2928937" y="2090737"/>
            <a:ext cx="1524000" cy="757237"/>
          </a:xfrm>
          <a:prstGeom prst="straightConnector1">
            <a:avLst/>
          </a:prstGeom>
          <a:noFill/>
          <a:ln cap="flat" cmpd="sng" w="57150">
            <a:solidFill>
              <a:srgbClr val="00007F"/>
            </a:solidFill>
            <a:prstDash val="solid"/>
            <a:miter lim="800000"/>
            <a:headEnd len="sm" w="sm" type="none"/>
            <a:tailEnd len="med" w="med" type="triangle"/>
          </a:ln>
        </p:spPr>
      </p:cxnSp>
      <p:cxnSp>
        <p:nvCxnSpPr>
          <p:cNvPr id="299" name="Google Shape;299;p40"/>
          <p:cNvCxnSpPr/>
          <p:nvPr/>
        </p:nvCxnSpPr>
        <p:spPr>
          <a:xfrm flipH="1">
            <a:off x="2690812" y="3475037"/>
            <a:ext cx="238125" cy="639762"/>
          </a:xfrm>
          <a:prstGeom prst="straightConnector1">
            <a:avLst/>
          </a:prstGeom>
          <a:noFill/>
          <a:ln cap="flat" cmpd="sng" w="57150">
            <a:solidFill>
              <a:srgbClr val="00007F"/>
            </a:solidFill>
            <a:prstDash val="solid"/>
            <a:miter lim="800000"/>
            <a:headEnd len="sm" w="sm" type="none"/>
            <a:tailEnd len="med" w="med" type="triangle"/>
          </a:ln>
        </p:spPr>
      </p:cxnSp>
      <p:cxnSp>
        <p:nvCxnSpPr>
          <p:cNvPr id="300" name="Google Shape;300;p40"/>
          <p:cNvCxnSpPr/>
          <p:nvPr/>
        </p:nvCxnSpPr>
        <p:spPr>
          <a:xfrm flipH="1">
            <a:off x="2405062" y="3475037"/>
            <a:ext cx="523875" cy="482600"/>
          </a:xfrm>
          <a:prstGeom prst="straightConnector1">
            <a:avLst/>
          </a:prstGeom>
          <a:noFill/>
          <a:ln cap="flat" cmpd="sng" w="57150">
            <a:solidFill>
              <a:srgbClr val="00007F"/>
            </a:solidFill>
            <a:prstDash val="solid"/>
            <a:miter lim="800000"/>
            <a:headEnd len="sm" w="sm" type="none"/>
            <a:tailEnd len="med" w="med" type="triangle"/>
          </a:ln>
        </p:spPr>
      </p:cxnSp>
      <p:cxnSp>
        <p:nvCxnSpPr>
          <p:cNvPr id="301" name="Google Shape;301;p40"/>
          <p:cNvCxnSpPr/>
          <p:nvPr/>
        </p:nvCxnSpPr>
        <p:spPr>
          <a:xfrm flipH="1">
            <a:off x="2149475" y="3475037"/>
            <a:ext cx="779462" cy="374650"/>
          </a:xfrm>
          <a:prstGeom prst="straightConnector1">
            <a:avLst/>
          </a:prstGeom>
          <a:noFill/>
          <a:ln cap="flat" cmpd="sng" w="57150">
            <a:solidFill>
              <a:srgbClr val="00007F"/>
            </a:solidFill>
            <a:prstDash val="solid"/>
            <a:miter lim="800000"/>
            <a:headEnd len="sm" w="sm" type="none"/>
            <a:tailEnd len="med" w="med" type="triangle"/>
          </a:ln>
        </p:spPr>
      </p:cxnSp>
      <p:cxnSp>
        <p:nvCxnSpPr>
          <p:cNvPr id="302" name="Google Shape;302;p40"/>
          <p:cNvCxnSpPr/>
          <p:nvPr/>
        </p:nvCxnSpPr>
        <p:spPr>
          <a:xfrm flipH="1">
            <a:off x="3895725" y="4579937"/>
            <a:ext cx="606425" cy="409575"/>
          </a:xfrm>
          <a:prstGeom prst="straightConnector1">
            <a:avLst/>
          </a:prstGeom>
          <a:noFill/>
          <a:ln cap="flat" cmpd="sng" w="57150">
            <a:solidFill>
              <a:srgbClr val="00007F"/>
            </a:solidFill>
            <a:prstDash val="solid"/>
            <a:miter lim="800000"/>
            <a:headEnd len="sm" w="sm" type="none"/>
            <a:tailEnd len="med" w="med" type="triangle"/>
          </a:ln>
        </p:spPr>
      </p:cxnSp>
      <p:cxnSp>
        <p:nvCxnSpPr>
          <p:cNvPr id="303" name="Google Shape;303;p40"/>
          <p:cNvCxnSpPr/>
          <p:nvPr/>
        </p:nvCxnSpPr>
        <p:spPr>
          <a:xfrm>
            <a:off x="4502150" y="4579937"/>
            <a:ext cx="0" cy="652462"/>
          </a:xfrm>
          <a:prstGeom prst="straightConnector1">
            <a:avLst/>
          </a:prstGeom>
          <a:noFill/>
          <a:ln cap="flat" cmpd="sng" w="57150">
            <a:solidFill>
              <a:srgbClr val="00007F"/>
            </a:solidFill>
            <a:prstDash val="solid"/>
            <a:miter lim="800000"/>
            <a:headEnd len="sm" w="sm" type="none"/>
            <a:tailEnd len="med" w="med" type="triangle"/>
          </a:ln>
        </p:spPr>
      </p:cxnSp>
      <p:cxnSp>
        <p:nvCxnSpPr>
          <p:cNvPr id="304" name="Google Shape;304;p40"/>
          <p:cNvCxnSpPr/>
          <p:nvPr/>
        </p:nvCxnSpPr>
        <p:spPr>
          <a:xfrm flipH="1">
            <a:off x="4175125" y="4579937"/>
            <a:ext cx="327025" cy="541337"/>
          </a:xfrm>
          <a:prstGeom prst="straightConnector1">
            <a:avLst/>
          </a:prstGeom>
          <a:noFill/>
          <a:ln cap="flat" cmpd="sng" w="57150">
            <a:solidFill>
              <a:srgbClr val="00007F"/>
            </a:solidFill>
            <a:prstDash val="solid"/>
            <a:miter lim="800000"/>
            <a:headEnd len="sm" w="sm" type="none"/>
            <a:tailEnd len="med" w="med" type="triangle"/>
          </a:ln>
        </p:spPr>
      </p:cxnSp>
      <p:cxnSp>
        <p:nvCxnSpPr>
          <p:cNvPr id="305" name="Google Shape;305;p40"/>
          <p:cNvCxnSpPr/>
          <p:nvPr/>
        </p:nvCxnSpPr>
        <p:spPr>
          <a:xfrm>
            <a:off x="4452937" y="3370262"/>
            <a:ext cx="49212" cy="841375"/>
          </a:xfrm>
          <a:prstGeom prst="straightConnector1">
            <a:avLst/>
          </a:prstGeom>
          <a:noFill/>
          <a:ln cap="flat" cmpd="sng" w="57150">
            <a:solidFill>
              <a:srgbClr val="00007F"/>
            </a:solidFill>
            <a:prstDash val="solid"/>
            <a:miter lim="800000"/>
            <a:headEnd len="sm" w="sm" type="none"/>
            <a:tailEnd len="med" w="med" type="triangle"/>
          </a:ln>
        </p:spPr>
      </p:cxnSp>
      <p:cxnSp>
        <p:nvCxnSpPr>
          <p:cNvPr id="306" name="Google Shape;306;p40"/>
          <p:cNvCxnSpPr/>
          <p:nvPr/>
        </p:nvCxnSpPr>
        <p:spPr>
          <a:xfrm flipH="1">
            <a:off x="4208462" y="3370262"/>
            <a:ext cx="244475" cy="703262"/>
          </a:xfrm>
          <a:prstGeom prst="straightConnector1">
            <a:avLst/>
          </a:prstGeom>
          <a:noFill/>
          <a:ln cap="flat" cmpd="sng" w="57150">
            <a:solidFill>
              <a:srgbClr val="00007F"/>
            </a:solidFill>
            <a:prstDash val="solid"/>
            <a:miter lim="800000"/>
            <a:headEnd len="sm" w="sm" type="none"/>
            <a:tailEnd len="med" w="med" type="triangle"/>
          </a:ln>
        </p:spPr>
      </p:cxnSp>
      <p:cxnSp>
        <p:nvCxnSpPr>
          <p:cNvPr id="307" name="Google Shape;307;p40"/>
          <p:cNvCxnSpPr/>
          <p:nvPr/>
        </p:nvCxnSpPr>
        <p:spPr>
          <a:xfrm flipH="1">
            <a:off x="3895725" y="3370262"/>
            <a:ext cx="557212" cy="517525"/>
          </a:xfrm>
          <a:prstGeom prst="straightConnector1">
            <a:avLst/>
          </a:prstGeom>
          <a:noFill/>
          <a:ln cap="flat" cmpd="sng" w="57150">
            <a:solidFill>
              <a:srgbClr val="00007F"/>
            </a:solidFill>
            <a:prstDash val="solid"/>
            <a:miter lim="800000"/>
            <a:headEnd len="sm" w="sm" type="none"/>
            <a:tailEnd len="med" w="med" type="triangle"/>
          </a:ln>
        </p:spPr>
      </p:cxnSp>
      <p:cxnSp>
        <p:nvCxnSpPr>
          <p:cNvPr id="308" name="Google Shape;308;p40"/>
          <p:cNvCxnSpPr/>
          <p:nvPr/>
        </p:nvCxnSpPr>
        <p:spPr>
          <a:xfrm>
            <a:off x="4452937" y="2090737"/>
            <a:ext cx="0" cy="652462"/>
          </a:xfrm>
          <a:prstGeom prst="straightConnector1">
            <a:avLst/>
          </a:prstGeom>
          <a:noFill/>
          <a:ln cap="flat" cmpd="sng" w="57150">
            <a:solidFill>
              <a:srgbClr val="00007F"/>
            </a:solidFill>
            <a:prstDash val="solid"/>
            <a:miter lim="800000"/>
            <a:headEnd len="sm" w="sm" type="none"/>
            <a:tailEnd len="med" w="med" type="triangle"/>
          </a:ln>
        </p:spPr>
      </p:cxnSp>
      <p:cxnSp>
        <p:nvCxnSpPr>
          <p:cNvPr id="309" name="Google Shape;309;p40"/>
          <p:cNvCxnSpPr/>
          <p:nvPr/>
        </p:nvCxnSpPr>
        <p:spPr>
          <a:xfrm>
            <a:off x="4452937" y="2090737"/>
            <a:ext cx="1393825" cy="519112"/>
          </a:xfrm>
          <a:prstGeom prst="straightConnector1">
            <a:avLst/>
          </a:prstGeom>
          <a:noFill/>
          <a:ln cap="flat" cmpd="sng" w="57150">
            <a:solidFill>
              <a:srgbClr val="00007F"/>
            </a:solidFill>
            <a:prstDash val="solid"/>
            <a:miter lim="800000"/>
            <a:headEnd len="sm" w="sm" type="none"/>
            <a:tailEnd len="med" w="med" type="triangle"/>
          </a:ln>
        </p:spPr>
      </p:cxnSp>
      <p:sp>
        <p:nvSpPr>
          <p:cNvPr id="310" name="Google Shape;310;p40"/>
          <p:cNvSpPr/>
          <p:nvPr/>
        </p:nvSpPr>
        <p:spPr>
          <a:xfrm>
            <a:off x="5889625" y="1477962"/>
            <a:ext cx="2406650" cy="488950"/>
          </a:xfrm>
          <a:prstGeom prst="wedgeRectCallout">
            <a:avLst>
              <a:gd fmla="val -7047" name="adj1"/>
              <a:gd fmla="val 15031" name="adj2"/>
            </a:avLst>
          </a:prstGeom>
          <a:solidFill>
            <a:schemeClr val="lt2"/>
          </a:solidFill>
          <a:ln cap="flat" cmpd="sng" w="57150">
            <a:solidFill>
              <a:srgbClr val="FFAE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15 total pointers</a:t>
            </a:r>
            <a:endParaRPr b="0" i="0" sz="1400" u="none" cap="none" strike="noStrike">
              <a:solidFill>
                <a:schemeClr val="dk1"/>
              </a:solidFill>
              <a:latin typeface="Arial"/>
              <a:ea typeface="Arial"/>
              <a:cs typeface="Arial"/>
              <a:sym typeface="Arial"/>
            </a:endParaRPr>
          </a:p>
        </p:txBody>
      </p:sp>
      <p:grpSp>
        <p:nvGrpSpPr>
          <p:cNvPr id="311" name="Google Shape;311;p40"/>
          <p:cNvGrpSpPr/>
          <p:nvPr/>
        </p:nvGrpSpPr>
        <p:grpSpPr>
          <a:xfrm>
            <a:off x="107950" y="3459162"/>
            <a:ext cx="1630301" cy="1781237"/>
            <a:chOff x="107883" y="3458773"/>
            <a:chExt cx="1630500" cy="1781473"/>
          </a:xfrm>
        </p:grpSpPr>
        <p:sp>
          <p:nvSpPr>
            <p:cNvPr id="312" name="Google Shape;312;p40"/>
            <p:cNvSpPr/>
            <p:nvPr/>
          </p:nvSpPr>
          <p:spPr>
            <a:xfrm rot="5400000">
              <a:off x="510151" y="3134537"/>
              <a:ext cx="391887" cy="1040359"/>
            </a:xfrm>
            <a:prstGeom prst="rightBrace">
              <a:avLst>
                <a:gd fmla="val 678" name="adj1"/>
                <a:gd fmla="val 50000" name="adj2"/>
              </a:avLst>
            </a:prstGeom>
            <a:no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13" name="Google Shape;313;p40"/>
            <p:cNvSpPr/>
            <p:nvPr/>
          </p:nvSpPr>
          <p:spPr>
            <a:xfrm>
              <a:off x="107883" y="4257446"/>
              <a:ext cx="1630500" cy="982800"/>
            </a:xfrm>
            <a:prstGeom prst="wedgeRectCallout">
              <a:avLst>
                <a:gd fmla="val 7085" name="adj1"/>
                <a:gd fmla="val -6154" name="adj2"/>
              </a:avLst>
            </a:prstGeom>
            <a:solidFill>
              <a:srgbClr val="DADADA"/>
            </a:solid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12 blocks * 4KB = 48KB</a:t>
              </a:r>
              <a:endParaRPr b="0" i="0" sz="1400" u="none" cap="none" strike="noStrike">
                <a:solidFill>
                  <a:schemeClr val="dk1"/>
                </a:solidFill>
                <a:latin typeface="Arial"/>
                <a:ea typeface="Arial"/>
                <a:cs typeface="Arial"/>
                <a:sym typeface="Arial"/>
              </a:endParaRPr>
            </a:p>
          </p:txBody>
        </p:sp>
      </p:grpSp>
      <p:grpSp>
        <p:nvGrpSpPr>
          <p:cNvPr id="314" name="Google Shape;314;p40"/>
          <p:cNvGrpSpPr/>
          <p:nvPr/>
        </p:nvGrpSpPr>
        <p:grpSpPr>
          <a:xfrm>
            <a:off x="5889625" y="5070475"/>
            <a:ext cx="3148012" cy="1028700"/>
            <a:chOff x="5888993" y="5069791"/>
            <a:chExt cx="3148224" cy="1030175"/>
          </a:xfrm>
        </p:grpSpPr>
        <p:sp>
          <p:nvSpPr>
            <p:cNvPr id="315" name="Google Shape;315;p40"/>
            <p:cNvSpPr/>
            <p:nvPr/>
          </p:nvSpPr>
          <p:spPr>
            <a:xfrm rot="5400000">
              <a:off x="7267162" y="3691622"/>
              <a:ext cx="391887" cy="3148224"/>
            </a:xfrm>
            <a:prstGeom prst="rightBrace">
              <a:avLst>
                <a:gd fmla="val 224" name="adj1"/>
                <a:gd fmla="val 50000" name="adj2"/>
              </a:avLst>
            </a:prstGeom>
            <a:no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16" name="Google Shape;316;p40"/>
            <p:cNvSpPr/>
            <p:nvPr/>
          </p:nvSpPr>
          <p:spPr>
            <a:xfrm>
              <a:off x="6041303" y="5546610"/>
              <a:ext cx="2911804" cy="553356"/>
            </a:xfrm>
            <a:prstGeom prst="wedgeRectCallout">
              <a:avLst>
                <a:gd fmla="val 9775" name="adj1"/>
                <a:gd fmla="val -5494" name="adj2"/>
              </a:avLst>
            </a:prstGeom>
            <a:solidFill>
              <a:srgbClr val="DADADA"/>
            </a:solid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2</a:t>
              </a:r>
              <a:r>
                <a:rPr b="0" baseline="30000" i="0" lang="en-US" sz="2400" u="none" cap="none" strike="noStrike">
                  <a:solidFill>
                    <a:schemeClr val="dk1"/>
                  </a:solidFill>
                  <a:latin typeface="Times New Roman"/>
                  <a:ea typeface="Times New Roman"/>
                  <a:cs typeface="Times New Roman"/>
                  <a:sym typeface="Times New Roman"/>
                </a:rPr>
                <a:t>30</a:t>
              </a:r>
              <a:r>
                <a:rPr b="0" i="0" lang="en-US" sz="2400" u="none" cap="none" strike="noStrike">
                  <a:solidFill>
                    <a:schemeClr val="dk1"/>
                  </a:solidFill>
                  <a:latin typeface="Times New Roman"/>
                  <a:ea typeface="Times New Roman"/>
                  <a:cs typeface="Times New Roman"/>
                  <a:sym typeface="Times New Roman"/>
                </a:rPr>
                <a:t> blocks * 4KB = 4TB</a:t>
              </a:r>
              <a:endParaRPr b="0" i="0" sz="1400" u="none" cap="none" strike="noStrike">
                <a:solidFill>
                  <a:schemeClr val="dk1"/>
                </a:solidFill>
                <a:latin typeface="Arial"/>
                <a:ea typeface="Arial"/>
                <a:cs typeface="Arial"/>
                <a:sym typeface="Arial"/>
              </a:endParaRPr>
            </a:p>
          </p:txBody>
        </p:sp>
      </p:grpSp>
      <p:cxnSp>
        <p:nvCxnSpPr>
          <p:cNvPr id="317" name="Google Shape;317;p40"/>
          <p:cNvCxnSpPr/>
          <p:nvPr/>
        </p:nvCxnSpPr>
        <p:spPr>
          <a:xfrm>
            <a:off x="2928937" y="3475037"/>
            <a:ext cx="0" cy="823912"/>
          </a:xfrm>
          <a:prstGeom prst="straightConnector1">
            <a:avLst/>
          </a:prstGeom>
          <a:noFill/>
          <a:ln cap="flat" cmpd="sng" w="57150">
            <a:solidFill>
              <a:srgbClr val="00007F"/>
            </a:solidFill>
            <a:prstDash val="solid"/>
            <a:miter lim="800000"/>
            <a:headEnd len="sm" w="sm" type="none"/>
            <a:tailEnd len="med" w="med" type="triangle"/>
          </a:ln>
        </p:spPr>
      </p:cxnSp>
      <p:grpSp>
        <p:nvGrpSpPr>
          <p:cNvPr id="318" name="Google Shape;318;p40"/>
          <p:cNvGrpSpPr/>
          <p:nvPr/>
        </p:nvGrpSpPr>
        <p:grpSpPr>
          <a:xfrm>
            <a:off x="1296987" y="4792662"/>
            <a:ext cx="1903412" cy="1855787"/>
            <a:chOff x="1297645" y="4792786"/>
            <a:chExt cx="1902755" cy="1855067"/>
          </a:xfrm>
        </p:grpSpPr>
        <p:sp>
          <p:nvSpPr>
            <p:cNvPr id="319" name="Google Shape;319;p40"/>
            <p:cNvSpPr/>
            <p:nvPr/>
          </p:nvSpPr>
          <p:spPr>
            <a:xfrm rot="5400000">
              <a:off x="2332422" y="4404306"/>
              <a:ext cx="391887" cy="1168847"/>
            </a:xfrm>
            <a:prstGeom prst="rightBrace">
              <a:avLst>
                <a:gd fmla="val 603" name="adj1"/>
                <a:gd fmla="val 50000" name="adj2"/>
              </a:avLst>
            </a:prstGeom>
            <a:no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20" name="Google Shape;320;p40"/>
            <p:cNvSpPr/>
            <p:nvPr/>
          </p:nvSpPr>
          <p:spPr>
            <a:xfrm>
              <a:off x="1297645" y="5665115"/>
              <a:ext cx="1902755" cy="982738"/>
            </a:xfrm>
            <a:prstGeom prst="wedgeRectCallout">
              <a:avLst>
                <a:gd fmla="val 7085" name="adj1"/>
                <a:gd fmla="val -6154" name="adj2"/>
              </a:avLst>
            </a:prstGeom>
            <a:solidFill>
              <a:srgbClr val="DADADA"/>
            </a:solid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1024 blocks * 4KB = 4MB</a:t>
              </a:r>
              <a:endParaRPr b="0" i="0" sz="1400" u="none" cap="none" strike="noStrike">
                <a:solidFill>
                  <a:schemeClr val="dk1"/>
                </a:solidFill>
                <a:latin typeface="Arial"/>
                <a:ea typeface="Arial"/>
                <a:cs typeface="Arial"/>
                <a:sym typeface="Arial"/>
              </a:endParaRPr>
            </a:p>
          </p:txBody>
        </p:sp>
      </p:grpSp>
      <p:cxnSp>
        <p:nvCxnSpPr>
          <p:cNvPr id="321" name="Google Shape;321;p40"/>
          <p:cNvCxnSpPr/>
          <p:nvPr/>
        </p:nvCxnSpPr>
        <p:spPr>
          <a:xfrm>
            <a:off x="4452937" y="3370262"/>
            <a:ext cx="384175" cy="696912"/>
          </a:xfrm>
          <a:prstGeom prst="straightConnector1">
            <a:avLst/>
          </a:prstGeom>
          <a:noFill/>
          <a:ln cap="flat" cmpd="sng" w="57150">
            <a:solidFill>
              <a:srgbClr val="00007F"/>
            </a:solidFill>
            <a:prstDash val="solid"/>
            <a:miter lim="800000"/>
            <a:headEnd len="sm" w="sm" type="none"/>
            <a:tailEnd len="med" w="med" type="triangle"/>
          </a:ln>
        </p:spPr>
      </p:cxnSp>
      <p:cxnSp>
        <p:nvCxnSpPr>
          <p:cNvPr id="322" name="Google Shape;322;p40"/>
          <p:cNvCxnSpPr/>
          <p:nvPr/>
        </p:nvCxnSpPr>
        <p:spPr>
          <a:xfrm>
            <a:off x="4452937" y="3370262"/>
            <a:ext cx="696912" cy="512762"/>
          </a:xfrm>
          <a:prstGeom prst="straightConnector1">
            <a:avLst/>
          </a:prstGeom>
          <a:noFill/>
          <a:ln cap="flat" cmpd="sng" w="57150">
            <a:solidFill>
              <a:srgbClr val="00007F"/>
            </a:solidFill>
            <a:prstDash val="solid"/>
            <a:miter lim="800000"/>
            <a:headEnd len="sm" w="sm" type="none"/>
            <a:tailEnd len="med" w="med" type="triangle"/>
          </a:ln>
        </p:spPr>
      </p:cxnSp>
      <p:cxnSp>
        <p:nvCxnSpPr>
          <p:cNvPr id="323" name="Google Shape;323;p40"/>
          <p:cNvCxnSpPr/>
          <p:nvPr/>
        </p:nvCxnSpPr>
        <p:spPr>
          <a:xfrm>
            <a:off x="4502150" y="4579937"/>
            <a:ext cx="334962" cy="725487"/>
          </a:xfrm>
          <a:prstGeom prst="straightConnector1">
            <a:avLst/>
          </a:prstGeom>
          <a:noFill/>
          <a:ln cap="flat" cmpd="sng" w="57150">
            <a:solidFill>
              <a:srgbClr val="00007F"/>
            </a:solidFill>
            <a:prstDash val="solid"/>
            <a:miter lim="800000"/>
            <a:headEnd len="sm" w="sm" type="none"/>
            <a:tailEnd len="med" w="med" type="triangle"/>
          </a:ln>
        </p:spPr>
      </p:cxnSp>
      <p:grpSp>
        <p:nvGrpSpPr>
          <p:cNvPr id="324" name="Google Shape;324;p40"/>
          <p:cNvGrpSpPr/>
          <p:nvPr/>
        </p:nvGrpSpPr>
        <p:grpSpPr>
          <a:xfrm>
            <a:off x="3690937" y="5822950"/>
            <a:ext cx="5213350" cy="952500"/>
            <a:chOff x="3690584" y="5823288"/>
            <a:chExt cx="5213017" cy="951445"/>
          </a:xfrm>
        </p:grpSpPr>
        <p:sp>
          <p:nvSpPr>
            <p:cNvPr id="325" name="Google Shape;325;p40"/>
            <p:cNvSpPr/>
            <p:nvPr/>
          </p:nvSpPr>
          <p:spPr>
            <a:xfrm rot="5400000">
              <a:off x="4147035" y="5366837"/>
              <a:ext cx="391887" cy="1304789"/>
            </a:xfrm>
            <a:prstGeom prst="rightBrace">
              <a:avLst>
                <a:gd fmla="val 541" name="adj1"/>
                <a:gd fmla="val 50000" name="adj2"/>
              </a:avLst>
            </a:prstGeom>
            <a:no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26" name="Google Shape;326;p40"/>
            <p:cNvSpPr/>
            <p:nvPr/>
          </p:nvSpPr>
          <p:spPr>
            <a:xfrm>
              <a:off x="4591203" y="6215175"/>
              <a:ext cx="4312398" cy="559558"/>
            </a:xfrm>
            <a:prstGeom prst="wedgeRectCallout">
              <a:avLst>
                <a:gd fmla="val -1255" name="adj1"/>
                <a:gd fmla="val 3328" name="adj2"/>
              </a:avLst>
            </a:prstGeom>
            <a:solidFill>
              <a:srgbClr val="DADADA"/>
            </a:solidFill>
            <a:ln cap="flat" cmpd="sng" w="5715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1024 * 1024 blocks * 4KB = 4GB</a:t>
              </a:r>
              <a:endParaRPr b="0" i="0" sz="1400" u="none" cap="none" strike="noStrike">
                <a:solidFill>
                  <a:schemeClr val="dk1"/>
                </a:solidFill>
                <a:latin typeface="Arial"/>
                <a:ea typeface="Arial"/>
                <a:cs typeface="Arial"/>
                <a:sym typeface="Arial"/>
              </a:endParaRPr>
            </a:p>
          </p:txBody>
        </p:sp>
      </p:grpSp>
      <p:cxnSp>
        <p:nvCxnSpPr>
          <p:cNvPr id="327" name="Google Shape;327;p40"/>
          <p:cNvCxnSpPr/>
          <p:nvPr/>
        </p:nvCxnSpPr>
        <p:spPr>
          <a:xfrm>
            <a:off x="5846762" y="3236912"/>
            <a:ext cx="320675" cy="468312"/>
          </a:xfrm>
          <a:prstGeom prst="straightConnector1">
            <a:avLst/>
          </a:prstGeom>
          <a:noFill/>
          <a:ln cap="flat" cmpd="sng" w="57150">
            <a:solidFill>
              <a:srgbClr val="00007F"/>
            </a:solidFill>
            <a:prstDash val="solid"/>
            <a:miter lim="800000"/>
            <a:headEnd len="sm" w="sm" type="none"/>
            <a:tailEnd len="med" w="med" type="triangle"/>
          </a:ln>
        </p:spPr>
      </p:cxnSp>
      <p:cxnSp>
        <p:nvCxnSpPr>
          <p:cNvPr id="328" name="Google Shape;328;p40"/>
          <p:cNvCxnSpPr/>
          <p:nvPr/>
        </p:nvCxnSpPr>
        <p:spPr>
          <a:xfrm>
            <a:off x="5846762" y="3236912"/>
            <a:ext cx="655637" cy="323850"/>
          </a:xfrm>
          <a:prstGeom prst="straightConnector1">
            <a:avLst/>
          </a:prstGeom>
          <a:noFill/>
          <a:ln cap="flat" cmpd="sng" w="57150">
            <a:solidFill>
              <a:srgbClr val="00007F"/>
            </a:solidFill>
            <a:prstDash val="solid"/>
            <a:miter lim="800000"/>
            <a:headEnd len="sm" w="sm" type="none"/>
            <a:tailEnd len="med" w="med" type="triangle"/>
          </a:ln>
        </p:spPr>
      </p:cxnSp>
      <p:cxnSp>
        <p:nvCxnSpPr>
          <p:cNvPr id="329" name="Google Shape;329;p40"/>
          <p:cNvCxnSpPr/>
          <p:nvPr/>
        </p:nvCxnSpPr>
        <p:spPr>
          <a:xfrm>
            <a:off x="5846762" y="3236912"/>
            <a:ext cx="968375" cy="139700"/>
          </a:xfrm>
          <a:prstGeom prst="straightConnector1">
            <a:avLst/>
          </a:prstGeom>
          <a:noFill/>
          <a:ln cap="flat" cmpd="sng" w="57150">
            <a:solidFill>
              <a:srgbClr val="00007F"/>
            </a:solidFill>
            <a:prstDash val="solid"/>
            <a:miter lim="800000"/>
            <a:headEnd len="sm" w="sm" type="none"/>
            <a:tailEnd len="med" w="med" type="triangle"/>
          </a:ln>
        </p:spPr>
      </p:cxnSp>
      <p:cxnSp>
        <p:nvCxnSpPr>
          <p:cNvPr id="330" name="Google Shape;330;p40"/>
          <p:cNvCxnSpPr/>
          <p:nvPr/>
        </p:nvCxnSpPr>
        <p:spPr>
          <a:xfrm>
            <a:off x="6815137" y="3744912"/>
            <a:ext cx="476250" cy="493712"/>
          </a:xfrm>
          <a:prstGeom prst="straightConnector1">
            <a:avLst/>
          </a:prstGeom>
          <a:noFill/>
          <a:ln cap="flat" cmpd="sng" w="57150">
            <a:solidFill>
              <a:srgbClr val="00007F"/>
            </a:solidFill>
            <a:prstDash val="solid"/>
            <a:miter lim="800000"/>
            <a:headEnd len="sm" w="sm" type="none"/>
            <a:tailEnd len="med" w="med" type="triangle"/>
          </a:ln>
        </p:spPr>
      </p:cxnSp>
      <p:cxnSp>
        <p:nvCxnSpPr>
          <p:cNvPr id="331" name="Google Shape;331;p40"/>
          <p:cNvCxnSpPr/>
          <p:nvPr/>
        </p:nvCxnSpPr>
        <p:spPr>
          <a:xfrm>
            <a:off x="6815137" y="3744912"/>
            <a:ext cx="776287" cy="276225"/>
          </a:xfrm>
          <a:prstGeom prst="straightConnector1">
            <a:avLst/>
          </a:prstGeom>
          <a:noFill/>
          <a:ln cap="flat" cmpd="sng" w="57150">
            <a:solidFill>
              <a:srgbClr val="00007F"/>
            </a:solidFill>
            <a:prstDash val="solid"/>
            <a:miter lim="800000"/>
            <a:headEnd len="sm" w="sm" type="none"/>
            <a:tailEnd len="med" w="med" type="triangle"/>
          </a:ln>
        </p:spPr>
      </p:cxnSp>
      <p:cxnSp>
        <p:nvCxnSpPr>
          <p:cNvPr id="332" name="Google Shape;332;p40"/>
          <p:cNvCxnSpPr/>
          <p:nvPr/>
        </p:nvCxnSpPr>
        <p:spPr>
          <a:xfrm>
            <a:off x="6815137" y="3744912"/>
            <a:ext cx="1077912" cy="55562"/>
          </a:xfrm>
          <a:prstGeom prst="straightConnector1">
            <a:avLst/>
          </a:prstGeom>
          <a:noFill/>
          <a:ln cap="flat" cmpd="sng" w="57150">
            <a:solidFill>
              <a:srgbClr val="00007F"/>
            </a:solidFill>
            <a:prstDash val="solid"/>
            <a:miter lim="800000"/>
            <a:headEnd len="sm" w="sm" type="none"/>
            <a:tailEnd len="med" w="med" type="triangle"/>
          </a:ln>
        </p:spPr>
      </p:cxnSp>
      <p:cxnSp>
        <p:nvCxnSpPr>
          <p:cNvPr id="333" name="Google Shape;333;p40"/>
          <p:cNvCxnSpPr/>
          <p:nvPr/>
        </p:nvCxnSpPr>
        <p:spPr>
          <a:xfrm flipH="1">
            <a:off x="8059737" y="3984625"/>
            <a:ext cx="39687" cy="1033462"/>
          </a:xfrm>
          <a:prstGeom prst="straightConnector1">
            <a:avLst/>
          </a:prstGeom>
          <a:noFill/>
          <a:ln cap="flat" cmpd="sng" w="57150">
            <a:solidFill>
              <a:srgbClr val="00007F"/>
            </a:solidFill>
            <a:prstDash val="solid"/>
            <a:miter lim="800000"/>
            <a:headEnd len="sm" w="sm" type="none"/>
            <a:tailEnd len="med" w="med" type="triangle"/>
          </a:ln>
        </p:spPr>
      </p:cxnSp>
      <p:cxnSp>
        <p:nvCxnSpPr>
          <p:cNvPr id="334" name="Google Shape;334;p40"/>
          <p:cNvCxnSpPr/>
          <p:nvPr/>
        </p:nvCxnSpPr>
        <p:spPr>
          <a:xfrm>
            <a:off x="8099425" y="3984625"/>
            <a:ext cx="166687" cy="782637"/>
          </a:xfrm>
          <a:prstGeom prst="straightConnector1">
            <a:avLst/>
          </a:prstGeom>
          <a:noFill/>
          <a:ln cap="flat" cmpd="sng" w="57150">
            <a:solidFill>
              <a:srgbClr val="00007F"/>
            </a:solidFill>
            <a:prstDash val="solid"/>
            <a:miter lim="800000"/>
            <a:headEnd len="sm" w="sm" type="none"/>
            <a:tailEnd len="med" w="med" type="triangle"/>
          </a:ln>
        </p:spPr>
      </p:cxnSp>
      <p:cxnSp>
        <p:nvCxnSpPr>
          <p:cNvPr id="335" name="Google Shape;335;p40"/>
          <p:cNvCxnSpPr/>
          <p:nvPr/>
        </p:nvCxnSpPr>
        <p:spPr>
          <a:xfrm>
            <a:off x="8099425" y="3984625"/>
            <a:ext cx="373062" cy="522287"/>
          </a:xfrm>
          <a:prstGeom prst="straightConnector1">
            <a:avLst/>
          </a:prstGeom>
          <a:noFill/>
          <a:ln cap="flat" cmpd="sng" w="57150">
            <a:solidFill>
              <a:srgbClr val="00007F"/>
            </a:solidFill>
            <a:prstDash val="solid"/>
            <a:miter lim="800000"/>
            <a:headEnd len="sm" w="sm" type="none"/>
            <a:tailEnd len="med" w="med" type="triangle"/>
          </a:ln>
        </p:spPr>
      </p:cxnSp>
      <p:cxnSp>
        <p:nvCxnSpPr>
          <p:cNvPr id="336" name="Google Shape;336;p40"/>
          <p:cNvCxnSpPr/>
          <p:nvPr/>
        </p:nvCxnSpPr>
        <p:spPr>
          <a:xfrm>
            <a:off x="8099425" y="3984625"/>
            <a:ext cx="577850" cy="273050"/>
          </a:xfrm>
          <a:prstGeom prst="straightConnector1">
            <a:avLst/>
          </a:prstGeom>
          <a:noFill/>
          <a:ln cap="flat" cmpd="sng" w="57150">
            <a:solidFill>
              <a:srgbClr val="00007F"/>
            </a:solidFill>
            <a:prstDash val="solid"/>
            <a:miter lim="800000"/>
            <a:headEnd len="sm" w="sm" type="none"/>
            <a:tailEnd len="med" w="med" type="triangle"/>
          </a:ln>
        </p:spPr>
      </p:cxnSp>
      <p:sp>
        <p:nvSpPr>
          <p:cNvPr id="337" name="Google Shape;337;p40"/>
          <p:cNvSpPr txBox="1"/>
          <p:nvPr/>
        </p:nvSpPr>
        <p:spPr>
          <a:xfrm>
            <a:off x="3910012" y="1722437"/>
            <a:ext cx="1085850" cy="368300"/>
          </a:xfrm>
          <a:prstGeom prst="rect">
            <a:avLst/>
          </a:prstGeom>
          <a:solidFill>
            <a:schemeClr val="lt2"/>
          </a:solidFill>
          <a:ln cap="flat" cmpd="sng" w="12700">
            <a:solidFill>
              <a:srgbClr val="FFAE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inode</a:t>
            </a:r>
            <a:endParaRPr b="0" i="0" sz="1400" u="none" cap="none" strike="noStrike">
              <a:solidFill>
                <a:schemeClr val="dk1"/>
              </a:solidFill>
              <a:latin typeface="Arial"/>
              <a:ea typeface="Arial"/>
              <a:cs typeface="Arial"/>
              <a:sym typeface="Arial"/>
            </a:endParaRPr>
          </a:p>
        </p:txBody>
      </p:sp>
      <p:sp>
        <p:nvSpPr>
          <p:cNvPr id="338" name="Google Shape;338;p40"/>
          <p:cNvSpPr txBox="1"/>
          <p:nvPr/>
        </p:nvSpPr>
        <p:spPr>
          <a:xfrm>
            <a:off x="2478087" y="2847975"/>
            <a:ext cx="900112" cy="627062"/>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n-US" sz="1800" u="none" cap="none" strike="noStrike">
                <a:solidFill>
                  <a:schemeClr val="dk1"/>
                </a:solidFill>
                <a:latin typeface="Times New Roman"/>
                <a:ea typeface="Times New Roman"/>
                <a:cs typeface="Times New Roman"/>
                <a:sym typeface="Times New Roman"/>
              </a:rPr>
              <a:t>Single </a:t>
            </a:r>
            <a:r>
              <a:rPr b="0" i="0" lang="en-US" sz="1700" u="none" cap="none" strike="noStrike">
                <a:solidFill>
                  <a:schemeClr val="dk1"/>
                </a:solidFill>
                <a:latin typeface="Times New Roman"/>
                <a:ea typeface="Times New Roman"/>
                <a:cs typeface="Times New Roman"/>
                <a:sym typeface="Times New Roman"/>
              </a:rPr>
              <a:t>Indire</a:t>
            </a:r>
            <a:r>
              <a:rPr b="0" i="0" lang="en-US" sz="2000" u="none" cap="none" strike="noStrike">
                <a:solidFill>
                  <a:schemeClr val="dk1"/>
                </a:solidFill>
                <a:latin typeface="Times New Roman"/>
                <a:ea typeface="Times New Roman"/>
                <a:cs typeface="Times New Roman"/>
                <a:sym typeface="Times New Roman"/>
              </a:rPr>
              <a:t>ct</a:t>
            </a:r>
            <a:endParaRPr b="0" i="0" sz="1400" u="none" cap="none" strike="noStrike">
              <a:solidFill>
                <a:schemeClr val="dk1"/>
              </a:solidFill>
              <a:latin typeface="Arial"/>
              <a:ea typeface="Arial"/>
              <a:cs typeface="Arial"/>
              <a:sym typeface="Arial"/>
            </a:endParaRPr>
          </a:p>
        </p:txBody>
      </p:sp>
      <p:sp>
        <p:nvSpPr>
          <p:cNvPr id="339" name="Google Shape;339;p40"/>
          <p:cNvSpPr txBox="1"/>
          <p:nvPr/>
        </p:nvSpPr>
        <p:spPr>
          <a:xfrm>
            <a:off x="4002087" y="2743200"/>
            <a:ext cx="901700" cy="627062"/>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n-US" sz="1900" u="none" cap="none" strike="noStrike">
                <a:solidFill>
                  <a:schemeClr val="dk1"/>
                </a:solidFill>
                <a:latin typeface="Times New Roman"/>
                <a:ea typeface="Times New Roman"/>
                <a:cs typeface="Times New Roman"/>
                <a:sym typeface="Times New Roman"/>
              </a:rPr>
              <a:t>Double</a:t>
            </a:r>
            <a:r>
              <a:rPr b="0" i="0" lang="en-US" sz="20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Indirect</a:t>
            </a:r>
            <a:endParaRPr b="0" i="0" sz="1200" u="none" cap="none" strike="noStrike">
              <a:solidFill>
                <a:schemeClr val="dk1"/>
              </a:solidFill>
              <a:latin typeface="Arial"/>
              <a:ea typeface="Arial"/>
              <a:cs typeface="Arial"/>
              <a:sym typeface="Arial"/>
            </a:endParaRPr>
          </a:p>
        </p:txBody>
      </p:sp>
      <p:sp>
        <p:nvSpPr>
          <p:cNvPr id="340" name="Google Shape;340;p40"/>
          <p:cNvSpPr txBox="1"/>
          <p:nvPr/>
        </p:nvSpPr>
        <p:spPr>
          <a:xfrm>
            <a:off x="5527650" y="2637738"/>
            <a:ext cx="900000" cy="62700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n-US" sz="1800" u="none" cap="none" strike="noStrike">
                <a:solidFill>
                  <a:schemeClr val="dk1"/>
                </a:solidFill>
                <a:latin typeface="Times New Roman"/>
                <a:ea typeface="Times New Roman"/>
                <a:cs typeface="Times New Roman"/>
                <a:sym typeface="Times New Roman"/>
              </a:rPr>
              <a:t>Triple </a:t>
            </a:r>
            <a:r>
              <a:rPr b="0" i="0" lang="en-US" sz="1700" u="none" cap="none" strike="noStrike">
                <a:solidFill>
                  <a:schemeClr val="dk1"/>
                </a:solidFill>
                <a:latin typeface="Times New Roman"/>
                <a:ea typeface="Times New Roman"/>
                <a:cs typeface="Times New Roman"/>
                <a:sym typeface="Times New Roman"/>
              </a:rPr>
              <a:t>Indirect</a:t>
            </a:r>
            <a:endParaRPr b="0" i="0" sz="1100" u="none" cap="none" strike="noStrike">
              <a:solidFill>
                <a:schemeClr val="dk1"/>
              </a:solidFill>
              <a:latin typeface="Arial"/>
              <a:ea typeface="Arial"/>
              <a:cs typeface="Arial"/>
              <a:sym typeface="Arial"/>
            </a:endParaRPr>
          </a:p>
        </p:txBody>
      </p:sp>
      <p:grpSp>
        <p:nvGrpSpPr>
          <p:cNvPr id="341" name="Google Shape;341;p40"/>
          <p:cNvGrpSpPr/>
          <p:nvPr/>
        </p:nvGrpSpPr>
        <p:grpSpPr>
          <a:xfrm>
            <a:off x="230187" y="2522537"/>
            <a:ext cx="995362" cy="868362"/>
            <a:chOff x="230463" y="2521857"/>
            <a:chExt cx="995812" cy="868438"/>
          </a:xfrm>
        </p:grpSpPr>
        <p:sp>
          <p:nvSpPr>
            <p:cNvPr id="342" name="Google Shape;342;p40"/>
            <p:cNvSpPr txBox="1"/>
            <p:nvPr/>
          </p:nvSpPr>
          <p:spPr>
            <a:xfrm>
              <a:off x="230463" y="2521857"/>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43" name="Google Shape;343;p40"/>
            <p:cNvSpPr txBox="1"/>
            <p:nvPr/>
          </p:nvSpPr>
          <p:spPr>
            <a:xfrm>
              <a:off x="511889" y="2778826"/>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344" name="Google Shape;344;p40"/>
            <p:cNvSpPr txBox="1"/>
            <p:nvPr/>
          </p:nvSpPr>
          <p:spPr>
            <a:xfrm>
              <a:off x="815001" y="3021805"/>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45" name="Google Shape;345;p40"/>
          <p:cNvGrpSpPr/>
          <p:nvPr/>
        </p:nvGrpSpPr>
        <p:grpSpPr>
          <a:xfrm>
            <a:off x="1944687" y="3849687"/>
            <a:ext cx="1189037" cy="817562"/>
            <a:chOff x="1943943" y="3849726"/>
            <a:chExt cx="1189900" cy="818216"/>
          </a:xfrm>
        </p:grpSpPr>
        <p:sp>
          <p:nvSpPr>
            <p:cNvPr id="346" name="Google Shape;346;p40"/>
            <p:cNvSpPr txBox="1"/>
            <p:nvPr/>
          </p:nvSpPr>
          <p:spPr>
            <a:xfrm>
              <a:off x="1943943" y="3849726"/>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47" name="Google Shape;347;p40"/>
            <p:cNvSpPr txBox="1"/>
            <p:nvPr/>
          </p:nvSpPr>
          <p:spPr>
            <a:xfrm>
              <a:off x="2198859" y="3957309"/>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48" name="Google Shape;348;p40"/>
            <p:cNvSpPr txBox="1"/>
            <p:nvPr/>
          </p:nvSpPr>
          <p:spPr>
            <a:xfrm>
              <a:off x="2485517" y="4115207"/>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49" name="Google Shape;349;p40"/>
            <p:cNvSpPr txBox="1"/>
            <p:nvPr/>
          </p:nvSpPr>
          <p:spPr>
            <a:xfrm>
              <a:off x="2722569" y="4299452"/>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50" name="Google Shape;350;p40"/>
          <p:cNvGrpSpPr/>
          <p:nvPr/>
        </p:nvGrpSpPr>
        <p:grpSpPr>
          <a:xfrm>
            <a:off x="3690937" y="3883025"/>
            <a:ext cx="1663700" cy="696912"/>
            <a:chOff x="3690585" y="3883673"/>
            <a:chExt cx="1664634" cy="696160"/>
          </a:xfrm>
        </p:grpSpPr>
        <p:sp>
          <p:nvSpPr>
            <p:cNvPr id="351" name="Google Shape;351;p40"/>
            <p:cNvSpPr txBox="1"/>
            <p:nvPr/>
          </p:nvSpPr>
          <p:spPr>
            <a:xfrm>
              <a:off x="3690585" y="3887627"/>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2" name="Google Shape;352;p40"/>
            <p:cNvSpPr txBox="1"/>
            <p:nvPr/>
          </p:nvSpPr>
          <p:spPr>
            <a:xfrm>
              <a:off x="4943945" y="3883673"/>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3" name="Google Shape;353;p40"/>
            <p:cNvSpPr txBox="1"/>
            <p:nvPr/>
          </p:nvSpPr>
          <p:spPr>
            <a:xfrm>
              <a:off x="4002804" y="4073201"/>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4" name="Google Shape;354;p40"/>
            <p:cNvSpPr txBox="1"/>
            <p:nvPr/>
          </p:nvSpPr>
          <p:spPr>
            <a:xfrm>
              <a:off x="4631868" y="4067108"/>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5" name="Google Shape;355;p40"/>
            <p:cNvSpPr txBox="1"/>
            <p:nvPr/>
          </p:nvSpPr>
          <p:spPr>
            <a:xfrm>
              <a:off x="4296854" y="4211343"/>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56" name="Google Shape;356;p40"/>
          <p:cNvGrpSpPr/>
          <p:nvPr/>
        </p:nvGrpSpPr>
        <p:grpSpPr>
          <a:xfrm>
            <a:off x="3690937" y="4989512"/>
            <a:ext cx="1344612" cy="736600"/>
            <a:chOff x="3690585" y="4988729"/>
            <a:chExt cx="1345384" cy="736980"/>
          </a:xfrm>
        </p:grpSpPr>
        <p:sp>
          <p:nvSpPr>
            <p:cNvPr id="357" name="Google Shape;357;p40"/>
            <p:cNvSpPr txBox="1"/>
            <p:nvPr/>
          </p:nvSpPr>
          <p:spPr>
            <a:xfrm>
              <a:off x="3690585" y="4988729"/>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8" name="Google Shape;358;p40"/>
            <p:cNvSpPr txBox="1"/>
            <p:nvPr/>
          </p:nvSpPr>
          <p:spPr>
            <a:xfrm>
              <a:off x="3968956" y="5120484"/>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59" name="Google Shape;359;p40"/>
            <p:cNvSpPr txBox="1"/>
            <p:nvPr/>
          </p:nvSpPr>
          <p:spPr>
            <a:xfrm>
              <a:off x="4296854" y="5232705"/>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60" name="Google Shape;360;p40"/>
            <p:cNvSpPr txBox="1"/>
            <p:nvPr/>
          </p:nvSpPr>
          <p:spPr>
            <a:xfrm>
              <a:off x="4624695" y="5357219"/>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61" name="Google Shape;361;p40"/>
          <p:cNvGrpSpPr/>
          <p:nvPr/>
        </p:nvGrpSpPr>
        <p:grpSpPr>
          <a:xfrm>
            <a:off x="5962650" y="3376612"/>
            <a:ext cx="1057275" cy="696912"/>
            <a:chOff x="5962314" y="3377041"/>
            <a:chExt cx="1058365" cy="696160"/>
          </a:xfrm>
        </p:grpSpPr>
        <p:sp>
          <p:nvSpPr>
            <p:cNvPr id="362" name="Google Shape;362;p40"/>
            <p:cNvSpPr txBox="1"/>
            <p:nvPr/>
          </p:nvSpPr>
          <p:spPr>
            <a:xfrm>
              <a:off x="6609405" y="3377041"/>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63" name="Google Shape;363;p40"/>
            <p:cNvSpPr txBox="1"/>
            <p:nvPr/>
          </p:nvSpPr>
          <p:spPr>
            <a:xfrm>
              <a:off x="6297328" y="3560476"/>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64" name="Google Shape;364;p40"/>
            <p:cNvSpPr txBox="1"/>
            <p:nvPr/>
          </p:nvSpPr>
          <p:spPr>
            <a:xfrm>
              <a:off x="5962314" y="3704711"/>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65" name="Google Shape;365;p40"/>
          <p:cNvGrpSpPr/>
          <p:nvPr/>
        </p:nvGrpSpPr>
        <p:grpSpPr>
          <a:xfrm>
            <a:off x="7291387" y="3616325"/>
            <a:ext cx="1012825" cy="806450"/>
            <a:chOff x="7291568" y="3615974"/>
            <a:chExt cx="1012870" cy="807021"/>
          </a:xfrm>
        </p:grpSpPr>
        <p:sp>
          <p:nvSpPr>
            <p:cNvPr id="366" name="Google Shape;366;p40"/>
            <p:cNvSpPr txBox="1"/>
            <p:nvPr/>
          </p:nvSpPr>
          <p:spPr>
            <a:xfrm>
              <a:off x="7893164" y="3615974"/>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67" name="Google Shape;367;p40"/>
            <p:cNvSpPr txBox="1"/>
            <p:nvPr/>
          </p:nvSpPr>
          <p:spPr>
            <a:xfrm>
              <a:off x="7591234" y="3836140"/>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68" name="Google Shape;368;p40"/>
            <p:cNvSpPr txBox="1"/>
            <p:nvPr/>
          </p:nvSpPr>
          <p:spPr>
            <a:xfrm>
              <a:off x="7291568" y="4054505"/>
              <a:ext cx="411274" cy="368490"/>
            </a:xfrm>
            <a:prstGeom prst="rect">
              <a:avLst/>
            </a:prstGeom>
            <a:solidFill>
              <a:srgbClr val="DADADA"/>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grpSp>
        <p:nvGrpSpPr>
          <p:cNvPr id="369" name="Google Shape;369;p40"/>
          <p:cNvGrpSpPr/>
          <p:nvPr/>
        </p:nvGrpSpPr>
        <p:grpSpPr>
          <a:xfrm>
            <a:off x="8059737" y="4073525"/>
            <a:ext cx="1028700" cy="1128712"/>
            <a:chOff x="8060446" y="4073030"/>
            <a:chExt cx="1028185" cy="1129357"/>
          </a:xfrm>
        </p:grpSpPr>
        <p:sp>
          <p:nvSpPr>
            <p:cNvPr id="370" name="Google Shape;370;p40"/>
            <p:cNvSpPr txBox="1"/>
            <p:nvPr/>
          </p:nvSpPr>
          <p:spPr>
            <a:xfrm>
              <a:off x="8677357" y="4073030"/>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71" name="Google Shape;371;p40"/>
            <p:cNvSpPr txBox="1"/>
            <p:nvPr/>
          </p:nvSpPr>
          <p:spPr>
            <a:xfrm>
              <a:off x="8471720" y="4322475"/>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72" name="Google Shape;372;p40"/>
            <p:cNvSpPr txBox="1"/>
            <p:nvPr/>
          </p:nvSpPr>
          <p:spPr>
            <a:xfrm>
              <a:off x="8266083" y="4582680"/>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sp>
          <p:nvSpPr>
            <p:cNvPr id="373" name="Google Shape;373;p40"/>
            <p:cNvSpPr txBox="1"/>
            <p:nvPr/>
          </p:nvSpPr>
          <p:spPr>
            <a:xfrm>
              <a:off x="8060446" y="4833897"/>
              <a:ext cx="411274" cy="368490"/>
            </a:xfrm>
            <a:prstGeom prst="rect">
              <a:avLst/>
            </a:prstGeom>
            <a:solidFill>
              <a:srgbClr val="F8F8F8"/>
            </a:solidFill>
            <a:ln cap="flat" cmpd="sng" w="12700">
              <a:solidFill>
                <a:srgbClr val="A3A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Times New Roman"/>
                <a:ea typeface="Times New Roman"/>
                <a:cs typeface="Times New Roman"/>
                <a:sym typeface="Times New Roman"/>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1"/>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INODE…contd</a:t>
            </a:r>
            <a:endParaRPr/>
          </a:p>
        </p:txBody>
      </p:sp>
      <p:sp>
        <p:nvSpPr>
          <p:cNvPr id="379" name="Google Shape;379;p41"/>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*I_mount;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socket *I_socket;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Reference_counter,flags,lock,bits that denote if this is a pipe,socket.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Union {</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pipe_node_info pipe_i;</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minix_inode_info minix_i;</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*generic_ip;</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Inodes are managed as doubly linked lists as well as a hash table.starts with first_inode(/ inode).iget() function can be used to get the inode specified by the superblock.It uses hints to resolve cross mounted file systems as well.Any access to inode increments a usage counter.Analogous function iput(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Inode Operations</a:t>
            </a:r>
            <a:endParaRPr/>
          </a:p>
        </p:txBody>
      </p:sp>
      <p:sp>
        <p:nvSpPr>
          <p:cNvPr id="385" name="Google Shape;385;p42"/>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Struct inode_operations {</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Struct file_operations *default_file_ops;</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(*create)(struct inode *,const char *,int,int,struct inode **);</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(*lookup)(struct inode *,const char *,int,struct inode **);</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(*link)(struct inode *,struct inode *,const char *,int);</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(*unlink)(struct inode *,const char *,int);</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(*symlink)(struct inode *,const char *,int);</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(*mkdir)(struct inode *,const char *,int);</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Similiarly we have rmdir,mknod,rename,readlink,follow_link,bmap,truncate,permission,smap.</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NOTE :All these functions are directly called from the implementation of the corresponding system call.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3"/>
          <p:cNvSpPr txBox="1"/>
          <p:nvPr>
            <p:ph type="title"/>
          </p:nvPr>
        </p:nvSpPr>
        <p:spPr>
          <a:xfrm>
            <a:off x="685800" y="404812"/>
            <a:ext cx="77724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4400"/>
              <a:buFont typeface="Arial"/>
              <a:buNone/>
            </a:pPr>
            <a:r>
              <a:rPr b="0" i="0" lang="en-US" sz="4400" u="none">
                <a:solidFill>
                  <a:schemeClr val="lt2"/>
                </a:solidFill>
                <a:latin typeface="Arial"/>
                <a:ea typeface="Arial"/>
                <a:cs typeface="Arial"/>
                <a:sym typeface="Arial"/>
              </a:rPr>
              <a:t>Advantages of inodes</a:t>
            </a:r>
            <a:endParaRPr/>
          </a:p>
        </p:txBody>
      </p:sp>
      <p:sp>
        <p:nvSpPr>
          <p:cNvPr id="391" name="Google Shape;391;p43"/>
          <p:cNvSpPr txBox="1"/>
          <p:nvPr>
            <p:ph idx="1" type="body"/>
          </p:nvPr>
        </p:nvSpPr>
        <p:spPr>
          <a:xfrm>
            <a:off x="539750" y="1773237"/>
            <a:ext cx="7772400" cy="39703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Optimized for file systems with many small files</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Each inode can directly point to 48KB of data</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Only one layer of indirection needed for 4MB files</a:t>
            </a:r>
            <a:endParaRPr/>
          </a:p>
          <a:p>
            <a:pPr indent="-342900" lvl="0" marL="342900" marR="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Faster file access</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Greater meta-data locality 🡪 less random seeking</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No need to traverse long, chained FAT entries</a:t>
            </a:r>
            <a:endParaRPr/>
          </a:p>
          <a:p>
            <a:pPr indent="-342900" lvl="0" marL="342900" marR="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Easier free space management</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Bitmaps can be cached in memory for fast access</a:t>
            </a:r>
            <a:endParaRPr/>
          </a:p>
          <a:p>
            <a:pPr indent="-285750" lvl="1" marL="742950" marR="0" rtl="0" algn="l">
              <a:lnSpc>
                <a:spcPct val="100000"/>
              </a:lnSpc>
              <a:spcBef>
                <a:spcPts val="480"/>
              </a:spcBef>
              <a:spcAft>
                <a:spcPts val="0"/>
              </a:spcAft>
              <a:buClr>
                <a:schemeClr val="lt1"/>
              </a:buClr>
              <a:buSzPts val="2160"/>
              <a:buFont typeface="Times New Roman"/>
              <a:buChar char="–"/>
            </a:pPr>
            <a:r>
              <a:rPr b="0" i="0" lang="en-US" sz="2400" u="none" cap="none" strike="noStrike">
                <a:solidFill>
                  <a:schemeClr val="lt1"/>
                </a:solidFill>
                <a:latin typeface="Times New Roman"/>
                <a:ea typeface="Times New Roman"/>
                <a:cs typeface="Times New Roman"/>
                <a:sym typeface="Times New Roman"/>
              </a:rPr>
              <a:t>inode and data space handled independently</a:t>
            </a:r>
            <a:endParaRPr/>
          </a:p>
        </p:txBody>
      </p:sp>
      <p:sp>
        <p:nvSpPr>
          <p:cNvPr id="392" name="Google Shape;392;p43"/>
          <p:cNvSpPr txBox="1"/>
          <p:nvPr/>
        </p:nvSpPr>
        <p:spPr>
          <a:xfrm>
            <a:off x="6553200" y="6248400"/>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4"/>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File System Calls.</a:t>
            </a:r>
            <a:endParaRPr/>
          </a:p>
        </p:txBody>
      </p:sp>
      <p:sp>
        <p:nvSpPr>
          <p:cNvPr id="398" name="Google Shape;398;p44"/>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Create(),lookup(),link(),unlink(),symlink(),mkdir(),rmdir(),</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mknod(),rename(),readlink(),follow_link()</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Bmap() : used for mmap’ing files .This function is called by the function generic_mmap() to map a block of data from file to an address in the user space.</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Smap():allows swap files to be created on a UMSDOS file system.</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To allow for shared accesses to files,UNIX introduced an extra structure.</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file {</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Mode_t f_mode;</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Loff_t f_pos;</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Unsigned short f_flags;</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Unsigned short f_count;</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Off_t f_reada;/* readahead flag */</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file *f_next,*f_prev;</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inode *f_inode;</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Struct file_operations *f_op;</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Void *private_data;</a:t>
            </a:r>
            <a:endParaRPr/>
          </a:p>
          <a:p>
            <a:pPr indent="-342900" lvl="0" marL="342900" rtl="0" algn="l">
              <a:lnSpc>
                <a:spcPct val="9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5"/>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File Operations .</a:t>
            </a:r>
            <a:endParaRPr/>
          </a:p>
        </p:txBody>
      </p:sp>
      <p:sp>
        <p:nvSpPr>
          <p:cNvPr id="404" name="Google Shape;404;p45"/>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General interface to work on files,Has functions to open,close,read,write etc.Why are these isolated from inode_operations?These operations also need to modify struct file.Hence.</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Struct file_operations {</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Struct module *owner;</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Int (*lseek)(…)</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Read,write,readdir,select,ioctl,mmap,open,release,fsync,fasync,check_media_change,revalidate..</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These are also used by sockets/drivers etc..The inode operations only use the representation of the socket/device .</a:t>
            </a:r>
            <a:endParaRPr/>
          </a:p>
          <a:p>
            <a:pPr indent="-342900" lvl="0" marL="342900" rtl="0" algn="l">
              <a:lnSpc>
                <a:spcPct val="9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If any of these functions are not implemented ,it tries to call default file operations function,failing which an error is returned.Certain functions only make sense for drivers,like release,open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6"/>
          <p:cNvSpPr txBox="1"/>
          <p:nvPr>
            <p:ph type="title"/>
          </p:nvPr>
        </p:nvSpPr>
        <p:spPr>
          <a:xfrm>
            <a:off x="762000" y="228600"/>
            <a:ext cx="75438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Opening Files</a:t>
            </a:r>
            <a:endParaRPr/>
          </a:p>
        </p:txBody>
      </p:sp>
      <p:sp>
        <p:nvSpPr>
          <p:cNvPr id="411" name="Google Shape;411;p46"/>
          <p:cNvSpPr txBox="1"/>
          <p:nvPr>
            <p:ph idx="1" type="body"/>
          </p:nvPr>
        </p:nvSpPr>
        <p:spPr>
          <a:xfrm>
            <a:off x="609600" y="762000"/>
            <a:ext cx="8229600" cy="5867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Open : most complicated system call. Authorization to open the file is checked,an empty file structure is allocated and entered in file decsriptor table of process and open_namei() is used to retreive the inode for the file.Performs a lot of tests.</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Name ends in a /.What should be done?</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If O_CREAT is set,What function should this call?</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What about symbolic links,directories?</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Permission is checked with the inode permission list also.</a:t>
            </a:r>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What about character devices and block devices ?</a:t>
            </a:r>
            <a:endParaRPr/>
          </a:p>
          <a:p>
            <a:pPr indent="-220980" lvl="0" marL="342900" rtl="0" algn="l">
              <a:lnSpc>
                <a:spcPct val="100000"/>
              </a:lnSpc>
              <a:spcBef>
                <a:spcPts val="480"/>
              </a:spcBef>
              <a:spcAft>
                <a:spcPts val="0"/>
              </a:spcAft>
              <a:buClr>
                <a:schemeClr val="accent2"/>
              </a:buClr>
              <a:buSzPts val="1920"/>
              <a:buFont typeface="Noto Sans Symbols"/>
              <a:buNone/>
            </a:pPr>
            <a:r>
              <a:t/>
            </a:r>
            <a:endParaRPr b="0" i="0" sz="2400" u="none">
              <a:solidFill>
                <a:schemeClr val="lt1"/>
              </a:solidFill>
              <a:latin typeface="Times New Roman"/>
              <a:ea typeface="Times New Roman"/>
              <a:cs typeface="Times New Roman"/>
              <a:sym typeface="Times New Roman"/>
            </a:endParaRPr>
          </a:p>
          <a:p>
            <a:pPr indent="-342900" lvl="0" marL="342900" rtl="0" algn="l">
              <a:lnSpc>
                <a:spcPct val="100000"/>
              </a:lnSpc>
              <a:spcBef>
                <a:spcPts val="480"/>
              </a:spcBef>
              <a:spcAft>
                <a:spcPts val="0"/>
              </a:spcAft>
              <a:buClr>
                <a:schemeClr val="accent2"/>
              </a:buClr>
              <a:buSzPts val="1920"/>
              <a:buFont typeface="Noto Sans Symbols"/>
              <a:buChar char="●"/>
            </a:pPr>
            <a:r>
              <a:rPr b="0" i="0" lang="en-US" sz="2400" u="none">
                <a:solidFill>
                  <a:schemeClr val="lt1"/>
                </a:solidFill>
                <a:latin typeface="Times New Roman"/>
                <a:ea typeface="Times New Roman"/>
                <a:cs typeface="Times New Roman"/>
                <a:sym typeface="Times New Roman"/>
              </a:rPr>
              <a:t>Directory cache originated in ext2fs.Directory names are cached.It is a 2-level cache with LRU at both levels.Hash key is formed by the dev number and the inode number and the name.Exports dcache_add,dcache_lookup functions</a:t>
            </a:r>
            <a:endParaRPr/>
          </a:p>
          <a:p>
            <a:pPr indent="-220980" lvl="0" marL="342900" rtl="0" algn="l">
              <a:lnSpc>
                <a:spcPct val="100000"/>
              </a:lnSpc>
              <a:spcBef>
                <a:spcPts val="480"/>
              </a:spcBef>
              <a:spcAft>
                <a:spcPts val="0"/>
              </a:spcAft>
              <a:buSzPts val="1920"/>
              <a:buNone/>
            </a:pPr>
            <a:r>
              <a:t/>
            </a:r>
            <a:endParaRPr b="0" i="0" sz="2400" u="none">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7"/>
          <p:cNvSpPr txBox="1"/>
          <p:nvPr>
            <p:ph type="title"/>
          </p:nvPr>
        </p:nvSpPr>
        <p:spPr>
          <a:xfrm>
            <a:off x="609600" y="228600"/>
            <a:ext cx="7772400" cy="457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PROC FILE SYSTEM</a:t>
            </a:r>
            <a:endParaRPr/>
          </a:p>
        </p:txBody>
      </p:sp>
      <p:sp>
        <p:nvSpPr>
          <p:cNvPr id="417" name="Google Shape;417;p47"/>
          <p:cNvSpPr txBox="1"/>
          <p:nvPr>
            <p:ph idx="1" type="body"/>
          </p:nvPr>
        </p:nvSpPr>
        <p:spPr>
          <a:xfrm>
            <a:off x="762000" y="838200"/>
            <a:ext cx="7924800" cy="5791200"/>
          </a:xfrm>
          <a:prstGeom prst="rect">
            <a:avLst/>
          </a:prstGeom>
          <a:noFill/>
          <a:ln>
            <a:noFill/>
          </a:ln>
        </p:spPr>
        <p:txBody>
          <a:bodyPr anchorCtr="0" anchor="t" bIns="45700" lIns="91425" spcFirstLastPara="1" rIns="91425" wrap="square" tIns="45700">
            <a:noAutofit/>
          </a:bodyPr>
          <a:lstStyle/>
          <a:p>
            <a:pPr indent="-334010" lvl="0" marL="342900" rtl="0" algn="l">
              <a:lnSpc>
                <a:spcPct val="115000"/>
              </a:lnSpc>
              <a:spcBef>
                <a:spcPts val="1200"/>
              </a:spcBef>
              <a:spcAft>
                <a:spcPts val="0"/>
              </a:spcAft>
              <a:buClr>
                <a:schemeClr val="lt1"/>
              </a:buClr>
              <a:buSzPts val="1300"/>
              <a:buFont typeface="Arial"/>
              <a:buChar char="●"/>
            </a:pPr>
            <a:r>
              <a:rPr b="1" lang="en-US" sz="1300">
                <a:latin typeface="Arial"/>
                <a:ea typeface="Arial"/>
                <a:cs typeface="Arial"/>
                <a:sym typeface="Arial"/>
              </a:rPr>
              <a:t>procfs is a </a:t>
            </a:r>
            <a:r>
              <a:rPr b="1" i="1" lang="en-US" sz="1300">
                <a:latin typeface="Arial"/>
                <a:ea typeface="Arial"/>
                <a:cs typeface="Arial"/>
                <a:sym typeface="Arial"/>
              </a:rPr>
              <a:t>virtual</a:t>
            </a:r>
            <a:r>
              <a:rPr b="1" lang="en-US" sz="1300">
                <a:latin typeface="Arial"/>
                <a:ea typeface="Arial"/>
                <a:cs typeface="Arial"/>
                <a:sym typeface="Arial"/>
              </a:rPr>
              <a:t> file system — it doesn’t store files on a disk.</a:t>
            </a:r>
            <a:br>
              <a:rPr b="1" lang="en-US" sz="1300">
                <a:latin typeface="Arial"/>
                <a:ea typeface="Arial"/>
                <a:cs typeface="Arial"/>
                <a:sym typeface="Arial"/>
              </a:rPr>
            </a:br>
            <a:endParaRPr b="1" sz="1300">
              <a:latin typeface="Arial"/>
              <a:ea typeface="Arial"/>
              <a:cs typeface="Arial"/>
              <a:sym typeface="Arial"/>
            </a:endParaRPr>
          </a:p>
          <a:p>
            <a:pPr indent="-334010" lvl="0" marL="342900" rtl="0" algn="l">
              <a:lnSpc>
                <a:spcPct val="115000"/>
              </a:lnSpc>
              <a:spcBef>
                <a:spcPts val="0"/>
              </a:spcBef>
              <a:spcAft>
                <a:spcPts val="0"/>
              </a:spcAft>
              <a:buClr>
                <a:schemeClr val="lt1"/>
              </a:buClr>
              <a:buSzPts val="1300"/>
              <a:buFont typeface="Arial"/>
              <a:buChar char="●"/>
            </a:pPr>
            <a:r>
              <a:rPr b="1" lang="en-US" sz="1300">
                <a:latin typeface="Arial"/>
                <a:ea typeface="Arial"/>
                <a:cs typeface="Arial"/>
                <a:sym typeface="Arial"/>
              </a:rPr>
              <a:t>Instead, it’s a way for the kernel to expose information about running processes and system status as files.</a:t>
            </a:r>
            <a:br>
              <a:rPr b="1" lang="en-US" sz="1300">
                <a:latin typeface="Arial"/>
                <a:ea typeface="Arial"/>
                <a:cs typeface="Arial"/>
                <a:sym typeface="Arial"/>
              </a:rPr>
            </a:br>
            <a:endParaRPr b="1" sz="1300">
              <a:latin typeface="Arial"/>
              <a:ea typeface="Arial"/>
              <a:cs typeface="Arial"/>
              <a:sym typeface="Arial"/>
            </a:endParaRPr>
          </a:p>
          <a:p>
            <a:pPr indent="-334010" lvl="0" marL="342900" rtl="0" algn="l">
              <a:lnSpc>
                <a:spcPct val="115000"/>
              </a:lnSpc>
              <a:spcBef>
                <a:spcPts val="0"/>
              </a:spcBef>
              <a:spcAft>
                <a:spcPts val="0"/>
              </a:spcAft>
              <a:buClr>
                <a:schemeClr val="lt1"/>
              </a:buClr>
              <a:buSzPts val="1300"/>
              <a:buFont typeface="Arial"/>
              <a:buChar char="●"/>
            </a:pPr>
            <a:r>
              <a:rPr b="1" lang="en-US" sz="1300">
                <a:latin typeface="Arial"/>
                <a:ea typeface="Arial"/>
                <a:cs typeface="Arial"/>
                <a:sym typeface="Arial"/>
              </a:rPr>
              <a:t>Usually mounted at </a:t>
            </a:r>
            <a:r>
              <a:rPr b="1" lang="en-US" sz="1300">
                <a:latin typeface="Roboto Mono"/>
                <a:ea typeface="Roboto Mono"/>
                <a:cs typeface="Roboto Mono"/>
                <a:sym typeface="Roboto Mono"/>
              </a:rPr>
              <a:t>/proc</a:t>
            </a:r>
            <a:r>
              <a:rPr b="1" lang="en-US" sz="1300">
                <a:latin typeface="Arial"/>
                <a:ea typeface="Arial"/>
                <a:cs typeface="Arial"/>
                <a:sym typeface="Arial"/>
              </a:rPr>
              <a:t>.</a:t>
            </a:r>
            <a:endParaRPr b="1" sz="1300">
              <a:latin typeface="Arial"/>
              <a:ea typeface="Arial"/>
              <a:cs typeface="Arial"/>
              <a:sym typeface="Arial"/>
            </a:endParaRPr>
          </a:p>
          <a:p>
            <a:pPr indent="0" lvl="0" marL="0" rtl="0" algn="l">
              <a:lnSpc>
                <a:spcPct val="115000"/>
              </a:lnSpc>
              <a:spcBef>
                <a:spcPts val="1400"/>
              </a:spcBef>
              <a:spcAft>
                <a:spcPts val="0"/>
              </a:spcAft>
              <a:buSzPts val="1440"/>
              <a:buNone/>
            </a:pPr>
            <a:r>
              <a:rPr b="1" lang="en-US" sz="1500">
                <a:latin typeface="Arial"/>
                <a:ea typeface="Arial"/>
                <a:cs typeface="Arial"/>
                <a:sym typeface="Arial"/>
              </a:rPr>
              <a:t> Structure</a:t>
            </a:r>
            <a:endParaRPr b="1" sz="1500">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b="1" lang="en-US" sz="1300">
                <a:latin typeface="Roboto Mono"/>
                <a:ea typeface="Roboto Mono"/>
                <a:cs typeface="Roboto Mono"/>
                <a:sym typeface="Roboto Mono"/>
              </a:rPr>
              <a:t>/proc/&lt;PID&gt;/</a:t>
            </a:r>
            <a:r>
              <a:rPr b="1" lang="en-US" sz="1300">
                <a:latin typeface="Arial"/>
                <a:ea typeface="Arial"/>
                <a:cs typeface="Arial"/>
                <a:sym typeface="Arial"/>
              </a:rPr>
              <a:t> → Directory for each running process (PID = Process ID).</a:t>
            </a:r>
            <a:br>
              <a:rPr b="1" lang="en-US" sz="1300">
                <a:latin typeface="Arial"/>
                <a:ea typeface="Arial"/>
                <a:cs typeface="Arial"/>
                <a:sym typeface="Arial"/>
              </a:rPr>
            </a:br>
            <a:endParaRPr b="1"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n-US" sz="1300">
                <a:latin typeface="Arial"/>
                <a:ea typeface="Arial"/>
                <a:cs typeface="Arial"/>
                <a:sym typeface="Arial"/>
              </a:rPr>
              <a:t>Contains files like:</a:t>
            </a:r>
            <a:br>
              <a:rPr b="1" lang="en-US" sz="1300">
                <a:latin typeface="Arial"/>
                <a:ea typeface="Arial"/>
                <a:cs typeface="Arial"/>
                <a:sym typeface="Arial"/>
              </a:rPr>
            </a:br>
            <a:endParaRPr b="1" sz="1300">
              <a:latin typeface="Arial"/>
              <a:ea typeface="Arial"/>
              <a:cs typeface="Arial"/>
              <a:sym typeface="Arial"/>
            </a:endParaRPr>
          </a:p>
          <a:p>
            <a:pPr indent="-311150" lvl="2" marL="13716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cmdline</a:t>
            </a:r>
            <a:r>
              <a:rPr b="1" lang="en-US" sz="1300">
                <a:latin typeface="Arial"/>
                <a:ea typeface="Arial"/>
                <a:cs typeface="Arial"/>
                <a:sym typeface="Arial"/>
              </a:rPr>
              <a:t> → Command that started the process</a:t>
            </a:r>
            <a:br>
              <a:rPr b="1" lang="en-US" sz="1300">
                <a:latin typeface="Arial"/>
                <a:ea typeface="Arial"/>
                <a:cs typeface="Arial"/>
                <a:sym typeface="Arial"/>
              </a:rPr>
            </a:br>
            <a:endParaRPr b="1" sz="1300">
              <a:latin typeface="Arial"/>
              <a:ea typeface="Arial"/>
              <a:cs typeface="Arial"/>
              <a:sym typeface="Arial"/>
            </a:endParaRPr>
          </a:p>
          <a:p>
            <a:pPr indent="-311150" lvl="2" marL="13716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status</a:t>
            </a:r>
            <a:r>
              <a:rPr b="1" lang="en-US" sz="1300">
                <a:latin typeface="Arial"/>
                <a:ea typeface="Arial"/>
                <a:cs typeface="Arial"/>
                <a:sym typeface="Arial"/>
              </a:rPr>
              <a:t> → Process state and memory usage</a:t>
            </a:r>
            <a:br>
              <a:rPr b="1" lang="en-US" sz="1300">
                <a:latin typeface="Arial"/>
                <a:ea typeface="Arial"/>
                <a:cs typeface="Arial"/>
                <a:sym typeface="Arial"/>
              </a:rPr>
            </a:br>
            <a:endParaRPr b="1" sz="1300">
              <a:latin typeface="Arial"/>
              <a:ea typeface="Arial"/>
              <a:cs typeface="Arial"/>
              <a:sym typeface="Arial"/>
            </a:endParaRPr>
          </a:p>
          <a:p>
            <a:pPr indent="-311150" lvl="2" marL="13716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fd/</a:t>
            </a:r>
            <a:r>
              <a:rPr b="1" lang="en-US" sz="1300">
                <a:latin typeface="Arial"/>
                <a:ea typeface="Arial"/>
                <a:cs typeface="Arial"/>
                <a:sym typeface="Arial"/>
              </a:rPr>
              <a:t> → File descriptors used by the process</a:t>
            </a:r>
            <a:br>
              <a:rPr b="1" lang="en-US" sz="1300">
                <a:latin typeface="Arial"/>
                <a:ea typeface="Arial"/>
                <a:cs typeface="Arial"/>
                <a:sym typeface="Arial"/>
              </a:rPr>
            </a:br>
            <a:endParaRPr b="1"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US" sz="1300">
                <a:latin typeface="Arial"/>
                <a:ea typeface="Arial"/>
                <a:cs typeface="Arial"/>
                <a:sym typeface="Arial"/>
              </a:rPr>
              <a:t>System-wide info:</a:t>
            </a:r>
            <a:br>
              <a:rPr b="1" lang="en-US" sz="1300">
                <a:latin typeface="Arial"/>
                <a:ea typeface="Arial"/>
                <a:cs typeface="Arial"/>
                <a:sym typeface="Arial"/>
              </a:rPr>
            </a:br>
            <a:endParaRPr b="1"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/proc/cpuinfo</a:t>
            </a:r>
            <a:r>
              <a:rPr b="1" lang="en-US" sz="1300">
                <a:latin typeface="Arial"/>
                <a:ea typeface="Arial"/>
                <a:cs typeface="Arial"/>
                <a:sym typeface="Arial"/>
              </a:rPr>
              <a:t> → CPU details</a:t>
            </a:r>
            <a:br>
              <a:rPr b="1" lang="en-US" sz="1300">
                <a:latin typeface="Arial"/>
                <a:ea typeface="Arial"/>
                <a:cs typeface="Arial"/>
                <a:sym typeface="Arial"/>
              </a:rPr>
            </a:br>
            <a:endParaRPr b="1"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/proc/meminfo</a:t>
            </a:r>
            <a:r>
              <a:rPr b="1" lang="en-US" sz="1300">
                <a:latin typeface="Arial"/>
                <a:ea typeface="Arial"/>
                <a:cs typeface="Arial"/>
                <a:sym typeface="Arial"/>
              </a:rPr>
              <a:t> → Memory usage</a:t>
            </a:r>
            <a:br>
              <a:rPr b="1" lang="en-US" sz="1300">
                <a:latin typeface="Arial"/>
                <a:ea typeface="Arial"/>
                <a:cs typeface="Arial"/>
                <a:sym typeface="Arial"/>
              </a:rPr>
            </a:br>
            <a:endParaRPr b="1"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n-US" sz="1300">
                <a:latin typeface="Roboto Mono"/>
                <a:ea typeface="Roboto Mono"/>
                <a:cs typeface="Roboto Mono"/>
                <a:sym typeface="Roboto Mono"/>
              </a:rPr>
              <a:t>/proc/uptime</a:t>
            </a:r>
            <a:r>
              <a:rPr b="1" lang="en-US" sz="1300">
                <a:latin typeface="Arial"/>
                <a:ea typeface="Arial"/>
                <a:cs typeface="Arial"/>
                <a:sym typeface="Arial"/>
              </a:rPr>
              <a:t> → How long the system has been running</a:t>
            </a:r>
            <a:endParaRPr b="1" sz="1300">
              <a:latin typeface="Arial"/>
              <a:ea typeface="Arial"/>
              <a:cs typeface="Arial"/>
              <a:sym typeface="Arial"/>
            </a:endParaRPr>
          </a:p>
          <a:p>
            <a:pPr indent="-342900" lvl="0" marL="342900" rtl="0" algn="l">
              <a:lnSpc>
                <a:spcPct val="90000"/>
              </a:lnSpc>
              <a:spcBef>
                <a:spcPts val="400"/>
              </a:spcBef>
              <a:spcAft>
                <a:spcPts val="0"/>
              </a:spcAft>
              <a:buClr>
                <a:schemeClr val="lt1"/>
              </a:buClr>
              <a:buSzPts val="1640"/>
              <a:buChar char="●"/>
            </a:pPr>
            <a:r>
              <a:t/>
            </a:r>
            <a:endParaRPr b="1" sz="3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8"/>
          <p:cNvSpPr txBox="1"/>
          <p:nvPr>
            <p:ph idx="1" type="body"/>
          </p:nvPr>
        </p:nvSpPr>
        <p:spPr>
          <a:xfrm>
            <a:off x="685800" y="248200"/>
            <a:ext cx="7772400" cy="58479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000"/>
              <a:buChar char="●"/>
            </a:pPr>
            <a:r>
              <a:rPr lang="en-US" sz="2000"/>
              <a:t>Every process has a directory in /proc/pid which contains files relevant to the process.</a:t>
            </a:r>
            <a:endParaRPr sz="2000"/>
          </a:p>
          <a:p>
            <a:pPr indent="0" lvl="0" marL="0" rtl="0" algn="l">
              <a:lnSpc>
                <a:spcPct val="115000"/>
              </a:lnSpc>
              <a:spcBef>
                <a:spcPts val="1400"/>
              </a:spcBef>
              <a:spcAft>
                <a:spcPts val="0"/>
              </a:spcAft>
              <a:buSzPts val="1440"/>
              <a:buNone/>
            </a:pPr>
            <a:r>
              <a:rPr b="1" lang="en-US" sz="2000">
                <a:latin typeface="Arial"/>
                <a:ea typeface="Arial"/>
                <a:cs typeface="Arial"/>
                <a:sym typeface="Arial"/>
              </a:rPr>
              <a:t>How procfs Works Internally</a:t>
            </a:r>
            <a:endParaRPr b="1" sz="2000">
              <a:latin typeface="Arial"/>
              <a:ea typeface="Arial"/>
              <a:cs typeface="Arial"/>
              <a:sym typeface="Arial"/>
            </a:endParaRPr>
          </a:p>
          <a:p>
            <a:pPr indent="-355600" lvl="0" marL="457200" rtl="0" algn="l">
              <a:lnSpc>
                <a:spcPct val="115000"/>
              </a:lnSpc>
              <a:spcBef>
                <a:spcPts val="1200"/>
              </a:spcBef>
              <a:spcAft>
                <a:spcPts val="0"/>
              </a:spcAft>
              <a:buClr>
                <a:schemeClr val="lt1"/>
              </a:buClr>
              <a:buSzPts val="2000"/>
              <a:buFont typeface="Arial"/>
              <a:buChar char="●"/>
            </a:pPr>
            <a:r>
              <a:rPr lang="en-US" sz="2000">
                <a:latin typeface="Arial"/>
                <a:ea typeface="Arial"/>
                <a:cs typeface="Arial"/>
                <a:sym typeface="Arial"/>
              </a:rPr>
              <a:t>Mounted during system startup by the kernel.</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Font typeface="Arial"/>
              <a:buChar char="●"/>
            </a:pPr>
            <a:r>
              <a:rPr lang="en-US" sz="2000">
                <a:latin typeface="Arial"/>
                <a:ea typeface="Arial"/>
                <a:cs typeface="Arial"/>
                <a:sym typeface="Arial"/>
              </a:rPr>
              <a:t>In VFS terms:</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AutoNum type="arabicPeriod"/>
            </a:pPr>
            <a:r>
              <a:rPr lang="en-US" sz="2000">
                <a:latin typeface="Arial"/>
                <a:ea typeface="Arial"/>
                <a:cs typeface="Arial"/>
                <a:sym typeface="Arial"/>
              </a:rPr>
              <a:t>VFS calls </a:t>
            </a:r>
            <a:r>
              <a:rPr lang="en-US" sz="2000">
                <a:latin typeface="Roboto Mono"/>
                <a:ea typeface="Roboto Mono"/>
                <a:cs typeface="Roboto Mono"/>
                <a:sym typeface="Roboto Mono"/>
              </a:rPr>
              <a:t>read_super()</a:t>
            </a:r>
            <a:r>
              <a:rPr lang="en-US" sz="2000">
                <a:latin typeface="Arial"/>
                <a:ea typeface="Arial"/>
                <a:cs typeface="Arial"/>
                <a:sym typeface="Arial"/>
              </a:rPr>
              <a:t> when mounting </a:t>
            </a:r>
            <a:r>
              <a:rPr lang="en-US" sz="2000">
                <a:latin typeface="Roboto Mono"/>
                <a:ea typeface="Roboto Mono"/>
                <a:cs typeface="Roboto Mono"/>
                <a:sym typeface="Roboto Mono"/>
              </a:rPr>
              <a:t>/proc</a:t>
            </a:r>
            <a:r>
              <a:rPr lang="en-US" sz="2000">
                <a:latin typeface="Arial"/>
                <a:ea typeface="Arial"/>
                <a:cs typeface="Arial"/>
                <a:sym typeface="Arial"/>
              </a:rPr>
              <a:t>.</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AutoNum type="arabicPeriod"/>
            </a:pPr>
            <a:r>
              <a:rPr lang="en-US" sz="2000">
                <a:latin typeface="Roboto Mono"/>
                <a:ea typeface="Roboto Mono"/>
                <a:cs typeface="Roboto Mono"/>
                <a:sym typeface="Roboto Mono"/>
              </a:rPr>
              <a:t>proc_read_super()</a:t>
            </a:r>
            <a:r>
              <a:rPr lang="en-US" sz="2000">
                <a:latin typeface="Arial"/>
                <a:ea typeface="Arial"/>
                <a:cs typeface="Arial"/>
                <a:sym typeface="Arial"/>
              </a:rPr>
              <a:t> sets up the proc file system’s </a:t>
            </a:r>
            <a:r>
              <a:rPr b="1" lang="en-US" sz="2000">
                <a:latin typeface="Arial"/>
                <a:ea typeface="Arial"/>
                <a:cs typeface="Arial"/>
                <a:sym typeface="Arial"/>
              </a:rPr>
              <a:t>superblock</a:t>
            </a:r>
            <a:r>
              <a:rPr lang="en-US" sz="2000">
                <a:latin typeface="Arial"/>
                <a:ea typeface="Arial"/>
                <a:cs typeface="Arial"/>
                <a:sym typeface="Arial"/>
              </a:rPr>
              <a:t> in memory.</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Clr>
                <a:schemeClr val="lt1"/>
              </a:buClr>
              <a:buSzPts val="2000"/>
              <a:buFont typeface="Arial"/>
              <a:buAutoNum type="arabicPeriod"/>
            </a:pPr>
            <a:r>
              <a:rPr lang="en-US" sz="2000">
                <a:latin typeface="Arial"/>
                <a:ea typeface="Arial"/>
                <a:cs typeface="Arial"/>
                <a:sym typeface="Arial"/>
              </a:rPr>
              <a:t>Root inode of </a:t>
            </a:r>
            <a:r>
              <a:rPr lang="en-US" sz="2000">
                <a:latin typeface="Roboto Mono"/>
                <a:ea typeface="Roboto Mono"/>
                <a:cs typeface="Roboto Mono"/>
                <a:sym typeface="Roboto Mono"/>
              </a:rPr>
              <a:t>/proc</a:t>
            </a:r>
            <a:r>
              <a:rPr lang="en-US" sz="2000">
                <a:latin typeface="Arial"/>
                <a:ea typeface="Arial"/>
                <a:cs typeface="Arial"/>
                <a:sym typeface="Arial"/>
              </a:rPr>
              <a:t> is created.</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Char char="●"/>
            </a:pPr>
            <a:r>
              <a:rPr lang="en-US" sz="2000">
                <a:latin typeface="Arial"/>
                <a:ea typeface="Arial"/>
                <a:cs typeface="Arial"/>
                <a:sym typeface="Arial"/>
              </a:rPr>
              <a:t>Files and directories in </a:t>
            </a:r>
            <a:r>
              <a:rPr lang="en-US" sz="2000">
                <a:latin typeface="Roboto Mono"/>
                <a:ea typeface="Roboto Mono"/>
                <a:cs typeface="Roboto Mono"/>
                <a:sym typeface="Roboto Mono"/>
              </a:rPr>
              <a:t>/proc</a:t>
            </a:r>
            <a:r>
              <a:rPr lang="en-US" sz="2000">
                <a:latin typeface="Arial"/>
                <a:ea typeface="Arial"/>
                <a:cs typeface="Arial"/>
                <a:sym typeface="Arial"/>
              </a:rPr>
              <a:t> are generated </a:t>
            </a:r>
            <a:r>
              <a:rPr b="1" lang="en-US" sz="2000">
                <a:latin typeface="Arial"/>
                <a:ea typeface="Arial"/>
                <a:cs typeface="Arial"/>
                <a:sym typeface="Arial"/>
              </a:rPr>
              <a:t>on the fly</a:t>
            </a:r>
            <a:r>
              <a:rPr lang="en-US" sz="2000">
                <a:latin typeface="Arial"/>
                <a:ea typeface="Arial"/>
                <a:cs typeface="Arial"/>
                <a:sym typeface="Arial"/>
              </a:rPr>
              <a:t> when you open/read them — nothing is stored permanently</a:t>
            </a:r>
            <a:r>
              <a:rPr lang="en-US" sz="2000">
                <a:solidFill>
                  <a:schemeClr val="dk1"/>
                </a:solidFill>
                <a:latin typeface="Arial"/>
                <a:ea typeface="Arial"/>
                <a:cs typeface="Arial"/>
                <a:sym typeface="Arial"/>
              </a:rPr>
              <a:t>.</a:t>
            </a:r>
            <a:endParaRPr sz="2000"/>
          </a:p>
          <a:p>
            <a:pPr indent="0" lvl="0" marL="0" rtl="0" algn="l">
              <a:lnSpc>
                <a:spcPct val="100000"/>
              </a:lnSpc>
              <a:spcBef>
                <a:spcPts val="1200"/>
              </a:spcBef>
              <a:spcAft>
                <a:spcPts val="0"/>
              </a:spcAft>
              <a:buSzPts val="1440"/>
              <a:buNone/>
            </a:pPr>
            <a:r>
              <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9"/>
          <p:cNvSpPr txBox="1"/>
          <p:nvPr>
            <p:ph idx="1" type="body"/>
          </p:nvPr>
        </p:nvSpPr>
        <p:spPr>
          <a:xfrm>
            <a:off x="685800" y="457200"/>
            <a:ext cx="7772400" cy="5638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400"/>
              </a:spcBef>
              <a:spcAft>
                <a:spcPts val="0"/>
              </a:spcAft>
              <a:buSzPts val="1600"/>
              <a:buChar char="●"/>
            </a:pPr>
            <a:r>
              <a:rPr lang="en-US" sz="2000"/>
              <a:t>Struct super_block *proc_read_super(struct super_block *s,void *data, int silent)</a:t>
            </a:r>
            <a:endParaRPr/>
          </a:p>
          <a:p>
            <a:pPr indent="-342900" lvl="0" marL="342900" rtl="0" algn="l">
              <a:lnSpc>
                <a:spcPct val="90000"/>
              </a:lnSpc>
              <a:spcBef>
                <a:spcPts val="400"/>
              </a:spcBef>
              <a:spcAft>
                <a:spcPts val="0"/>
              </a:spcAft>
              <a:buSzPts val="1600"/>
              <a:buChar char="●"/>
            </a:pPr>
            <a:r>
              <a:rPr lang="en-US" sz="2000"/>
              <a:t>{</a:t>
            </a:r>
            <a:endParaRPr/>
          </a:p>
          <a:p>
            <a:pPr indent="-342900" lvl="0" marL="342900" rtl="0" algn="l">
              <a:lnSpc>
                <a:spcPct val="90000"/>
              </a:lnSpc>
              <a:spcBef>
                <a:spcPts val="400"/>
              </a:spcBef>
              <a:spcAft>
                <a:spcPts val="0"/>
              </a:spcAft>
              <a:buSzPts val="1600"/>
              <a:buChar char="●"/>
            </a:pPr>
            <a:r>
              <a:rPr lang="en-US" sz="2000"/>
              <a:t>Lock_super(s);</a:t>
            </a:r>
            <a:endParaRPr/>
          </a:p>
          <a:p>
            <a:pPr indent="-342900" lvl="0" marL="342900" rtl="0" algn="l">
              <a:lnSpc>
                <a:spcPct val="90000"/>
              </a:lnSpc>
              <a:spcBef>
                <a:spcPts val="400"/>
              </a:spcBef>
              <a:spcAft>
                <a:spcPts val="0"/>
              </a:spcAft>
              <a:buSzPts val="1600"/>
              <a:buChar char="●"/>
            </a:pPr>
            <a:r>
              <a:rPr lang="en-US" sz="2000"/>
              <a:t>Sets some fields in s.</a:t>
            </a:r>
            <a:endParaRPr/>
          </a:p>
          <a:p>
            <a:pPr indent="-342900" lvl="0" marL="342900" rtl="0" algn="l">
              <a:lnSpc>
                <a:spcPct val="90000"/>
              </a:lnSpc>
              <a:spcBef>
                <a:spcPts val="400"/>
              </a:spcBef>
              <a:spcAft>
                <a:spcPts val="0"/>
              </a:spcAft>
              <a:buSzPts val="1600"/>
              <a:buChar char="●"/>
            </a:pPr>
            <a:r>
              <a:rPr lang="en-US" sz="2000"/>
              <a:t>S-&gt;s_op=&amp;proc_sops;</a:t>
            </a:r>
            <a:endParaRPr/>
          </a:p>
          <a:p>
            <a:pPr indent="-342900" lvl="0" marL="342900" rtl="0" algn="l">
              <a:lnSpc>
                <a:spcPct val="90000"/>
              </a:lnSpc>
              <a:spcBef>
                <a:spcPts val="400"/>
              </a:spcBef>
              <a:spcAft>
                <a:spcPts val="0"/>
              </a:spcAft>
              <a:buSzPts val="1600"/>
              <a:buChar char="●"/>
            </a:pPr>
            <a:r>
              <a:rPr lang="en-US" sz="2000"/>
              <a:t>Unlock_super(s);</a:t>
            </a:r>
            <a:endParaRPr/>
          </a:p>
          <a:p>
            <a:pPr indent="-342900" lvl="0" marL="342900" rtl="0" algn="l">
              <a:lnSpc>
                <a:spcPct val="90000"/>
              </a:lnSpc>
              <a:spcBef>
                <a:spcPts val="400"/>
              </a:spcBef>
              <a:spcAft>
                <a:spcPts val="0"/>
              </a:spcAft>
              <a:buSzPts val="1600"/>
              <a:buChar char="●"/>
            </a:pPr>
            <a:r>
              <a:rPr lang="en-US" sz="2000"/>
              <a:t>If(!(s-&gt;s_mounted=iget(s,PROC_ROOT_INO))) {</a:t>
            </a:r>
            <a:endParaRPr/>
          </a:p>
          <a:p>
            <a:pPr indent="-342900" lvl="0" marL="342900" rtl="0" algn="l">
              <a:lnSpc>
                <a:spcPct val="90000"/>
              </a:lnSpc>
              <a:spcBef>
                <a:spcPts val="400"/>
              </a:spcBef>
              <a:spcAft>
                <a:spcPts val="0"/>
              </a:spcAft>
              <a:buSzPts val="1600"/>
              <a:buChar char="●"/>
            </a:pPr>
            <a:r>
              <a:rPr lang="en-US" sz="2000"/>
              <a:t>S-&gt;s_dev=0;/* free the super block */</a:t>
            </a:r>
            <a:endParaRPr/>
          </a:p>
          <a:p>
            <a:pPr indent="-342900" lvl="0" marL="342900" rtl="0" algn="l">
              <a:lnSpc>
                <a:spcPct val="90000"/>
              </a:lnSpc>
              <a:spcBef>
                <a:spcPts val="400"/>
              </a:spcBef>
              <a:spcAft>
                <a:spcPts val="0"/>
              </a:spcAft>
              <a:buSzPts val="1600"/>
              <a:buChar char="●"/>
            </a:pPr>
            <a:r>
              <a:rPr lang="en-US" sz="2000"/>
              <a:t>Return NULL;</a:t>
            </a:r>
            <a:endParaRPr/>
          </a:p>
          <a:p>
            <a:pPr indent="-342900" lvl="0" marL="342900" rtl="0" algn="l">
              <a:lnSpc>
                <a:spcPct val="90000"/>
              </a:lnSpc>
              <a:spcBef>
                <a:spcPts val="400"/>
              </a:spcBef>
              <a:spcAft>
                <a:spcPts val="0"/>
              </a:spcAft>
              <a:buSzPts val="1600"/>
              <a:buChar char="●"/>
            </a:pPr>
            <a:r>
              <a:rPr lang="en-US" sz="2000"/>
              <a:t>}</a:t>
            </a:r>
            <a:endParaRPr/>
          </a:p>
          <a:p>
            <a:pPr indent="-342900" lvl="0" marL="342900" rtl="0" algn="l">
              <a:lnSpc>
                <a:spcPct val="90000"/>
              </a:lnSpc>
              <a:spcBef>
                <a:spcPts val="400"/>
              </a:spcBef>
              <a:spcAft>
                <a:spcPts val="0"/>
              </a:spcAft>
              <a:buSzPts val="1600"/>
              <a:buChar char="●"/>
            </a:pPr>
            <a:r>
              <a:rPr lang="en-US" sz="2000"/>
              <a:t>Parse_options(data,&amp;s-&gt;s_mounted-&gt;I_uid,s-&gt;s_mounted-&gt;I_gid);</a:t>
            </a:r>
            <a:endParaRPr/>
          </a:p>
          <a:p>
            <a:pPr indent="-342900" lvl="0" marL="342900" rtl="0" algn="l">
              <a:lnSpc>
                <a:spcPct val="90000"/>
              </a:lnSpc>
              <a:spcBef>
                <a:spcPts val="400"/>
              </a:spcBef>
              <a:spcAft>
                <a:spcPts val="0"/>
              </a:spcAft>
              <a:buSzPts val="1600"/>
              <a:buChar char="●"/>
            </a:pPr>
            <a:r>
              <a:rPr lang="en-US" sz="2000"/>
              <a:t>Return s;</a:t>
            </a:r>
            <a:endParaRPr/>
          </a:p>
          <a:p>
            <a:pPr indent="-342900" lvl="0" marL="342900" rtl="0" algn="l">
              <a:lnSpc>
                <a:spcPct val="90000"/>
              </a:lnSpc>
              <a:spcBef>
                <a:spcPts val="400"/>
              </a:spcBef>
              <a:spcAft>
                <a:spcPts val="0"/>
              </a:spcAft>
              <a:buSzPts val="1600"/>
              <a:buChar char="●"/>
            </a:pPr>
            <a:r>
              <a:rPr lang="en-US" sz="2000"/>
              <a:t>}</a:t>
            </a:r>
            <a:endParaRPr/>
          </a:p>
          <a:p>
            <a:pPr indent="0" lvl="0" marL="0" rtl="0" algn="l">
              <a:lnSpc>
                <a:spcPct val="100000"/>
              </a:lnSpc>
              <a:spcBef>
                <a:spcPts val="360"/>
              </a:spcBef>
              <a:spcAft>
                <a:spcPts val="0"/>
              </a:spcAft>
              <a:buClr>
                <a:schemeClr val="dk1"/>
              </a:buClr>
              <a:buSzPts val="1100"/>
              <a:buFont typeface="Arial"/>
              <a:buNone/>
            </a:pPr>
            <a:r>
              <a:t/>
            </a:r>
            <a:endParaRPr/>
          </a:p>
          <a:p>
            <a:pPr indent="0" lvl="0" marL="0" rtl="0" algn="l">
              <a:lnSpc>
                <a:spcPct val="100000"/>
              </a:lnSpc>
              <a:spcBef>
                <a:spcPts val="360"/>
              </a:spcBef>
              <a:spcAft>
                <a:spcPts val="0"/>
              </a:spcAft>
              <a:buSzPts val="144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0"/>
          <p:cNvSpPr txBox="1"/>
          <p:nvPr>
            <p:ph type="title"/>
          </p:nvPr>
        </p:nvSpPr>
        <p:spPr>
          <a:xfrm>
            <a:off x="762000" y="228600"/>
            <a:ext cx="7772400" cy="457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EXT2 File System</a:t>
            </a:r>
            <a:endParaRPr/>
          </a:p>
        </p:txBody>
      </p:sp>
      <p:sp>
        <p:nvSpPr>
          <p:cNvPr id="435" name="Google Shape;435;p50"/>
          <p:cNvSpPr txBox="1"/>
          <p:nvPr>
            <p:ph idx="1" type="body"/>
          </p:nvPr>
        </p:nvSpPr>
        <p:spPr>
          <a:xfrm>
            <a:off x="762000" y="838200"/>
            <a:ext cx="8077200" cy="5791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Originally used MINIX file system.Serious limitations like partition size,file name size etc.Proposed ext file system which was even worse.Led to excessive fragmentation.Remy Card et’al  propose ext2fs which is the Unix file system.</a:t>
            </a:r>
            <a:endParaRPr/>
          </a:p>
          <a:p>
            <a:pPr indent="-342900" lvl="0" marL="342900" rtl="0" algn="l">
              <a:lnSpc>
                <a:spcPct val="100000"/>
              </a:lnSpc>
              <a:spcBef>
                <a:spcPts val="400"/>
              </a:spcBef>
              <a:spcAft>
                <a:spcPts val="0"/>
              </a:spcAft>
              <a:buClr>
                <a:schemeClr val="accent2"/>
              </a:buClr>
              <a:buSzPts val="1600"/>
              <a:buFont typeface="Noto Sans Symbols"/>
              <a:buChar char="●"/>
            </a:pPr>
            <a:r>
              <a:rPr b="0" i="0" lang="en-US" sz="2000" u="none">
                <a:solidFill>
                  <a:schemeClr val="lt1"/>
                </a:solidFill>
                <a:latin typeface="Times New Roman"/>
                <a:ea typeface="Times New Roman"/>
                <a:cs typeface="Times New Roman"/>
                <a:sym typeface="Times New Roman"/>
              </a:rPr>
              <a:t>Influenced by BSD FFS.Every partition is divided into a number of block groups,corresponding to the cylinder groups of FFS,with each block group holding a copy of superblock,inode and data blocks.</a:t>
            </a:r>
            <a:endParaRPr/>
          </a:p>
          <a:p>
            <a:pPr indent="-241300" lvl="0" marL="342900" rtl="0" algn="l">
              <a:lnSpc>
                <a:spcPct val="100000"/>
              </a:lnSpc>
              <a:spcBef>
                <a:spcPts val="400"/>
              </a:spcBef>
              <a:spcAft>
                <a:spcPts val="0"/>
              </a:spcAft>
              <a:buSzPts val="1600"/>
              <a:buNone/>
            </a:pPr>
            <a:r>
              <a:t/>
            </a:r>
            <a:endParaRPr b="0" i="0" sz="2000" u="none">
              <a:solidFill>
                <a:schemeClr val="lt1"/>
              </a:solidFill>
              <a:latin typeface="Times New Roman"/>
              <a:ea typeface="Times New Roman"/>
              <a:cs typeface="Times New Roman"/>
              <a:sym typeface="Times New Roman"/>
            </a:endParaRPr>
          </a:p>
        </p:txBody>
      </p:sp>
      <p:pic>
        <p:nvPicPr>
          <p:cNvPr descr="C:\WINNT\Profiles\Administrator\Personal\EXT2FS.bmp" id="436" name="Google Shape;436;p50"/>
          <p:cNvPicPr preferRelativeResize="0"/>
          <p:nvPr/>
        </p:nvPicPr>
        <p:blipFill rotWithShape="1">
          <a:blip r:embed="rId3">
            <a:alphaModFix/>
          </a:blip>
          <a:srcRect b="0" l="0" r="0" t="0"/>
          <a:stretch/>
        </p:blipFill>
        <p:spPr>
          <a:xfrm>
            <a:off x="3124200" y="3352800"/>
            <a:ext cx="3581400" cy="324643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1"/>
          <p:cNvSpPr txBox="1"/>
          <p:nvPr>
            <p:ph type="title"/>
          </p:nvPr>
        </p:nvSpPr>
        <p:spPr>
          <a:xfrm>
            <a:off x="684212" y="115887"/>
            <a:ext cx="7543800" cy="3048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400"/>
              <a:buFont typeface="Arial"/>
              <a:buNone/>
            </a:pPr>
            <a:r>
              <a:rPr b="0" i="0" lang="en-US" sz="2400" u="none">
                <a:solidFill>
                  <a:schemeClr val="lt2"/>
                </a:solidFill>
                <a:latin typeface="Arial"/>
                <a:ea typeface="Arial"/>
                <a:cs typeface="Arial"/>
                <a:sym typeface="Arial"/>
              </a:rPr>
              <a:t>STRUCTURE OF E2FS</a:t>
            </a:r>
            <a:endParaRPr/>
          </a:p>
        </p:txBody>
      </p:sp>
      <p:sp>
        <p:nvSpPr>
          <p:cNvPr id="443" name="Google Shape;443;p51"/>
          <p:cNvSpPr txBox="1"/>
          <p:nvPr>
            <p:ph idx="1" type="body"/>
          </p:nvPr>
        </p:nvSpPr>
        <p:spPr>
          <a:xfrm>
            <a:off x="457200" y="533400"/>
            <a:ext cx="8153400" cy="6172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480"/>
              </a:spcBef>
              <a:spcAft>
                <a:spcPts val="0"/>
              </a:spcAft>
              <a:buClr>
                <a:schemeClr val="lt1"/>
              </a:buClr>
              <a:buSzPts val="2020"/>
              <a:buChar char="●"/>
            </a:pPr>
            <a:r>
              <a:rPr b="1" lang="en-US" sz="1200">
                <a:latin typeface="Arial"/>
                <a:ea typeface="Arial"/>
                <a:cs typeface="Arial"/>
                <a:sym typeface="Arial"/>
              </a:rPr>
              <a:t>ext2</a:t>
            </a:r>
            <a:r>
              <a:rPr lang="en-US" sz="1200">
                <a:latin typeface="Arial"/>
                <a:ea typeface="Arial"/>
                <a:cs typeface="Arial"/>
                <a:sym typeface="Arial"/>
              </a:rPr>
              <a:t> = Second Extended File System, a classic Linux file system.</a:t>
            </a:r>
            <a:br>
              <a:rPr lang="en-US" sz="1200">
                <a:latin typeface="Arial"/>
                <a:ea typeface="Arial"/>
                <a:cs typeface="Arial"/>
                <a:sym typeface="Arial"/>
              </a:rPr>
            </a:br>
            <a:endParaRPr sz="1200">
              <a:latin typeface="Arial"/>
              <a:ea typeface="Arial"/>
              <a:cs typeface="Arial"/>
              <a:sym typeface="Arial"/>
            </a:endParaRPr>
          </a:p>
          <a:p>
            <a:pPr indent="-342900" lvl="0" marL="342900" rtl="0" algn="l">
              <a:lnSpc>
                <a:spcPct val="100000"/>
              </a:lnSpc>
              <a:spcBef>
                <a:spcPts val="480"/>
              </a:spcBef>
              <a:spcAft>
                <a:spcPts val="0"/>
              </a:spcAft>
              <a:buClr>
                <a:schemeClr val="lt1"/>
              </a:buClr>
              <a:buSzPts val="2020"/>
              <a:buChar char="●"/>
            </a:pPr>
            <a:r>
              <a:rPr lang="en-US" sz="1200">
                <a:latin typeface="Arial"/>
                <a:ea typeface="Arial"/>
                <a:cs typeface="Arial"/>
                <a:sym typeface="Arial"/>
              </a:rPr>
              <a:t>It replaced the older MINIX and ext file systems, which had size and performance limits.</a:t>
            </a:r>
            <a:br>
              <a:rPr lang="en-US" sz="1200">
                <a:latin typeface="Arial"/>
                <a:ea typeface="Arial"/>
                <a:cs typeface="Arial"/>
                <a:sym typeface="Arial"/>
              </a:rPr>
            </a:br>
            <a:endParaRPr sz="1200">
              <a:latin typeface="Arial"/>
              <a:ea typeface="Arial"/>
              <a:cs typeface="Arial"/>
              <a:sym typeface="Arial"/>
            </a:endParaRPr>
          </a:p>
          <a:p>
            <a:pPr indent="-342900" lvl="0" marL="342900" rtl="0" algn="l">
              <a:lnSpc>
                <a:spcPct val="100000"/>
              </a:lnSpc>
              <a:spcBef>
                <a:spcPts val="480"/>
              </a:spcBef>
              <a:spcAft>
                <a:spcPts val="0"/>
              </a:spcAft>
              <a:buClr>
                <a:schemeClr val="lt1"/>
              </a:buClr>
              <a:buSzPts val="2020"/>
              <a:buChar char="●"/>
            </a:pPr>
            <a:r>
              <a:rPr lang="en-US" sz="1200">
                <a:latin typeface="Arial"/>
                <a:ea typeface="Arial"/>
                <a:cs typeface="Arial"/>
                <a:sym typeface="Arial"/>
              </a:rPr>
              <a:t>Still used today in some cases, and its design influenced ext3 and ext4.</a:t>
            </a:r>
            <a:endParaRPr sz="1200">
              <a:latin typeface="Arial"/>
              <a:ea typeface="Arial"/>
              <a:cs typeface="Arial"/>
              <a:sym typeface="Arial"/>
            </a:endParaRPr>
          </a:p>
          <a:p>
            <a:pPr indent="-220980" lvl="0" marL="342900" rtl="0" algn="l">
              <a:lnSpc>
                <a:spcPct val="100000"/>
              </a:lnSpc>
              <a:spcBef>
                <a:spcPts val="480"/>
              </a:spcBef>
              <a:spcAft>
                <a:spcPts val="0"/>
              </a:spcAft>
              <a:buSzPts val="1440"/>
              <a:buNone/>
            </a:pPr>
            <a:r>
              <a:rPr lang="en-US" sz="1200">
                <a:latin typeface="Arial"/>
                <a:ea typeface="Arial"/>
                <a:cs typeface="Arial"/>
                <a:sym typeface="Arial"/>
              </a:rPr>
              <a:t>Instead of keeping </a:t>
            </a:r>
            <a:r>
              <a:rPr b="1" lang="en-US" sz="1200">
                <a:latin typeface="Arial"/>
                <a:ea typeface="Arial"/>
                <a:cs typeface="Arial"/>
                <a:sym typeface="Arial"/>
              </a:rPr>
              <a:t>all inodes in one big table</a:t>
            </a:r>
            <a:r>
              <a:rPr lang="en-US" sz="1200">
                <a:latin typeface="Arial"/>
                <a:ea typeface="Arial"/>
                <a:cs typeface="Arial"/>
                <a:sym typeface="Arial"/>
              </a:rPr>
              <a:t> and all data blocks in another far away, ext2 divides the disk into </a:t>
            </a:r>
            <a:r>
              <a:rPr b="1" lang="en-US" sz="1200">
                <a:latin typeface="Arial"/>
                <a:ea typeface="Arial"/>
                <a:cs typeface="Arial"/>
                <a:sym typeface="Arial"/>
              </a:rPr>
              <a:t>block groups</a:t>
            </a:r>
            <a:r>
              <a:rPr lang="en-US" sz="1200">
                <a:latin typeface="Arial"/>
                <a:ea typeface="Arial"/>
                <a:cs typeface="Arial"/>
                <a:sym typeface="Arial"/>
              </a:rPr>
              <a:t>.</a:t>
            </a:r>
            <a:br>
              <a:rPr lang="en-US" sz="1200">
                <a:latin typeface="Arial"/>
                <a:ea typeface="Arial"/>
                <a:cs typeface="Arial"/>
                <a:sym typeface="Arial"/>
              </a:rPr>
            </a:br>
            <a:endParaRPr sz="1200">
              <a:latin typeface="Arial"/>
              <a:ea typeface="Arial"/>
              <a:cs typeface="Arial"/>
              <a:sym typeface="Arial"/>
            </a:endParaRPr>
          </a:p>
          <a:p>
            <a:pPr indent="-220980" lvl="0" marL="342900" rtl="0" algn="l">
              <a:lnSpc>
                <a:spcPct val="100000"/>
              </a:lnSpc>
              <a:spcBef>
                <a:spcPts val="480"/>
              </a:spcBef>
              <a:spcAft>
                <a:spcPts val="0"/>
              </a:spcAft>
              <a:buSzPts val="1440"/>
              <a:buNone/>
            </a:pPr>
            <a:r>
              <a:rPr b="1" lang="en-US" sz="1200">
                <a:latin typeface="Arial"/>
                <a:ea typeface="Arial"/>
                <a:cs typeface="Arial"/>
                <a:sym typeface="Arial"/>
              </a:rPr>
              <a:t>Why?</a:t>
            </a:r>
            <a:br>
              <a:rPr b="1" lang="en-US" sz="1200">
                <a:latin typeface="Arial"/>
                <a:ea typeface="Arial"/>
                <a:cs typeface="Arial"/>
                <a:sym typeface="Arial"/>
              </a:rPr>
            </a:br>
            <a:endParaRPr b="1"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lang="en-US" sz="1200">
                <a:latin typeface="Arial"/>
                <a:ea typeface="Arial"/>
                <a:cs typeface="Arial"/>
                <a:sym typeface="Arial"/>
              </a:rPr>
              <a:t>Keeps related data close together → reduces disk head movement → faster.</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lang="en-US" sz="1200">
                <a:latin typeface="Arial"/>
                <a:ea typeface="Arial"/>
                <a:cs typeface="Arial"/>
                <a:sym typeface="Arial"/>
              </a:rPr>
              <a:t>Balances file placement to avoid fragmentation.</a:t>
            </a:r>
            <a:endParaRPr sz="1200">
              <a:latin typeface="Arial"/>
              <a:ea typeface="Arial"/>
              <a:cs typeface="Arial"/>
              <a:sym typeface="Arial"/>
            </a:endParaRPr>
          </a:p>
          <a:p>
            <a:pPr indent="0" lvl="0" marL="0" rtl="0" algn="l">
              <a:lnSpc>
                <a:spcPct val="115000"/>
              </a:lnSpc>
              <a:spcBef>
                <a:spcPts val="1200"/>
              </a:spcBef>
              <a:spcAft>
                <a:spcPts val="0"/>
              </a:spcAft>
              <a:buSzPts val="1440"/>
              <a:buNone/>
            </a:pPr>
            <a:r>
              <a:rPr lang="en-US" sz="1200">
                <a:latin typeface="Arial"/>
                <a:ea typeface="Arial"/>
                <a:cs typeface="Arial"/>
                <a:sym typeface="Arial"/>
              </a:rPr>
              <a:t>Each block group contains:</a:t>
            </a:r>
            <a:endParaRPr sz="12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AutoNum type="arabicPeriod"/>
            </a:pPr>
            <a:r>
              <a:rPr b="1" lang="en-US" sz="1200">
                <a:latin typeface="Arial"/>
                <a:ea typeface="Arial"/>
                <a:cs typeface="Arial"/>
                <a:sym typeface="Arial"/>
              </a:rPr>
              <a:t>Superblock copy</a:t>
            </a:r>
            <a:r>
              <a:rPr lang="en-US" sz="1200">
                <a:latin typeface="Arial"/>
                <a:ea typeface="Arial"/>
                <a:cs typeface="Arial"/>
                <a:sym typeface="Arial"/>
              </a:rPr>
              <a:t> (for backup)</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AutoNum type="arabicPeriod"/>
            </a:pPr>
            <a:r>
              <a:rPr b="1" lang="en-US" sz="1200">
                <a:latin typeface="Arial"/>
                <a:ea typeface="Arial"/>
                <a:cs typeface="Arial"/>
                <a:sym typeface="Arial"/>
              </a:rPr>
              <a:t>Block group descriptor</a:t>
            </a:r>
            <a:r>
              <a:rPr lang="en-US" sz="1200">
                <a:latin typeface="Arial"/>
                <a:ea typeface="Arial"/>
                <a:cs typeface="Arial"/>
                <a:sym typeface="Arial"/>
              </a:rPr>
              <a:t> (info about this group)</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AutoNum type="arabicPeriod"/>
            </a:pPr>
            <a:r>
              <a:rPr b="1" lang="en-US" sz="1200">
                <a:latin typeface="Arial"/>
                <a:ea typeface="Arial"/>
                <a:cs typeface="Arial"/>
                <a:sym typeface="Arial"/>
              </a:rPr>
              <a:t>Block bitmap</a:t>
            </a:r>
            <a:r>
              <a:rPr lang="en-US" sz="1200">
                <a:latin typeface="Arial"/>
                <a:ea typeface="Arial"/>
                <a:cs typeface="Arial"/>
                <a:sym typeface="Arial"/>
              </a:rPr>
              <a:t> → Tracks free/used data blocks</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AutoNum type="arabicPeriod"/>
            </a:pPr>
            <a:r>
              <a:rPr b="1" lang="en-US" sz="1200">
                <a:latin typeface="Arial"/>
                <a:ea typeface="Arial"/>
                <a:cs typeface="Arial"/>
                <a:sym typeface="Arial"/>
              </a:rPr>
              <a:t>Inode bitmap</a:t>
            </a:r>
            <a:r>
              <a:rPr lang="en-US" sz="1200">
                <a:latin typeface="Arial"/>
                <a:ea typeface="Arial"/>
                <a:cs typeface="Arial"/>
                <a:sym typeface="Arial"/>
              </a:rPr>
              <a:t> → Tracks free/used inodes</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AutoNum type="arabicPeriod"/>
            </a:pPr>
            <a:r>
              <a:rPr b="1" lang="en-US" sz="1200">
                <a:latin typeface="Arial"/>
                <a:ea typeface="Arial"/>
                <a:cs typeface="Arial"/>
                <a:sym typeface="Arial"/>
              </a:rPr>
              <a:t>Inode table</a:t>
            </a:r>
            <a:r>
              <a:rPr lang="en-US" sz="1200">
                <a:latin typeface="Arial"/>
                <a:ea typeface="Arial"/>
                <a:cs typeface="Arial"/>
                <a:sym typeface="Arial"/>
              </a:rPr>
              <a:t> → Metadata for files in this group</a:t>
            </a:r>
            <a:br>
              <a:rPr lang="en-US" sz="1200">
                <a:latin typeface="Arial"/>
                <a:ea typeface="Arial"/>
                <a:cs typeface="Arial"/>
                <a:sym typeface="Arial"/>
              </a:rPr>
            </a:b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AutoNum type="arabicPeriod"/>
            </a:pPr>
            <a:r>
              <a:rPr b="1" lang="en-US" sz="1200">
                <a:latin typeface="Arial"/>
                <a:ea typeface="Arial"/>
                <a:cs typeface="Arial"/>
                <a:sym typeface="Arial"/>
              </a:rPr>
              <a:t>Data blocks</a:t>
            </a:r>
            <a:r>
              <a:rPr lang="en-US" sz="1200">
                <a:latin typeface="Arial"/>
                <a:ea typeface="Arial"/>
                <a:cs typeface="Arial"/>
                <a:sym typeface="Arial"/>
              </a:rPr>
              <a:t> → The actual file contents</a:t>
            </a:r>
            <a:endParaRPr sz="1200">
              <a:latin typeface="Arial"/>
              <a:ea typeface="Arial"/>
              <a:cs typeface="Arial"/>
              <a:sym typeface="Arial"/>
            </a:endParaRPr>
          </a:p>
          <a:p>
            <a:pPr indent="-342900" lvl="0" marL="342900" rtl="0" algn="l">
              <a:lnSpc>
                <a:spcPct val="100000"/>
              </a:lnSpc>
              <a:spcBef>
                <a:spcPts val="480"/>
              </a:spcBef>
              <a:spcAft>
                <a:spcPts val="0"/>
              </a:spcAft>
              <a:buClr>
                <a:schemeClr val="lt1"/>
              </a:buClr>
              <a:buSzPts val="2500"/>
              <a:buChar char="●"/>
            </a:pPr>
            <a:r>
              <a:t/>
            </a:r>
            <a:endParaRPr sz="2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2"/>
          <p:cNvSpPr txBox="1"/>
          <p:nvPr>
            <p:ph type="title"/>
          </p:nvPr>
        </p:nvSpPr>
        <p:spPr>
          <a:xfrm>
            <a:off x="973200" y="139350"/>
            <a:ext cx="7772400" cy="87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SzPts val="1400"/>
              <a:buNone/>
            </a:pPr>
            <a:r>
              <a:rPr lang="en-US"/>
              <a:t>Directories in ext2</a:t>
            </a:r>
            <a:endParaRPr/>
          </a:p>
        </p:txBody>
      </p:sp>
      <p:sp>
        <p:nvSpPr>
          <p:cNvPr id="450" name="Google Shape;450;p52"/>
          <p:cNvSpPr txBox="1"/>
          <p:nvPr>
            <p:ph idx="1" type="body"/>
          </p:nvPr>
        </p:nvSpPr>
        <p:spPr>
          <a:xfrm>
            <a:off x="685800" y="914400"/>
            <a:ext cx="7772400" cy="5181600"/>
          </a:xfrm>
          <a:prstGeom prst="rect">
            <a:avLst/>
          </a:prstGeom>
          <a:noFill/>
          <a:ln>
            <a:noFill/>
          </a:ln>
        </p:spPr>
        <p:txBody>
          <a:bodyPr anchorCtr="0" anchor="t" bIns="45700" lIns="91425" spcFirstLastPara="1" rIns="91425" wrap="square" tIns="45700">
            <a:noAutofit/>
          </a:bodyPr>
          <a:lstStyle/>
          <a:p>
            <a:pPr indent="-323850" lvl="0" marL="457200" rtl="0" algn="l">
              <a:lnSpc>
                <a:spcPct val="115000"/>
              </a:lnSpc>
              <a:spcBef>
                <a:spcPts val="1200"/>
              </a:spcBef>
              <a:spcAft>
                <a:spcPts val="0"/>
              </a:spcAft>
              <a:buClr>
                <a:schemeClr val="lt1"/>
              </a:buClr>
              <a:buSzPts val="1500"/>
              <a:buFont typeface="Arial"/>
              <a:buChar char="●"/>
            </a:pPr>
            <a:r>
              <a:rPr lang="en-US" sz="1500">
                <a:latin typeface="Arial"/>
                <a:ea typeface="Arial"/>
                <a:cs typeface="Arial"/>
                <a:sym typeface="Arial"/>
              </a:rPr>
              <a:t>In ext2, a directory is just a </a:t>
            </a:r>
            <a:r>
              <a:rPr b="1" lang="en-US" sz="1500">
                <a:latin typeface="Arial"/>
                <a:ea typeface="Arial"/>
                <a:cs typeface="Arial"/>
                <a:sym typeface="Arial"/>
              </a:rPr>
              <a:t>special file</a:t>
            </a:r>
            <a:r>
              <a:rPr lang="en-US" sz="1500">
                <a:latin typeface="Arial"/>
                <a:ea typeface="Arial"/>
                <a:cs typeface="Arial"/>
                <a:sym typeface="Arial"/>
              </a:rPr>
              <a:t>.</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lang="en-US" sz="1500">
                <a:latin typeface="Arial"/>
                <a:ea typeface="Arial"/>
                <a:cs typeface="Arial"/>
                <a:sym typeface="Arial"/>
              </a:rPr>
              <a:t>Instead of storing text or images, its </a:t>
            </a:r>
            <a:r>
              <a:rPr b="1" lang="en-US" sz="1500">
                <a:latin typeface="Arial"/>
                <a:ea typeface="Arial"/>
                <a:cs typeface="Arial"/>
                <a:sym typeface="Arial"/>
              </a:rPr>
              <a:t>data blocks</a:t>
            </a:r>
            <a:r>
              <a:rPr lang="en-US" sz="1500">
                <a:latin typeface="Arial"/>
                <a:ea typeface="Arial"/>
                <a:cs typeface="Arial"/>
                <a:sym typeface="Arial"/>
              </a:rPr>
              <a:t> contain a list of </a:t>
            </a:r>
            <a:r>
              <a:rPr b="1" lang="en-US" sz="1500">
                <a:latin typeface="Arial"/>
                <a:ea typeface="Arial"/>
                <a:cs typeface="Arial"/>
                <a:sym typeface="Arial"/>
              </a:rPr>
              <a:t>directory entries</a:t>
            </a:r>
            <a:r>
              <a:rPr lang="en-US" sz="1500">
                <a:latin typeface="Arial"/>
                <a:ea typeface="Arial"/>
                <a:cs typeface="Arial"/>
                <a:sym typeface="Arial"/>
              </a:rPr>
              <a:t>.</a:t>
            </a:r>
            <a:endParaRPr sz="15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700">
                <a:latin typeface="Arial"/>
                <a:ea typeface="Arial"/>
                <a:cs typeface="Arial"/>
                <a:sym typeface="Arial"/>
              </a:rPr>
              <a:t>2. Directory Entry Structure</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500">
                <a:latin typeface="Arial"/>
                <a:ea typeface="Arial"/>
                <a:cs typeface="Arial"/>
                <a:sym typeface="Arial"/>
              </a:rPr>
              <a:t>Each directory entry has:</a:t>
            </a:r>
            <a:endParaRPr sz="1500">
              <a:latin typeface="Arial"/>
              <a:ea typeface="Arial"/>
              <a:cs typeface="Arial"/>
              <a:sym typeface="Arial"/>
            </a:endParaRPr>
          </a:p>
          <a:p>
            <a:pPr indent="0" lvl="0" marL="0" rtl="0" algn="l">
              <a:lnSpc>
                <a:spcPct val="100000"/>
              </a:lnSpc>
              <a:spcBef>
                <a:spcPts val="1200"/>
              </a:spcBef>
              <a:spcAft>
                <a:spcPts val="0"/>
              </a:spcAft>
              <a:buSzPts val="1440"/>
              <a:buNone/>
            </a:pPr>
            <a:r>
              <a:rPr lang="en-US" sz="1500">
                <a:latin typeface="Roboto Mono"/>
                <a:ea typeface="Roboto Mono"/>
                <a:cs typeface="Roboto Mono"/>
                <a:sym typeface="Roboto Mono"/>
              </a:rPr>
              <a:t>struct ext2_dir_entry {</a:t>
            </a:r>
            <a:endParaRPr sz="1500">
              <a:latin typeface="Roboto Mono"/>
              <a:ea typeface="Roboto Mono"/>
              <a:cs typeface="Roboto Mono"/>
              <a:sym typeface="Roboto Mono"/>
            </a:endParaRPr>
          </a:p>
          <a:p>
            <a:pPr indent="0" lvl="0" marL="0" rtl="0" algn="l">
              <a:lnSpc>
                <a:spcPct val="100000"/>
              </a:lnSpc>
              <a:spcBef>
                <a:spcPts val="360"/>
              </a:spcBef>
              <a:spcAft>
                <a:spcPts val="0"/>
              </a:spcAft>
              <a:buSzPts val="1440"/>
              <a:buNone/>
            </a:pPr>
            <a:r>
              <a:rPr lang="en-US" sz="1500">
                <a:latin typeface="Roboto Mono"/>
                <a:ea typeface="Roboto Mono"/>
                <a:cs typeface="Roboto Mono"/>
                <a:sym typeface="Roboto Mono"/>
              </a:rPr>
              <a:t>    unsigned long inode;   // Inode number of the file</a:t>
            </a:r>
            <a:endParaRPr sz="1500">
              <a:latin typeface="Roboto Mono"/>
              <a:ea typeface="Roboto Mono"/>
              <a:cs typeface="Roboto Mono"/>
              <a:sym typeface="Roboto Mono"/>
            </a:endParaRPr>
          </a:p>
          <a:p>
            <a:pPr indent="0" lvl="0" marL="0" rtl="0" algn="l">
              <a:lnSpc>
                <a:spcPct val="100000"/>
              </a:lnSpc>
              <a:spcBef>
                <a:spcPts val="360"/>
              </a:spcBef>
              <a:spcAft>
                <a:spcPts val="0"/>
              </a:spcAft>
              <a:buSzPts val="1440"/>
              <a:buNone/>
            </a:pPr>
            <a:r>
              <a:rPr lang="en-US" sz="1500">
                <a:latin typeface="Roboto Mono"/>
                <a:ea typeface="Roboto Mono"/>
                <a:cs typeface="Roboto Mono"/>
                <a:sym typeface="Roboto Mono"/>
              </a:rPr>
              <a:t>    unsigned short rec_len; // Size of this directory entry</a:t>
            </a:r>
            <a:endParaRPr sz="1500">
              <a:latin typeface="Roboto Mono"/>
              <a:ea typeface="Roboto Mono"/>
              <a:cs typeface="Roboto Mono"/>
              <a:sym typeface="Roboto Mono"/>
            </a:endParaRPr>
          </a:p>
          <a:p>
            <a:pPr indent="0" lvl="0" marL="0" rtl="0" algn="l">
              <a:lnSpc>
                <a:spcPct val="100000"/>
              </a:lnSpc>
              <a:spcBef>
                <a:spcPts val="360"/>
              </a:spcBef>
              <a:spcAft>
                <a:spcPts val="0"/>
              </a:spcAft>
              <a:buSzPts val="1440"/>
              <a:buNone/>
            </a:pPr>
            <a:r>
              <a:rPr lang="en-US" sz="1500">
                <a:latin typeface="Roboto Mono"/>
                <a:ea typeface="Roboto Mono"/>
                <a:cs typeface="Roboto Mono"/>
                <a:sym typeface="Roboto Mono"/>
              </a:rPr>
              <a:t>    unsigned short name_len; // Length of the file name</a:t>
            </a:r>
            <a:endParaRPr sz="1500">
              <a:latin typeface="Roboto Mono"/>
              <a:ea typeface="Roboto Mono"/>
              <a:cs typeface="Roboto Mono"/>
              <a:sym typeface="Roboto Mono"/>
            </a:endParaRPr>
          </a:p>
          <a:p>
            <a:pPr indent="0" lvl="0" marL="0" rtl="0" algn="l">
              <a:lnSpc>
                <a:spcPct val="100000"/>
              </a:lnSpc>
              <a:spcBef>
                <a:spcPts val="360"/>
              </a:spcBef>
              <a:spcAft>
                <a:spcPts val="0"/>
              </a:spcAft>
              <a:buSzPts val="1440"/>
              <a:buNone/>
            </a:pPr>
            <a:r>
              <a:rPr lang="en-US" sz="1500">
                <a:latin typeface="Roboto Mono"/>
                <a:ea typeface="Roboto Mono"/>
                <a:cs typeface="Roboto Mono"/>
                <a:sym typeface="Roboto Mono"/>
              </a:rPr>
              <a:t>    char name[EXT2_NAME_LEN]; // The file name itself</a:t>
            </a:r>
            <a:endParaRPr sz="1500">
              <a:latin typeface="Roboto Mono"/>
              <a:ea typeface="Roboto Mono"/>
              <a:cs typeface="Roboto Mono"/>
              <a:sym typeface="Roboto Mono"/>
            </a:endParaRPr>
          </a:p>
          <a:p>
            <a:pPr indent="0" lvl="0" marL="0" rtl="0" algn="l">
              <a:lnSpc>
                <a:spcPct val="100000"/>
              </a:lnSpc>
              <a:spcBef>
                <a:spcPts val="360"/>
              </a:spcBef>
              <a:spcAft>
                <a:spcPts val="0"/>
              </a:spcAft>
              <a:buSzPts val="1440"/>
              <a:buNone/>
            </a:pPr>
            <a:r>
              <a:rPr lang="en-US"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b="1" lang="en-US" sz="1500">
                <a:latin typeface="Arial"/>
                <a:ea typeface="Arial"/>
                <a:cs typeface="Arial"/>
                <a:sym typeface="Arial"/>
              </a:rPr>
              <a:t>inode</a:t>
            </a:r>
            <a:r>
              <a:rPr lang="en-US" sz="1500">
                <a:latin typeface="Arial"/>
                <a:ea typeface="Arial"/>
                <a:cs typeface="Arial"/>
                <a:sym typeface="Arial"/>
              </a:rPr>
              <a:t> → Points to the file’s metadata</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rec_len</a:t>
            </a:r>
            <a:r>
              <a:rPr lang="en-US" sz="1500">
                <a:latin typeface="Arial"/>
                <a:ea typeface="Arial"/>
                <a:cs typeface="Arial"/>
                <a:sym typeface="Arial"/>
              </a:rPr>
              <a:t> → Lets the OS know where the next entry starts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name_len</a:t>
            </a:r>
            <a:r>
              <a:rPr lang="en-US" sz="1500">
                <a:latin typeface="Arial"/>
                <a:ea typeface="Arial"/>
                <a:cs typeface="Arial"/>
                <a:sym typeface="Arial"/>
              </a:rPr>
              <a:t> → Length of the file name</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name</a:t>
            </a:r>
            <a:r>
              <a:rPr lang="en-US" sz="1500">
                <a:latin typeface="Arial"/>
                <a:ea typeface="Arial"/>
                <a:cs typeface="Arial"/>
                <a:sym typeface="Arial"/>
              </a:rPr>
              <a:t> → Actual file name</a:t>
            </a:r>
            <a:endParaRPr sz="1500">
              <a:latin typeface="Arial"/>
              <a:ea typeface="Arial"/>
              <a:cs typeface="Arial"/>
              <a:sym typeface="Arial"/>
            </a:endParaRPr>
          </a:p>
          <a:p>
            <a:pPr indent="0" lvl="0" marL="0" rtl="0" algn="l">
              <a:lnSpc>
                <a:spcPct val="100000"/>
              </a:lnSpc>
              <a:spcBef>
                <a:spcPts val="1200"/>
              </a:spcBef>
              <a:spcAft>
                <a:spcPts val="0"/>
              </a:spcAft>
              <a:buSzPts val="1440"/>
              <a:buNone/>
            </a:pPr>
            <a:r>
              <a:t/>
            </a:r>
            <a:endParaRPr sz="3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title"/>
          </p:nvPr>
        </p:nvSpPr>
        <p:spPr>
          <a:xfrm>
            <a:off x="685800" y="152400"/>
            <a:ext cx="7696200" cy="457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Directories in e2fs</a:t>
            </a:r>
            <a:endParaRPr/>
          </a:p>
        </p:txBody>
      </p:sp>
      <p:sp>
        <p:nvSpPr>
          <p:cNvPr id="457" name="Google Shape;457;p53"/>
          <p:cNvSpPr txBox="1"/>
          <p:nvPr>
            <p:ph idx="1" type="body"/>
          </p:nvPr>
        </p:nvSpPr>
        <p:spPr>
          <a:xfrm>
            <a:off x="381000" y="685800"/>
            <a:ext cx="8534400" cy="5943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SzPts val="1440"/>
              <a:buNone/>
            </a:pPr>
            <a:r>
              <a:rPr b="0" i="0" lang="en-US" sz="2400" u="none">
                <a:solidFill>
                  <a:schemeClr val="lt1"/>
                </a:solidFill>
                <a:latin typeface="Times New Roman"/>
                <a:ea typeface="Times New Roman"/>
                <a:cs typeface="Times New Roman"/>
                <a:sym typeface="Times New Roman"/>
              </a:rPr>
              <a:t>What happens on a delete?</a:t>
            </a:r>
            <a:endParaRPr b="0" i="0" sz="2400" u="none">
              <a:solidFill>
                <a:schemeClr val="lt1"/>
              </a:solidFill>
              <a:latin typeface="Times New Roman"/>
              <a:ea typeface="Times New Roman"/>
              <a:cs typeface="Times New Roman"/>
              <a:sym typeface="Times New Roman"/>
            </a:endParaRPr>
          </a:p>
          <a:p>
            <a:pPr indent="0" lvl="0" marL="0" rtl="0" algn="l">
              <a:lnSpc>
                <a:spcPct val="100000"/>
              </a:lnSpc>
              <a:spcBef>
                <a:spcPts val="480"/>
              </a:spcBef>
              <a:spcAft>
                <a:spcPts val="0"/>
              </a:spcAft>
              <a:buClr>
                <a:schemeClr val="dk1"/>
              </a:buClr>
              <a:buSzPts val="1100"/>
              <a:buFont typeface="Arial"/>
              <a:buNone/>
            </a:pPr>
            <a:r>
              <a:rPr b="1" lang="en-US" sz="1700">
                <a:latin typeface="Arial"/>
                <a:ea typeface="Arial"/>
                <a:cs typeface="Arial"/>
                <a:sym typeface="Arial"/>
              </a:rPr>
              <a:t>ext2 doesn’t shuffle entries around when you delete a file.</a:t>
            </a:r>
            <a:br>
              <a:rPr b="1" lang="en-US" sz="1700">
                <a:latin typeface="Arial"/>
                <a:ea typeface="Arial"/>
                <a:cs typeface="Arial"/>
                <a:sym typeface="Arial"/>
              </a:rPr>
            </a:br>
            <a:endParaRPr b="1" sz="1700">
              <a:latin typeface="Arial"/>
              <a:ea typeface="Arial"/>
              <a:cs typeface="Arial"/>
              <a:sym typeface="Arial"/>
            </a:endParaRPr>
          </a:p>
          <a:p>
            <a:pPr indent="0" lvl="0" marL="0" rtl="0" algn="l">
              <a:lnSpc>
                <a:spcPct val="100000"/>
              </a:lnSpc>
              <a:spcBef>
                <a:spcPts val="480"/>
              </a:spcBef>
              <a:spcAft>
                <a:spcPts val="0"/>
              </a:spcAft>
              <a:buClr>
                <a:schemeClr val="dk1"/>
              </a:buClr>
              <a:buSzPts val="1100"/>
              <a:buFont typeface="Arial"/>
              <a:buNone/>
            </a:pPr>
            <a:r>
              <a:rPr b="1" lang="en-US" sz="1700">
                <a:latin typeface="Arial"/>
                <a:ea typeface="Arial"/>
                <a:cs typeface="Arial"/>
                <a:sym typeface="Arial"/>
              </a:rPr>
              <a:t>Instead:</a:t>
            </a:r>
            <a:br>
              <a:rPr b="1" lang="en-US" sz="1700">
                <a:latin typeface="Arial"/>
                <a:ea typeface="Arial"/>
                <a:cs typeface="Arial"/>
                <a:sym typeface="Arial"/>
              </a:rPr>
            </a:br>
            <a:endParaRPr b="1" sz="1700">
              <a:latin typeface="Arial"/>
              <a:ea typeface="Arial"/>
              <a:cs typeface="Arial"/>
              <a:sym typeface="Arial"/>
            </a:endParaRPr>
          </a:p>
          <a:p>
            <a:pPr indent="-336550" lvl="0" marL="457200" rtl="0" algn="l">
              <a:lnSpc>
                <a:spcPct val="115000"/>
              </a:lnSpc>
              <a:spcBef>
                <a:spcPts val="1200"/>
              </a:spcBef>
              <a:spcAft>
                <a:spcPts val="0"/>
              </a:spcAft>
              <a:buClr>
                <a:schemeClr val="lt1"/>
              </a:buClr>
              <a:buSzPts val="1700"/>
              <a:buFont typeface="Arial"/>
              <a:buAutoNum type="arabicPeriod"/>
            </a:pPr>
            <a:r>
              <a:rPr b="1" lang="en-US" sz="1700">
                <a:latin typeface="Arial"/>
                <a:ea typeface="Arial"/>
                <a:cs typeface="Arial"/>
                <a:sym typeface="Arial"/>
              </a:rPr>
              <a:t>The inode number is set to 0.</a:t>
            </a:r>
            <a:br>
              <a:rPr b="1" lang="en-US" sz="1700">
                <a:latin typeface="Arial"/>
                <a:ea typeface="Arial"/>
                <a:cs typeface="Arial"/>
                <a:sym typeface="Arial"/>
              </a:rPr>
            </a:br>
            <a:endParaRPr b="1"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AutoNum type="arabicPeriod"/>
            </a:pPr>
            <a:r>
              <a:rPr b="1" lang="en-US" sz="1700">
                <a:latin typeface="Arial"/>
                <a:ea typeface="Arial"/>
                <a:cs typeface="Arial"/>
                <a:sym typeface="Arial"/>
              </a:rPr>
              <a:t>The previous entry’s </a:t>
            </a:r>
            <a:r>
              <a:rPr b="1" lang="en-US" sz="1700">
                <a:latin typeface="Roboto Mono"/>
                <a:ea typeface="Roboto Mono"/>
                <a:cs typeface="Roboto Mono"/>
                <a:sym typeface="Roboto Mono"/>
              </a:rPr>
              <a:t>rec_len</a:t>
            </a:r>
            <a:r>
              <a:rPr b="1" lang="en-US" sz="1700">
                <a:latin typeface="Arial"/>
                <a:ea typeface="Arial"/>
                <a:cs typeface="Arial"/>
                <a:sym typeface="Arial"/>
              </a:rPr>
              <a:t> is updated to cover the empty space.</a:t>
            </a:r>
            <a:br>
              <a:rPr b="1" lang="en-US" sz="1700">
                <a:latin typeface="Arial"/>
                <a:ea typeface="Arial"/>
                <a:cs typeface="Arial"/>
                <a:sym typeface="Arial"/>
              </a:rPr>
            </a:b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700">
                <a:latin typeface="Arial"/>
                <a:ea typeface="Arial"/>
                <a:cs typeface="Arial"/>
                <a:sym typeface="Arial"/>
              </a:rPr>
              <a:t>Why?</a:t>
            </a:r>
            <a:br>
              <a:rPr b="1" lang="en-US" sz="1700">
                <a:latin typeface="Arial"/>
                <a:ea typeface="Arial"/>
                <a:cs typeface="Arial"/>
                <a:sym typeface="Arial"/>
              </a:rPr>
            </a:br>
            <a:endParaRPr b="1" sz="1700">
              <a:latin typeface="Arial"/>
              <a:ea typeface="Arial"/>
              <a:cs typeface="Arial"/>
              <a:sym typeface="Arial"/>
            </a:endParaRPr>
          </a:p>
          <a:p>
            <a:pPr indent="-336550" lvl="0" marL="457200" rtl="0" algn="l">
              <a:lnSpc>
                <a:spcPct val="115000"/>
              </a:lnSpc>
              <a:spcBef>
                <a:spcPts val="1200"/>
              </a:spcBef>
              <a:spcAft>
                <a:spcPts val="0"/>
              </a:spcAft>
              <a:buClr>
                <a:schemeClr val="lt1"/>
              </a:buClr>
              <a:buSzPts val="1700"/>
              <a:buFont typeface="Arial"/>
              <a:buChar char="●"/>
            </a:pPr>
            <a:r>
              <a:rPr b="1" lang="en-US" sz="1700">
                <a:latin typeface="Arial"/>
                <a:ea typeface="Arial"/>
                <a:cs typeface="Arial"/>
                <a:sym typeface="Arial"/>
              </a:rPr>
              <a:t>Avoids unnecessary moving of data.</a:t>
            </a:r>
            <a:br>
              <a:rPr b="1" lang="en-US" sz="1700">
                <a:latin typeface="Arial"/>
                <a:ea typeface="Arial"/>
                <a:cs typeface="Arial"/>
                <a:sym typeface="Arial"/>
              </a:rPr>
            </a:br>
            <a:endParaRPr b="1"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b="1" lang="en-US" sz="1700">
                <a:latin typeface="Arial"/>
                <a:ea typeface="Arial"/>
                <a:cs typeface="Arial"/>
                <a:sym typeface="Arial"/>
              </a:rPr>
              <a:t>The space can be reused later.</a:t>
            </a:r>
            <a:endParaRPr b="1" sz="1700">
              <a:latin typeface="Arial"/>
              <a:ea typeface="Arial"/>
              <a:cs typeface="Arial"/>
              <a:sym typeface="Arial"/>
            </a:endParaRPr>
          </a:p>
          <a:p>
            <a:pPr indent="0" lvl="0" marL="0" rtl="0" algn="l">
              <a:lnSpc>
                <a:spcPct val="100000"/>
              </a:lnSpc>
              <a:spcBef>
                <a:spcPts val="1200"/>
              </a:spcBef>
              <a:spcAft>
                <a:spcPts val="0"/>
              </a:spcAft>
              <a:buSzPts val="1440"/>
              <a:buNone/>
            </a:pPr>
            <a:r>
              <a:t/>
            </a:r>
            <a:endParaRPr b="1" sz="3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4"/>
          <p:cNvSpPr txBox="1"/>
          <p:nvPr>
            <p:ph type="title"/>
          </p:nvPr>
        </p:nvSpPr>
        <p:spPr>
          <a:xfrm>
            <a:off x="685800" y="152400"/>
            <a:ext cx="7696200" cy="457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lt2"/>
              </a:buClr>
              <a:buSzPts val="2800"/>
              <a:buFont typeface="Arial"/>
              <a:buNone/>
            </a:pPr>
            <a:r>
              <a:rPr b="0" i="0" lang="en-US" sz="2800" u="none">
                <a:solidFill>
                  <a:schemeClr val="lt2"/>
                </a:solidFill>
                <a:latin typeface="Arial"/>
                <a:ea typeface="Arial"/>
                <a:cs typeface="Arial"/>
                <a:sym typeface="Arial"/>
              </a:rPr>
              <a:t>Block allocation in e2fs</a:t>
            </a:r>
            <a:endParaRPr/>
          </a:p>
        </p:txBody>
      </p:sp>
      <p:sp>
        <p:nvSpPr>
          <p:cNvPr id="464" name="Google Shape;464;p54"/>
          <p:cNvSpPr txBox="1"/>
          <p:nvPr>
            <p:ph idx="1" type="body"/>
          </p:nvPr>
        </p:nvSpPr>
        <p:spPr>
          <a:xfrm>
            <a:off x="381000" y="685800"/>
            <a:ext cx="8534400" cy="5943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SzPts val="1440"/>
              <a:buNone/>
            </a:pPr>
            <a:r>
              <a:rPr b="1" lang="en-US" sz="1600">
                <a:latin typeface="Arial"/>
                <a:ea typeface="Arial"/>
                <a:cs typeface="Arial"/>
                <a:sym typeface="Arial"/>
              </a:rPr>
              <a:t>What is Block Allocation?</a:t>
            </a:r>
            <a:endParaRPr b="1" sz="1600">
              <a:latin typeface="Arial"/>
              <a:ea typeface="Arial"/>
              <a:cs typeface="Arial"/>
              <a:sym typeface="Arial"/>
            </a:endParaRPr>
          </a:p>
          <a:p>
            <a:pPr indent="-317500" lvl="0" marL="457200" rtl="0" algn="l">
              <a:lnSpc>
                <a:spcPct val="115000"/>
              </a:lnSpc>
              <a:spcBef>
                <a:spcPts val="1200"/>
              </a:spcBef>
              <a:spcAft>
                <a:spcPts val="0"/>
              </a:spcAft>
              <a:buClr>
                <a:schemeClr val="lt1"/>
              </a:buClr>
              <a:buSzPts val="1400"/>
              <a:buFont typeface="Arial"/>
              <a:buChar char="●"/>
            </a:pPr>
            <a:r>
              <a:rPr b="1" lang="en-US" sz="1400">
                <a:latin typeface="Arial"/>
                <a:ea typeface="Arial"/>
                <a:cs typeface="Arial"/>
                <a:sym typeface="Arial"/>
              </a:rPr>
              <a:t>When you create or grow a file, the file system must decide which disk blocks to use to store the file’s data.</a:t>
            </a:r>
            <a:br>
              <a:rPr b="1" lang="en-US"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Good allocation = faster file access, less fragmentation.</a:t>
            </a:r>
            <a:endParaRPr b="1" sz="1400">
              <a:latin typeface="Arial"/>
              <a:ea typeface="Arial"/>
              <a:cs typeface="Arial"/>
              <a:sym typeface="Arial"/>
            </a:endParaRPr>
          </a:p>
          <a:p>
            <a:pPr indent="0" lvl="0" marL="0" rtl="0" algn="l">
              <a:lnSpc>
                <a:spcPct val="115000"/>
              </a:lnSpc>
              <a:spcBef>
                <a:spcPts val="1400"/>
              </a:spcBef>
              <a:spcAft>
                <a:spcPts val="0"/>
              </a:spcAft>
              <a:buSzPts val="1440"/>
              <a:buNone/>
            </a:pPr>
            <a:r>
              <a:rPr b="1" lang="en-US" sz="1600">
                <a:latin typeface="Arial"/>
                <a:ea typeface="Arial"/>
                <a:cs typeface="Arial"/>
                <a:sym typeface="Arial"/>
              </a:rPr>
              <a:t> ext2’s Allocation Goals</a:t>
            </a:r>
            <a:endParaRPr b="1" sz="1600">
              <a:latin typeface="Arial"/>
              <a:ea typeface="Arial"/>
              <a:cs typeface="Arial"/>
              <a:sym typeface="Arial"/>
            </a:endParaRPr>
          </a:p>
          <a:p>
            <a:pPr indent="-317500" lvl="0" marL="457200" rtl="0" algn="l">
              <a:lnSpc>
                <a:spcPct val="115000"/>
              </a:lnSpc>
              <a:spcBef>
                <a:spcPts val="1200"/>
              </a:spcBef>
              <a:spcAft>
                <a:spcPts val="0"/>
              </a:spcAft>
              <a:buClr>
                <a:schemeClr val="lt1"/>
              </a:buClr>
              <a:buSzPts val="1400"/>
              <a:buFont typeface="Arial"/>
              <a:buChar char="●"/>
            </a:pPr>
            <a:r>
              <a:rPr b="1" lang="en-US" sz="1400">
                <a:latin typeface="Arial"/>
                <a:ea typeface="Arial"/>
                <a:cs typeface="Arial"/>
                <a:sym typeface="Arial"/>
              </a:rPr>
              <a:t>Prevent fragmentation (scattering file pieces all over the disk).</a:t>
            </a:r>
            <a:br>
              <a:rPr b="1" lang="en-US"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Clr>
                <a:schemeClr val="lt1"/>
              </a:buClr>
              <a:buSzPts val="1400"/>
              <a:buFont typeface="Arial"/>
              <a:buChar char="●"/>
            </a:pPr>
            <a:r>
              <a:rPr b="1" lang="en-US" sz="1400">
                <a:latin typeface="Arial"/>
                <a:ea typeface="Arial"/>
                <a:cs typeface="Arial"/>
                <a:sym typeface="Arial"/>
              </a:rPr>
              <a:t>Keep related data close together for speed.</a:t>
            </a:r>
            <a:br>
              <a:rPr b="1" lang="en-US" sz="1400">
                <a:latin typeface="Arial"/>
                <a:ea typeface="Arial"/>
                <a:cs typeface="Arial"/>
                <a:sym typeface="Arial"/>
              </a:rPr>
            </a:br>
            <a:endParaRPr b="1" sz="1400">
              <a:latin typeface="Arial"/>
              <a:ea typeface="Arial"/>
              <a:cs typeface="Arial"/>
              <a:sym typeface="Arial"/>
            </a:endParaRPr>
          </a:p>
          <a:p>
            <a:pPr indent="0" lvl="0" marL="0" rtl="0" algn="l">
              <a:lnSpc>
                <a:spcPct val="115000"/>
              </a:lnSpc>
              <a:spcBef>
                <a:spcPts val="1400"/>
              </a:spcBef>
              <a:spcAft>
                <a:spcPts val="0"/>
              </a:spcAft>
              <a:buSzPts val="1440"/>
              <a:buNone/>
            </a:pPr>
            <a:r>
              <a:rPr b="1" lang="en-US" sz="1600">
                <a:latin typeface="Arial"/>
                <a:ea typeface="Arial"/>
                <a:cs typeface="Arial"/>
                <a:sym typeface="Arial"/>
              </a:rPr>
              <a:t>Target-Oriented Allocation</a:t>
            </a:r>
            <a:endParaRPr b="1" sz="1600">
              <a:latin typeface="Arial"/>
              <a:ea typeface="Arial"/>
              <a:cs typeface="Arial"/>
              <a:sym typeface="Arial"/>
            </a:endParaRPr>
          </a:p>
          <a:p>
            <a:pPr indent="0" lvl="0" marL="0" rtl="0" algn="l">
              <a:lnSpc>
                <a:spcPct val="115000"/>
              </a:lnSpc>
              <a:spcBef>
                <a:spcPts val="1200"/>
              </a:spcBef>
              <a:spcAft>
                <a:spcPts val="0"/>
              </a:spcAft>
              <a:buSzPts val="1440"/>
              <a:buNone/>
            </a:pPr>
            <a:r>
              <a:rPr b="1" lang="en-US" sz="1400">
                <a:latin typeface="Arial"/>
                <a:ea typeface="Arial"/>
                <a:cs typeface="Arial"/>
                <a:sym typeface="Arial"/>
              </a:rPr>
              <a:t>When ext2 needs a block:</a:t>
            </a:r>
            <a:endParaRPr b="1" sz="1400">
              <a:latin typeface="Arial"/>
              <a:ea typeface="Arial"/>
              <a:cs typeface="Arial"/>
              <a:sym typeface="Arial"/>
            </a:endParaRPr>
          </a:p>
          <a:p>
            <a:pPr indent="-317500" lvl="0" marL="457200" rtl="0" algn="l">
              <a:lnSpc>
                <a:spcPct val="115000"/>
              </a:lnSpc>
              <a:spcBef>
                <a:spcPts val="1200"/>
              </a:spcBef>
              <a:spcAft>
                <a:spcPts val="0"/>
              </a:spcAft>
              <a:buClr>
                <a:schemeClr val="lt1"/>
              </a:buClr>
              <a:buSzPts val="1400"/>
              <a:buFont typeface="Arial"/>
              <a:buAutoNum type="arabicPeriod"/>
            </a:pPr>
            <a:r>
              <a:rPr b="1" lang="en-US" sz="1400">
                <a:latin typeface="Arial"/>
                <a:ea typeface="Arial"/>
                <a:cs typeface="Arial"/>
                <a:sym typeface="Arial"/>
              </a:rPr>
              <a:t>First → Look for free space right next to the last block of the file.</a:t>
            </a:r>
            <a:br>
              <a:rPr b="1" lang="en-US"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Clr>
                <a:schemeClr val="lt1"/>
              </a:buClr>
              <a:buSzPts val="1400"/>
              <a:buFont typeface="Arial"/>
              <a:buAutoNum type="arabicPeriod"/>
            </a:pPr>
            <a:r>
              <a:rPr b="1" lang="en-US" sz="1400">
                <a:latin typeface="Arial"/>
                <a:ea typeface="Arial"/>
                <a:cs typeface="Arial"/>
                <a:sym typeface="Arial"/>
              </a:rPr>
              <a:t>If not available → Look for a free block within 32 blocks of the last one.</a:t>
            </a:r>
            <a:br>
              <a:rPr b="1" lang="en-US"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Clr>
                <a:schemeClr val="lt1"/>
              </a:buClr>
              <a:buSzPts val="1400"/>
              <a:buFont typeface="Arial"/>
              <a:buAutoNum type="arabicPeriod"/>
            </a:pPr>
            <a:r>
              <a:rPr b="1" lang="en-US" sz="1400">
                <a:latin typeface="Arial"/>
                <a:ea typeface="Arial"/>
                <a:cs typeface="Arial"/>
                <a:sym typeface="Arial"/>
              </a:rPr>
              <a:t>If still not found → Use a free block in the same block group.</a:t>
            </a:r>
            <a:br>
              <a:rPr b="1" lang="en-US"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Clr>
                <a:schemeClr val="lt1"/>
              </a:buClr>
              <a:buSzPts val="1400"/>
              <a:buFont typeface="Arial"/>
              <a:buAutoNum type="arabicPeriod"/>
            </a:pPr>
            <a:r>
              <a:rPr b="1" lang="en-US" sz="1400">
                <a:latin typeface="Arial"/>
                <a:ea typeface="Arial"/>
                <a:cs typeface="Arial"/>
                <a:sym typeface="Arial"/>
              </a:rPr>
              <a:t>As a last resort → Allocate from another block group.</a:t>
            </a:r>
            <a:endParaRPr b="1" sz="1400">
              <a:latin typeface="Arial"/>
              <a:ea typeface="Arial"/>
              <a:cs typeface="Arial"/>
              <a:sym typeface="Arial"/>
            </a:endParaRPr>
          </a:p>
          <a:p>
            <a:pPr indent="-342900" lvl="0" marL="342900" rtl="0" algn="l">
              <a:lnSpc>
                <a:spcPct val="90000"/>
              </a:lnSpc>
              <a:spcBef>
                <a:spcPts val="480"/>
              </a:spcBef>
              <a:spcAft>
                <a:spcPts val="0"/>
              </a:spcAft>
              <a:buClr>
                <a:schemeClr val="lt1"/>
              </a:buClr>
              <a:buSzPts val="2700"/>
              <a:buChar char="●"/>
            </a:pPr>
            <a:r>
              <a:t/>
            </a:r>
            <a:endParaRPr b="1" sz="27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5"/>
          <p:cNvSpPr txBox="1"/>
          <p:nvPr>
            <p:ph idx="1" type="body"/>
          </p:nvPr>
        </p:nvSpPr>
        <p:spPr>
          <a:xfrm>
            <a:off x="248200" y="287375"/>
            <a:ext cx="8209800" cy="580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latin typeface="Arial"/>
                <a:ea typeface="Arial"/>
                <a:cs typeface="Arial"/>
                <a:sym typeface="Arial"/>
              </a:rPr>
              <a:t> </a:t>
            </a:r>
            <a:r>
              <a:rPr b="1" lang="en-US" sz="1500">
                <a:latin typeface="Arial"/>
                <a:ea typeface="Arial"/>
                <a:cs typeface="Arial"/>
                <a:sym typeface="Arial"/>
              </a:rPr>
              <a:t>Pre-allocation (Clustering)</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b="1" lang="en-US" sz="1500">
                <a:latin typeface="Arial"/>
                <a:ea typeface="Arial"/>
                <a:cs typeface="Arial"/>
                <a:sym typeface="Arial"/>
              </a:rPr>
              <a:t>When ext2 allocates a block, it can reserve up to 8 following blocks if they’re free.</a:t>
            </a:r>
            <a:br>
              <a:rPr b="1" lang="en-US" sz="1500">
                <a:latin typeface="Arial"/>
                <a:ea typeface="Arial"/>
                <a:cs typeface="Arial"/>
                <a:sym typeface="Arial"/>
              </a:rPr>
            </a:br>
            <a:endParaRPr b="1"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If the file is closed before all reserved blocks are used → the extra blocks are released.</a:t>
            </a:r>
            <a:br>
              <a:rPr b="1" lang="en-US" sz="1500">
                <a:latin typeface="Arial"/>
                <a:ea typeface="Arial"/>
                <a:cs typeface="Arial"/>
                <a:sym typeface="Arial"/>
              </a:rPr>
            </a:br>
            <a:endParaRPr b="1"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This improves performance for sequential writes.</a:t>
            </a:r>
            <a:endParaRPr b="1" sz="1500">
              <a:latin typeface="Arial"/>
              <a:ea typeface="Arial"/>
              <a:cs typeface="Arial"/>
              <a:sym typeface="Arial"/>
            </a:endParaRPr>
          </a:p>
          <a:p>
            <a:pPr indent="0" lvl="0" marL="0" rtl="0" algn="l">
              <a:lnSpc>
                <a:spcPct val="115000"/>
              </a:lnSpc>
              <a:spcBef>
                <a:spcPts val="1400"/>
              </a:spcBef>
              <a:spcAft>
                <a:spcPts val="0"/>
              </a:spcAft>
              <a:buSzPts val="1440"/>
              <a:buNone/>
            </a:pPr>
            <a:r>
              <a:rPr b="1" lang="en-US" sz="1500">
                <a:latin typeface="Arial"/>
                <a:ea typeface="Arial"/>
                <a:cs typeface="Arial"/>
                <a:sym typeface="Arial"/>
              </a:rPr>
              <a:t>How ext2 Decides the Target Block</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b="1" lang="en-US" sz="1500">
                <a:latin typeface="Arial"/>
                <a:ea typeface="Arial"/>
                <a:cs typeface="Arial"/>
                <a:sym typeface="Arial"/>
              </a:rPr>
              <a:t>Let:</a:t>
            </a:r>
            <a:br>
              <a:rPr b="1" lang="en-US" sz="1500">
                <a:latin typeface="Arial"/>
                <a:ea typeface="Arial"/>
                <a:cs typeface="Arial"/>
                <a:sym typeface="Arial"/>
              </a:rPr>
            </a:br>
            <a:endParaRPr b="1" sz="1500">
              <a:latin typeface="Arial"/>
              <a:ea typeface="Arial"/>
              <a:cs typeface="Arial"/>
              <a:sym typeface="Arial"/>
            </a:endParaRPr>
          </a:p>
          <a:p>
            <a:pPr indent="-323850" lvl="1" marL="9144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n = logical block number needed</a:t>
            </a:r>
            <a:br>
              <a:rPr b="1" lang="en-US" sz="1500">
                <a:latin typeface="Arial"/>
                <a:ea typeface="Arial"/>
                <a:cs typeface="Arial"/>
                <a:sym typeface="Arial"/>
              </a:rPr>
            </a:br>
            <a:endParaRPr b="1" sz="1500">
              <a:latin typeface="Arial"/>
              <a:ea typeface="Arial"/>
              <a:cs typeface="Arial"/>
              <a:sym typeface="Arial"/>
            </a:endParaRPr>
          </a:p>
          <a:p>
            <a:pPr indent="-323850" lvl="1" marL="9144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l = last allocated block number</a:t>
            </a:r>
            <a:br>
              <a:rPr b="1" lang="en-US" sz="1500">
                <a:latin typeface="Arial"/>
                <a:ea typeface="Arial"/>
                <a:cs typeface="Arial"/>
                <a:sym typeface="Arial"/>
              </a:rPr>
            </a:br>
            <a:endParaRPr b="1"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n-US" sz="1500">
                <a:latin typeface="Arial"/>
                <a:ea typeface="Arial"/>
                <a:cs typeface="Arial"/>
                <a:sym typeface="Arial"/>
              </a:rPr>
              <a:t>Target = </a:t>
            </a:r>
            <a:r>
              <a:rPr b="1" lang="en-US" sz="1500">
                <a:latin typeface="Roboto Mono"/>
                <a:ea typeface="Roboto Mono"/>
                <a:cs typeface="Roboto Mono"/>
                <a:sym typeface="Roboto Mono"/>
              </a:rPr>
              <a:t>l + 1</a:t>
            </a:r>
            <a:r>
              <a:rPr b="1" lang="en-US" sz="1500">
                <a:latin typeface="Arial"/>
                <a:ea typeface="Arial"/>
                <a:cs typeface="Arial"/>
                <a:sym typeface="Arial"/>
              </a:rPr>
              <a:t> (next block in sequence) if possible.</a:t>
            </a:r>
            <a:br>
              <a:rPr b="1" lang="en-US" sz="1500">
                <a:latin typeface="Arial"/>
                <a:ea typeface="Arial"/>
                <a:cs typeface="Arial"/>
                <a:sym typeface="Arial"/>
              </a:rPr>
            </a:br>
            <a:endParaRPr b="1" sz="1500">
              <a:latin typeface="Arial"/>
              <a:ea typeface="Arial"/>
              <a:cs typeface="Arial"/>
              <a:sym typeface="Arial"/>
            </a:endParaRPr>
          </a:p>
          <a:p>
            <a:pPr indent="0" lvl="0" marL="0" rtl="0" algn="l">
              <a:lnSpc>
                <a:spcPct val="100000"/>
              </a:lnSpc>
              <a:spcBef>
                <a:spcPts val="1200"/>
              </a:spcBef>
              <a:spcAft>
                <a:spcPts val="0"/>
              </a:spcAft>
              <a:buSzPts val="1440"/>
              <a:buNone/>
            </a:pPr>
            <a:r>
              <a:rPr b="1" lang="en-US" sz="1500"/>
              <a:t>Visualization</a:t>
            </a:r>
            <a:endParaRPr b="1" sz="1500"/>
          </a:p>
          <a:p>
            <a:pPr indent="0" lvl="0" marL="0" rtl="0" algn="l">
              <a:lnSpc>
                <a:spcPct val="100000"/>
              </a:lnSpc>
              <a:spcBef>
                <a:spcPts val="360"/>
              </a:spcBef>
              <a:spcAft>
                <a:spcPts val="0"/>
              </a:spcAft>
              <a:buClr>
                <a:schemeClr val="dk1"/>
              </a:buClr>
              <a:buSzPts val="1100"/>
              <a:buFont typeface="Arial"/>
              <a:buNone/>
            </a:pPr>
            <a:r>
              <a:rPr b="1" lang="en-US" sz="1500"/>
              <a:t>File: report.txt</a:t>
            </a:r>
            <a:endParaRPr b="1" sz="1500"/>
          </a:p>
          <a:p>
            <a:pPr indent="0" lvl="0" marL="0" rtl="0" algn="l">
              <a:lnSpc>
                <a:spcPct val="100000"/>
              </a:lnSpc>
              <a:spcBef>
                <a:spcPts val="360"/>
              </a:spcBef>
              <a:spcAft>
                <a:spcPts val="0"/>
              </a:spcAft>
              <a:buClr>
                <a:schemeClr val="dk1"/>
              </a:buClr>
              <a:buSzPts val="1100"/>
              <a:buFont typeface="Arial"/>
              <a:buNone/>
            </a:pPr>
            <a:r>
              <a:rPr b="1" lang="en-US" sz="1500"/>
              <a:t>Allocated: [Block 10][Block 11][Block 12][Block 13]</a:t>
            </a:r>
            <a:endParaRPr b="1" sz="1500"/>
          </a:p>
          <a:p>
            <a:pPr indent="0" lvl="0" marL="0" rtl="0" algn="l">
              <a:lnSpc>
                <a:spcPct val="100000"/>
              </a:lnSpc>
              <a:spcBef>
                <a:spcPts val="360"/>
              </a:spcBef>
              <a:spcAft>
                <a:spcPts val="0"/>
              </a:spcAft>
              <a:buClr>
                <a:schemeClr val="dk1"/>
              </a:buClr>
              <a:buSzPts val="1100"/>
              <a:buFont typeface="Arial"/>
              <a:buNone/>
            </a:pPr>
            <a:r>
              <a:rPr b="1" lang="en-US" sz="1500"/>
              <a:t>Instead of: [Block 10] [Block 200] [Block 57] [Block 999]</a:t>
            </a:r>
            <a:endParaRPr b="1" sz="1500"/>
          </a:p>
          <a:p>
            <a:pPr indent="0" lvl="0" marL="0" rtl="0" algn="l">
              <a:lnSpc>
                <a:spcPct val="100000"/>
              </a:lnSpc>
              <a:spcBef>
                <a:spcPts val="360"/>
              </a:spcBef>
              <a:spcAft>
                <a:spcPts val="0"/>
              </a:spcAft>
              <a:buClr>
                <a:schemeClr val="dk1"/>
              </a:buClr>
              <a:buSzPts val="1100"/>
              <a:buFont typeface="Arial"/>
              <a:buNone/>
            </a:pPr>
            <a:r>
              <a:t/>
            </a:r>
            <a:endParaRPr b="1" sz="1500"/>
          </a:p>
          <a:p>
            <a:pPr indent="0" lvl="0" marL="0" rtl="0" algn="l">
              <a:lnSpc>
                <a:spcPct val="100000"/>
              </a:lnSpc>
              <a:spcBef>
                <a:spcPts val="360"/>
              </a:spcBef>
              <a:spcAft>
                <a:spcPts val="0"/>
              </a:spcAft>
              <a:buSzPts val="1440"/>
              <a:buNone/>
            </a:pPr>
            <a:r>
              <a:t/>
            </a:r>
            <a:endParaRPr b="1" sz="1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560"/>
              <a:buFont typeface="Noto Sans Symbols"/>
              <a:buNone/>
            </a:pPr>
            <a:r>
              <a:t/>
            </a:r>
            <a:endParaRPr b="0" i="0" sz="3200" u="none">
              <a:solidFill>
                <a:schemeClr val="lt1"/>
              </a:solidFill>
              <a:latin typeface="Times New Roman"/>
              <a:ea typeface="Times New Roman"/>
              <a:cs typeface="Times New Roman"/>
              <a:sym typeface="Times New Roman"/>
            </a:endParaRPr>
          </a:p>
          <a:p>
            <a:pPr indent="0" lvl="0" marL="0" marR="0" rtl="0" algn="ctr">
              <a:lnSpc>
                <a:spcPct val="100000"/>
              </a:lnSpc>
              <a:spcBef>
                <a:spcPts val="640"/>
              </a:spcBef>
              <a:spcAft>
                <a:spcPts val="0"/>
              </a:spcAft>
              <a:buClr>
                <a:schemeClr val="accent2"/>
              </a:buClr>
              <a:buSzPts val="2560"/>
              <a:buFont typeface="Noto Sans Symbols"/>
              <a:buNone/>
            </a:pPr>
            <a:r>
              <a:t/>
            </a:r>
            <a:endParaRPr b="0" i="0" sz="3200" u="none">
              <a:solidFill>
                <a:schemeClr val="lt1"/>
              </a:solidFill>
              <a:latin typeface="Times New Roman"/>
              <a:ea typeface="Times New Roman"/>
              <a:cs typeface="Times New Roman"/>
              <a:sym typeface="Times New Roman"/>
            </a:endParaRPr>
          </a:p>
          <a:p>
            <a:pPr indent="0" lvl="0" marL="0" marR="0" rtl="0" algn="ctr">
              <a:lnSpc>
                <a:spcPct val="100000"/>
              </a:lnSpc>
              <a:spcBef>
                <a:spcPts val="640"/>
              </a:spcBef>
              <a:spcAft>
                <a:spcPts val="0"/>
              </a:spcAft>
              <a:buClr>
                <a:schemeClr val="accent2"/>
              </a:buClr>
              <a:buSzPts val="2560"/>
              <a:buFont typeface="Noto Sans Symbols"/>
              <a:buNone/>
            </a:pPr>
            <a:r>
              <a:rPr b="0" i="0" lang="en-US" sz="3200" u="none">
                <a:solidFill>
                  <a:schemeClr val="lt1"/>
                </a:solidFill>
                <a:latin typeface="Times New Roman"/>
                <a:ea typeface="Times New Roman"/>
                <a:cs typeface="Times New Roman"/>
                <a:sym typeface="Times New Roman"/>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