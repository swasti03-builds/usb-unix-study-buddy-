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-69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B2D713-452F-6839-ACC2-2C2851DF57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9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1E529FE-6AF9-6AD2-7814-224FB602A7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Command </a:t>
            </a:r>
            <a:r>
              <a:rPr lang="en-US"/>
              <a:t>line </a:t>
            </a:r>
            <a:r>
              <a:rPr lang="en-US" smtClean="0"/>
              <a:t>arguments, </a:t>
            </a:r>
            <a:r>
              <a:rPr lang="en-US" dirty="0"/>
              <a:t>process management, and process signals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566287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0C37BE-900B-4643-0092-815A28609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 we need commands line arguments in</a:t>
            </a:r>
            <a:br>
              <a:rPr lang="en-US" dirty="0"/>
            </a:br>
            <a:r>
              <a:rPr lang="en-US" dirty="0"/>
              <a:t>shell scripts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49F9B2-3B9F-267C-EEFF-40049C9BD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interactions</a:t>
            </a:r>
          </a:p>
          <a:p>
            <a:r>
              <a:rPr lang="en-US" dirty="0"/>
              <a:t>For configurable CRON jobs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4704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1357C1-87D1-EBAC-EEF6-4026AA9DE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1D4DCE-18A7-35D0-51BD-D50CDA71C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703693"/>
            <a:ext cx="9603275" cy="345061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#!/bin/sh</a:t>
            </a:r>
          </a:p>
          <a:p>
            <a:r>
              <a:rPr lang="en-US" dirty="0"/>
              <a:t>echo "Script Name: $0"</a:t>
            </a:r>
          </a:p>
          <a:p>
            <a:r>
              <a:rPr lang="en-US" dirty="0"/>
              <a:t>echo "First Parameter of the script is $1"</a:t>
            </a:r>
          </a:p>
          <a:p>
            <a:r>
              <a:rPr lang="en-US" dirty="0"/>
              <a:t>echo "The second Parameter is $2"</a:t>
            </a:r>
          </a:p>
          <a:p>
            <a:r>
              <a:rPr lang="en-US" dirty="0"/>
              <a:t>echo "The complete list of arguments is $@"</a:t>
            </a:r>
          </a:p>
          <a:p>
            <a:r>
              <a:rPr lang="en-US" dirty="0"/>
              <a:t>echo "Total Number of Parameters: $#"</a:t>
            </a:r>
          </a:p>
          <a:p>
            <a:r>
              <a:rPr lang="en-US" dirty="0"/>
              <a:t>echo "The process ID is $$"</a:t>
            </a:r>
          </a:p>
          <a:p>
            <a:r>
              <a:rPr lang="en-US" dirty="0"/>
              <a:t>echo "Exit code for the script: $?"</a:t>
            </a:r>
            <a:endParaRPr lang="en-IN" dirty="0"/>
          </a:p>
        </p:txBody>
      </p:sp>
      <p:pic>
        <p:nvPicPr>
          <p:cNvPr id="1027" name="Picture 3" descr="Reading Arguments">
            <a:extLst>
              <a:ext uri="{FF2B5EF4-FFF2-40B4-BE49-F238E27FC236}">
                <a16:creationId xmlns:a16="http://schemas.microsoft.com/office/drawing/2014/main" xmlns="" id="{A2A8924A-F359-29AB-C7F5-9874C4703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08295" y="4392306"/>
            <a:ext cx="893445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987571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17061-9A74-117B-6F7F-276B5FFB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  Vs   Process   vs  signals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636475-EF6F-CC4F-B693-B20417EB5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 is code file text file</a:t>
            </a:r>
          </a:p>
          <a:p>
            <a:r>
              <a:rPr lang="en-US" dirty="0"/>
              <a:t>Process is executable file in execution and it has stack, heap, data, variables in RAM</a:t>
            </a:r>
          </a:p>
          <a:p>
            <a:r>
              <a:rPr lang="en-US" dirty="0"/>
              <a:t>Signals are some OS defined codes which pass to processes and then acted up </a:t>
            </a:r>
          </a:p>
          <a:p>
            <a:pPr marL="0" indent="0">
              <a:buNone/>
            </a:pPr>
            <a:r>
              <a:rPr lang="en-US" dirty="0"/>
              <a:t>Like kill 9    where kill command issue signal 9 which as process to quit </a:t>
            </a:r>
            <a:r>
              <a:rPr lang="en-US" dirty="0" err="1"/>
              <a:t>immediat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979152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A511B9-6CFF-5758-008C-A72619B8A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list of signals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23BA26C4-60E8-72DA-A2D5-74E07ED45A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338115051"/>
              </p:ext>
            </p:extLst>
          </p:nvPr>
        </p:nvGraphicFramePr>
        <p:xfrm>
          <a:off x="2303522" y="2095200"/>
          <a:ext cx="8361188" cy="3474732"/>
        </p:xfrm>
        <a:graphic>
          <a:graphicData uri="http://schemas.openxmlformats.org/drawingml/2006/table">
            <a:tbl>
              <a:tblPr/>
              <a:tblGrid>
                <a:gridCol w="1659749">
                  <a:extLst>
                    <a:ext uri="{9D8B030D-6E8A-4147-A177-3AD203B41FA5}">
                      <a16:colId xmlns:a16="http://schemas.microsoft.com/office/drawing/2014/main" xmlns="" val="1768924766"/>
                    </a:ext>
                  </a:extLst>
                </a:gridCol>
                <a:gridCol w="927652">
                  <a:extLst>
                    <a:ext uri="{9D8B030D-6E8A-4147-A177-3AD203B41FA5}">
                      <a16:colId xmlns:a16="http://schemas.microsoft.com/office/drawing/2014/main" xmlns="" val="2877393695"/>
                    </a:ext>
                  </a:extLst>
                </a:gridCol>
                <a:gridCol w="5773787">
                  <a:extLst>
                    <a:ext uri="{9D8B030D-6E8A-4147-A177-3AD203B41FA5}">
                      <a16:colId xmlns:a16="http://schemas.microsoft.com/office/drawing/2014/main" xmlns="" val="1867672134"/>
                    </a:ext>
                  </a:extLst>
                </a:gridCol>
              </a:tblGrid>
              <a:tr h="7458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ignal Name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Signal Number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Description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51179701"/>
                  </a:ext>
                </a:extLst>
              </a:tr>
              <a:tr h="5360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>
                          <a:effectLst/>
                        </a:rPr>
                        <a:t>SIGHUP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>
                          <a:effectLst/>
                        </a:rPr>
                        <a:t>1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Hang up detected on controlling terminal or death of controlling process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44231342"/>
                  </a:ext>
                </a:extLst>
              </a:tr>
              <a:tr h="326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SIGINT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2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Issued if the user sends an interrupt signal (Ctrl + C)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50375700"/>
                  </a:ext>
                </a:extLst>
              </a:tr>
              <a:tr h="326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SIGQUIT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3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Issued if the user sends a quit signal (Ctrl + D)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24607328"/>
                  </a:ext>
                </a:extLst>
              </a:tr>
              <a:tr h="3263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>
                          <a:effectLst/>
                        </a:rPr>
                        <a:t>SIGFPE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>
                          <a:effectLst/>
                        </a:rPr>
                        <a:t>8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Issued if an illegal mathematical operation is attempted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8842776"/>
                  </a:ext>
                </a:extLst>
              </a:tr>
              <a:tr h="5360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>
                          <a:effectLst/>
                        </a:rPr>
                        <a:t>SIGKILL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>
                          <a:effectLst/>
                        </a:rPr>
                        <a:t>9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If a process gets this signal it must quit immediately and will not perform any clean-up operations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54373988"/>
                  </a:ext>
                </a:extLst>
              </a:tr>
              <a:tr h="326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SIGALRM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14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Alarm clock signal (used for timers)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86134762"/>
                  </a:ext>
                </a:extLst>
              </a:tr>
              <a:tr h="3263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SIGTERM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effectLst/>
                        </a:rPr>
                        <a:t>15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>
                          <a:effectLst/>
                        </a:rPr>
                        <a:t>Software termination signal (sent by kill by default)</a:t>
                      </a:r>
                    </a:p>
                  </a:txBody>
                  <a:tcPr marL="58271" marR="58271" marT="58271" marB="58271" anchor="ctr">
                    <a:lnL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681028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884647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0AF44D-BE9B-F978-4BC7-D1DE18EFD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Sending Signals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59ACB255-5583-9D58-43E0-2862D3B2FB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354285"/>
            <a:ext cx="882760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Black" panose="020B0A04020102020204" pitchFamily="34" charset="0"/>
              </a:rPr>
              <a:t>When you press the </a:t>
            </a:r>
            <a:r>
              <a:rPr kumimoji="0" lang="en-US" altLang="en-US" sz="1600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Black" panose="020B0A04020102020204" pitchFamily="34" charset="0"/>
              </a:rPr>
              <a:t>Ctrl+C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Black" panose="020B0A04020102020204" pitchFamily="34" charset="0"/>
              </a:rPr>
              <a:t> key, a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Black" panose="020B0A04020102020204" pitchFamily="34" charset="0"/>
              </a:rPr>
              <a:t>SIGINT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Black" panose="020B0A04020102020204" pitchFamily="34" charset="0"/>
              </a:rPr>
              <a:t> is sent to the script and as</a:t>
            </a:r>
          </a:p>
          <a:p>
            <a:pPr marL="0" indent="0">
              <a:lnSpc>
                <a:spcPct val="100000"/>
              </a:lnSpc>
              <a:buClrTx/>
              <a:buSz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Black" panose="020B0A04020102020204" pitchFamily="34" charset="0"/>
              </a:rPr>
              <a:t> per defined default action script terminates.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>
              <a:lnSpc>
                <a:spcPct val="100000"/>
              </a:lnSpc>
              <a:buClrTx/>
              <a:buSzTx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Black" panose="020B0A04020102020204" pitchFamily="34" charset="0"/>
            </a:endParaRPr>
          </a:p>
          <a:p>
            <a:pPr>
              <a:lnSpc>
                <a:spcPct val="100000"/>
              </a:lnSpc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Black" panose="020B0A04020102020204" pitchFamily="34" charset="0"/>
              </a:rPr>
              <a:t>The other common method for delivering signals is to use the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Black" panose="020B0A04020102020204" pitchFamily="34" charset="0"/>
              </a:rPr>
              <a:t>kill command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Black" panose="020B0A04020102020204" pitchFamily="34" charset="0"/>
              </a:rPr>
              <a:t>, </a:t>
            </a:r>
          </a:p>
          <a:p>
            <a:pPr marL="0" indent="0">
              <a:lnSpc>
                <a:spcPct val="100000"/>
              </a:lnSpc>
              <a:buClrTx/>
              <a:buSz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Black" panose="020B0A04020102020204" pitchFamily="34" charset="0"/>
              </a:rPr>
              <a:t>the syntax of which is as follows −</a:t>
            </a:r>
          </a:p>
          <a:p>
            <a:pPr>
              <a:lnSpc>
                <a:spcPct val="100000"/>
              </a:lnSpc>
              <a:buClrTx/>
              <a:buSzTx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Black" panose="020B0A04020102020204" pitchFamily="34" charset="0"/>
            </a:endParaRPr>
          </a:p>
          <a:p>
            <a:pPr>
              <a:lnSpc>
                <a:spcPct val="100000"/>
              </a:lnSpc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Black" panose="020B0A04020102020204" pitchFamily="34" charset="0"/>
              </a:rPr>
              <a:t>$ kill -signal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Black" panose="020B0A04020102020204" pitchFamily="34" charset="0"/>
              </a:rPr>
              <a:t>pid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</a:t>
            </a:r>
          </a:p>
          <a:p>
            <a:pPr>
              <a:lnSpc>
                <a:spcPct val="100000"/>
              </a:lnSpc>
              <a:buClrTx/>
              <a:buSzTx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r>
              <a:rPr lang="en-US" dirty="0"/>
              <a:t>Trapping Signals</a:t>
            </a:r>
          </a:p>
          <a:p>
            <a:r>
              <a:rPr lang="en-US" dirty="0"/>
              <a:t>When you press the </a:t>
            </a:r>
            <a:r>
              <a:rPr lang="en-US" i="1" dirty="0" err="1"/>
              <a:t>Ctrl+C</a:t>
            </a:r>
            <a:r>
              <a:rPr lang="en-US" dirty="0"/>
              <a:t> or Break key at your terminal during execution</a:t>
            </a:r>
          </a:p>
          <a:p>
            <a:pPr marL="0" indent="0">
              <a:buNone/>
            </a:pPr>
            <a:r>
              <a:rPr lang="en-US" dirty="0"/>
              <a:t>of a shell program, normally that program is immediately terminated.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trap "rm -f $WORKDIR/work1$$ $WORKDIR/</a:t>
            </a:r>
            <a:r>
              <a:rPr lang="en-US" dirty="0" err="1"/>
              <a:t>dataout</a:t>
            </a:r>
            <a:r>
              <a:rPr lang="en-US" dirty="0"/>
              <a:t>$$; exit" 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lnSpc>
                <a:spcPct val="100000"/>
              </a:lnSpc>
              <a:buClrTx/>
              <a:buSzTx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>
              <a:lnSpc>
                <a:spcPct val="100000"/>
              </a:lnSpc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7883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2A0B8E-F8AA-BAC9-CF17-ABAF9037D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CRON job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A260DD-AB36-0B4E-665E-46FBBB139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01075"/>
            <a:ext cx="9603275" cy="3450613"/>
          </a:xfrm>
        </p:spPr>
        <p:txBody>
          <a:bodyPr/>
          <a:lstStyle/>
          <a:p>
            <a:r>
              <a:rPr lang="en-US" dirty="0"/>
              <a:t>A </a:t>
            </a:r>
            <a:r>
              <a:rPr lang="en-US" b="1" dirty="0" err="1"/>
              <a:t>cron</a:t>
            </a:r>
            <a:r>
              <a:rPr lang="en-US" b="1" dirty="0"/>
              <a:t> job</a:t>
            </a:r>
            <a:r>
              <a:rPr lang="en-US" dirty="0"/>
              <a:t> is a task created using </a:t>
            </a:r>
            <a:r>
              <a:rPr lang="en-US" b="1" dirty="0" err="1"/>
              <a:t>cron</a:t>
            </a:r>
            <a:r>
              <a:rPr lang="en-US" dirty="0"/>
              <a:t>, a tool for scheduling and automating future tasks on Unix-like operating systems. Setting up </a:t>
            </a:r>
            <a:r>
              <a:rPr lang="en-US" dirty="0" err="1"/>
              <a:t>cron</a:t>
            </a:r>
            <a:r>
              <a:rPr lang="en-US" dirty="0"/>
              <a:t> jobs is highly beneficial as you won’t need to perform repetitive tasks manually, ensuring efficiency and minimal human error.</a:t>
            </a:r>
          </a:p>
          <a:p>
            <a:endParaRPr lang="en-IN" dirty="0"/>
          </a:p>
        </p:txBody>
      </p:sp>
      <p:pic>
        <p:nvPicPr>
          <p:cNvPr id="4098" name="Picture 2" descr="The syntax for crontab command">
            <a:extLst>
              <a:ext uri="{FF2B5EF4-FFF2-40B4-BE49-F238E27FC236}">
                <a16:creationId xmlns:a16="http://schemas.microsoft.com/office/drawing/2014/main" xmlns="" id="{54FDD9E2-D629-3177-B24A-2FA38F1AC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83955" y="3694313"/>
            <a:ext cx="6238875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967585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1B1B1F-8CD5-43D5-53D5-F8D963DF4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F9F70620-D4DB-F81C-93E8-35A113A368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682315396"/>
              </p:ext>
            </p:extLst>
          </p:nvPr>
        </p:nvGraphicFramePr>
        <p:xfrm>
          <a:off x="1699847" y="2314575"/>
          <a:ext cx="8179232" cy="2228850"/>
        </p:xfrm>
        <a:graphic>
          <a:graphicData uri="http://schemas.openxmlformats.org/drawingml/2006/table">
            <a:tbl>
              <a:tblPr/>
              <a:tblGrid>
                <a:gridCol w="4089616">
                  <a:extLst>
                    <a:ext uri="{9D8B030D-6E8A-4147-A177-3AD203B41FA5}">
                      <a16:colId xmlns:a16="http://schemas.microsoft.com/office/drawing/2014/main" xmlns="" val="3330683941"/>
                    </a:ext>
                  </a:extLst>
                </a:gridCol>
                <a:gridCol w="4089616">
                  <a:extLst>
                    <a:ext uri="{9D8B030D-6E8A-4147-A177-3AD203B41FA5}">
                      <a16:colId xmlns:a16="http://schemas.microsoft.com/office/drawing/2014/main" xmlns="" val="529642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Example</a:t>
                      </a:r>
                      <a:endParaRPr lang="en-IN">
                        <a:effectLst/>
                      </a:endParaRPr>
                    </a:p>
                  </a:txBody>
                  <a:tcPr marL="190500" marR="190500" marT="19050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Explanation</a:t>
                      </a:r>
                      <a:endParaRPr lang="en-IN">
                        <a:effectLst/>
                      </a:endParaRPr>
                    </a:p>
                  </a:txBody>
                  <a:tcPr marL="190500" marR="190500" marT="19050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4184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0 0 * * 0 /root/backup.sh</a:t>
                      </a:r>
                      <a:endParaRPr lang="en-US">
                        <a:effectLst/>
                      </a:endParaRPr>
                    </a:p>
                  </a:txBody>
                  <a:tcPr marL="190500" marR="190500" marT="19050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Perform a backup every Sunday at midnight.</a:t>
                      </a:r>
                    </a:p>
                  </a:txBody>
                  <a:tcPr marL="190500" marR="190500" marT="19050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00766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0 * * * 1 /root/clearcache.sh</a:t>
                      </a:r>
                      <a:endParaRPr lang="en-US">
                        <a:effectLst/>
                      </a:endParaRPr>
                    </a:p>
                  </a:txBody>
                  <a:tcPr marL="190500" marR="190500" marT="19050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Clear the cache every hour on Mondays.</a:t>
                      </a:r>
                    </a:p>
                  </a:txBody>
                  <a:tcPr marL="190500" marR="190500" marT="19050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19179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231261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68A6F8-3754-FE41-4B1C-7D8FB08CD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/proc file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95CA3F-B43E-77C4-896B-3BA22602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/proc directory is present on all Linux systems, regardless of flavor or architecture. The /proc directory is NOT a real file system but a virtual file system that is created dynamically by Linux to provide access to certain types of </a:t>
            </a:r>
            <a:r>
              <a:rPr lang="en-US" b="1" dirty="0"/>
              <a:t>hardware information </a:t>
            </a:r>
            <a:r>
              <a:rPr lang="en-US" dirty="0"/>
              <a:t>and </a:t>
            </a:r>
            <a:r>
              <a:rPr lang="en-US" b="1" dirty="0"/>
              <a:t>information about the running processes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2524697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EEFA53-BE05-16A8-921C-20962432F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4FF658-3FF7-D347-1E1C-BE210DB12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ls -l /proc</a:t>
            </a:r>
          </a:p>
          <a:p>
            <a:r>
              <a:rPr lang="en-IN" dirty="0"/>
              <a:t>ls -l /proc | grep ‘^d’</a:t>
            </a:r>
          </a:p>
          <a:p>
            <a:r>
              <a:rPr lang="en-US" dirty="0"/>
              <a:t>If we want to check information about the process with PID 3151, we can use the following command.</a:t>
            </a:r>
          </a:p>
          <a:p>
            <a:endParaRPr lang="en-US" dirty="0"/>
          </a:p>
          <a:p>
            <a:r>
              <a:rPr lang="en-US" dirty="0"/>
              <a:t>ls -</a:t>
            </a:r>
            <a:r>
              <a:rPr lang="en-US" dirty="0" err="1"/>
              <a:t>ltr</a:t>
            </a:r>
            <a:r>
              <a:rPr lang="en-US" dirty="0"/>
              <a:t> /proc/3151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855923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8FEB67-4647-5EC6-A649-5F5FD26B8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management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E5C71C-8FA3-E858-7B5B-4B6DC436F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Process management is the task of controlling and monitoring the processes that are running on a Linux system. It involves managing process resources, scheduling processes to run on the CPU, and terminating processes when required.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485769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AA422C-C232-AA7D-FA54-6C2276664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do that and why to do that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3F6B6A-3B81-7218-2F34-7BE1D52C1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ps</a:t>
            </a:r>
            <a:r>
              <a:rPr lang="en-US" dirty="0"/>
              <a:t> command and /proc file system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?</a:t>
            </a:r>
          </a:p>
          <a:p>
            <a:r>
              <a:rPr lang="en-US" dirty="0"/>
              <a:t>Need to manage the CPU resources of server/ system specially in AI training </a:t>
            </a:r>
            <a:r>
              <a:rPr lang="en-US" dirty="0" err="1"/>
              <a:t>scenerios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05590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0D4238-49FB-3344-6E0B-7674F969E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476273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n-US" dirty="0"/>
              <a:t>Now think on Some scenarios where you need to kill some process using task manager in Windows system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98220D-189B-A407-F162-5B187288C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??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4452303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47</TotalTime>
  <Words>427</Words>
  <Application>Microsoft Office PowerPoint</Application>
  <PresentationFormat>Custom</PresentationFormat>
  <Paragraphs>87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Gallery</vt:lpstr>
      <vt:lpstr>Lecture 9</vt:lpstr>
      <vt:lpstr>Why do we need commands line arguments in shell scripts</vt:lpstr>
      <vt:lpstr>example</vt:lpstr>
      <vt:lpstr>Program   Vs   Process   vs  signals</vt:lpstr>
      <vt:lpstr>Sample list of signals</vt:lpstr>
      <vt:lpstr>Sending Signals </vt:lpstr>
      <vt:lpstr>CRON job ?</vt:lpstr>
      <vt:lpstr>Example</vt:lpstr>
      <vt:lpstr>/proc file system</vt:lpstr>
      <vt:lpstr>Examples</vt:lpstr>
      <vt:lpstr>Process management </vt:lpstr>
      <vt:lpstr>How to do that and why to do that</vt:lpstr>
      <vt:lpstr>Now think on Some scenarios where you need to kill some process using task manager in Windows system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9</dc:title>
  <dc:creator>prashant kaushik</dc:creator>
  <cp:lastModifiedBy>amarjeet.kaur</cp:lastModifiedBy>
  <cp:revision>15</cp:revision>
  <dcterms:created xsi:type="dcterms:W3CDTF">2025-10-03T03:46:05Z</dcterms:created>
  <dcterms:modified xsi:type="dcterms:W3CDTF">2025-10-04T03:34:34Z</dcterms:modified>
</cp:coreProperties>
</file>