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77" r:id="rId1"/>
  </p:sldMasterIdLst>
  <p:sldIdLst>
    <p:sldId id="256" r:id="rId2"/>
    <p:sldId id="257" r:id="rId3"/>
    <p:sldId id="258" r:id="rId4"/>
    <p:sldId id="262" r:id="rId5"/>
    <p:sldId id="263" r:id="rId6"/>
    <p:sldId id="264" r:id="rId7"/>
    <p:sldId id="265" r:id="rId8"/>
    <p:sldId id="266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2" d="100"/>
          <a:sy n="82" d="100"/>
        </p:scale>
        <p:origin x="147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685800" y="1346947"/>
            <a:ext cx="7772400" cy="80683"/>
          </a:xfrm>
          <a:prstGeom prst="rect">
            <a:avLst/>
          </a:prstGeom>
          <a:blipFill dpi="0" rotWithShape="1">
            <a:blip r:embed="rId2">
              <a:alphaModFix amt="8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685800" y="4282763"/>
            <a:ext cx="7772400" cy="80683"/>
          </a:xfrm>
          <a:prstGeom prst="rect">
            <a:avLst/>
          </a:prstGeom>
          <a:blipFill dpi="0" rotWithShape="1">
            <a:blip r:embed="rId2">
              <a:alphaModFix amt="8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685800" y="1484779"/>
            <a:ext cx="7772400" cy="2743200"/>
          </a:xfrm>
          <a:prstGeom prst="rect">
            <a:avLst/>
          </a:prstGeom>
          <a:blipFill dpi="0" rotWithShape="1">
            <a:blip r:embed="rId2">
              <a:alphaModFix amt="8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10" name="Group 9"/>
          <p:cNvGrpSpPr>
            <a:grpSpLocks noChangeAspect="1"/>
          </p:cNvGrpSpPr>
          <p:nvPr/>
        </p:nvGrpSpPr>
        <p:grpSpPr>
          <a:xfrm>
            <a:off x="7234780" y="4107023"/>
            <a:ext cx="914400" cy="914400"/>
            <a:chOff x="9685338" y="4460675"/>
            <a:chExt cx="1080904" cy="1080902"/>
          </a:xfrm>
        </p:grpSpPr>
        <p:sp>
          <p:nvSpPr>
            <p:cNvPr id="11" name="Oval 10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2" name="Oval 11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88670" y="1432223"/>
            <a:ext cx="7593330" cy="3035808"/>
          </a:xfrm>
        </p:spPr>
        <p:txBody>
          <a:bodyPr anchor="ctr">
            <a:noAutofit/>
          </a:bodyPr>
          <a:lstStyle>
            <a:lvl1pPr algn="l">
              <a:lnSpc>
                <a:spcPct val="80000"/>
              </a:lnSpc>
              <a:defRPr sz="6400" b="0" cap="all" baseline="0">
                <a:blipFill dpi="0" rotWithShape="1">
                  <a:blip r:embed="rId4"/>
                  <a:srcRect/>
                  <a:tile tx="6350" ty="-127000" sx="65000" sy="64000" flip="none" algn="tl"/>
                </a:blip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02386" y="4389120"/>
            <a:ext cx="5918454" cy="1069848"/>
          </a:xfrm>
        </p:spPr>
        <p:txBody>
          <a:bodyPr>
            <a:norm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12805" y="6272785"/>
            <a:ext cx="474573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244280" y="4227195"/>
            <a:ext cx="895401" cy="640080"/>
          </a:xfrm>
        </p:spPr>
        <p:txBody>
          <a:bodyPr/>
          <a:lstStyle>
            <a:lvl1pPr>
              <a:defRPr sz="2800" b="1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6638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46050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917989"/>
            <a:ext cx="9144000" cy="1940010"/>
          </a:xfrm>
          <a:prstGeom prst="rect">
            <a:avLst/>
          </a:prstGeom>
          <a:blipFill dpi="0" rotWithShape="1">
            <a:blip r:embed="rId2">
              <a:alphaModFix amt="8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25346" y="1225296"/>
            <a:ext cx="6960870" cy="3520440"/>
          </a:xfrm>
        </p:spPr>
        <p:txBody>
          <a:bodyPr anchor="ctr">
            <a:normAutofit/>
          </a:bodyPr>
          <a:lstStyle>
            <a:lvl1pPr>
              <a:lnSpc>
                <a:spcPct val="80000"/>
              </a:lnSpc>
              <a:defRPr sz="6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24330" y="5020056"/>
            <a:ext cx="6789420" cy="1066800"/>
          </a:xfrm>
        </p:spPr>
        <p:txBody>
          <a:bodyPr anchor="t">
            <a:normAutofit/>
          </a:bodyPr>
          <a:lstStyle>
            <a:lvl1pPr marL="0" indent="0">
              <a:buNone/>
              <a:defRPr sz="1800" b="0">
                <a:solidFill>
                  <a:schemeClr val="accent1">
                    <a:lumMod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445251" y="6272785"/>
            <a:ext cx="1983232" cy="365125"/>
          </a:xfrm>
        </p:spPr>
        <p:txBody>
          <a:bodyPr/>
          <a:lstStyle>
            <a:lvl1pPr>
              <a:defRPr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636099" y="6272784"/>
            <a:ext cx="4745736" cy="365125"/>
          </a:xfrm>
        </p:spPr>
        <p:txBody>
          <a:bodyPr/>
          <a:lstStyle>
            <a:lvl1pPr>
              <a:defRPr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endParaRPr lang="en-US"/>
          </a:p>
        </p:txBody>
      </p:sp>
      <p:grpSp>
        <p:nvGrpSpPr>
          <p:cNvPr id="8" name="Group 7"/>
          <p:cNvGrpSpPr>
            <a:grpSpLocks noChangeAspect="1"/>
          </p:cNvGrpSpPr>
          <p:nvPr/>
        </p:nvGrpSpPr>
        <p:grpSpPr>
          <a:xfrm>
            <a:off x="633862" y="2430623"/>
            <a:ext cx="914400" cy="914400"/>
            <a:chOff x="9685338" y="4460675"/>
            <a:chExt cx="1080904" cy="1080902"/>
          </a:xfrm>
        </p:grpSpPr>
        <p:sp>
          <p:nvSpPr>
            <p:cNvPr id="9" name="Oval 8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450" y="2508607"/>
            <a:ext cx="891224" cy="720332"/>
          </a:xfrm>
        </p:spPr>
        <p:txBody>
          <a:bodyPr/>
          <a:lstStyle>
            <a:lvl1pPr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77913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194560"/>
            <a:ext cx="365760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92218" y="2194560"/>
            <a:ext cx="365760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21119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048256"/>
            <a:ext cx="365760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2743200"/>
            <a:ext cx="365760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20793" y="2048256"/>
            <a:ext cx="365760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20793" y="2743200"/>
            <a:ext cx="365760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75567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4352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75392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6227806" y="1"/>
            <a:ext cx="2916194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12230" y="685800"/>
            <a:ext cx="2400300" cy="1737360"/>
          </a:xfrm>
        </p:spPr>
        <p:txBody>
          <a:bodyPr anchor="b">
            <a:normAutofit/>
          </a:bodyPr>
          <a:lstStyle>
            <a:lvl1pPr>
              <a:defRPr sz="2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685800"/>
            <a:ext cx="5033772" cy="502005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12230" y="2423160"/>
            <a:ext cx="24003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350">
                <a:solidFill>
                  <a:schemeClr val="accent1">
                    <a:lumMod val="5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grpSp>
        <p:nvGrpSpPr>
          <p:cNvPr id="12" name="Group 11"/>
          <p:cNvGrpSpPr/>
          <p:nvPr/>
        </p:nvGrpSpPr>
        <p:grpSpPr>
          <a:xfrm>
            <a:off x="8522664" y="6255258"/>
            <a:ext cx="393192" cy="393192"/>
            <a:chOff x="8532189" y="5068824"/>
            <a:chExt cx="393192" cy="393192"/>
          </a:xfrm>
        </p:grpSpPr>
        <p:sp>
          <p:nvSpPr>
            <p:cNvPr id="13" name="Oval 12"/>
            <p:cNvSpPr>
              <a:spLocks noChangeAspect="1"/>
            </p:cNvSpPr>
            <p:nvPr/>
          </p:nvSpPr>
          <p:spPr>
            <a:xfrm>
              <a:off x="8532189" y="5068824"/>
              <a:ext cx="393192" cy="39319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4" name="Oval 13"/>
            <p:cNvSpPr>
              <a:spLocks noChangeAspect="1"/>
            </p:cNvSpPr>
            <p:nvPr/>
          </p:nvSpPr>
          <p:spPr>
            <a:xfrm>
              <a:off x="8568766" y="5105400"/>
              <a:ext cx="320039" cy="320040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</p:sp>
      </p:grp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8/4/2025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9222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6227806" y="1"/>
            <a:ext cx="2916194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12230" y="685800"/>
            <a:ext cx="2400300" cy="1737360"/>
          </a:xfrm>
        </p:spPr>
        <p:txBody>
          <a:bodyPr anchor="b">
            <a:normAutofit/>
          </a:bodyPr>
          <a:lstStyle>
            <a:lvl1pPr>
              <a:defRPr sz="2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6227805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12230" y="2423160"/>
            <a:ext cx="24003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350">
                <a:solidFill>
                  <a:schemeClr val="accent1">
                    <a:lumMod val="5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grpSp>
        <p:nvGrpSpPr>
          <p:cNvPr id="12" name="Group 11"/>
          <p:cNvGrpSpPr/>
          <p:nvPr/>
        </p:nvGrpSpPr>
        <p:grpSpPr>
          <a:xfrm>
            <a:off x="8522664" y="6255258"/>
            <a:ext cx="393192" cy="393192"/>
            <a:chOff x="8532189" y="5068824"/>
            <a:chExt cx="393192" cy="393192"/>
          </a:xfrm>
        </p:grpSpPr>
        <p:sp>
          <p:nvSpPr>
            <p:cNvPr id="13" name="Oval 12"/>
            <p:cNvSpPr>
              <a:spLocks noChangeAspect="1"/>
            </p:cNvSpPr>
            <p:nvPr/>
          </p:nvSpPr>
          <p:spPr>
            <a:xfrm>
              <a:off x="8532189" y="5068824"/>
              <a:ext cx="393192" cy="39319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4" name="Oval 13"/>
            <p:cNvSpPr>
              <a:spLocks noChangeAspect="1"/>
            </p:cNvSpPr>
            <p:nvPr/>
          </p:nvSpPr>
          <p:spPr>
            <a:xfrm>
              <a:off x="8568766" y="5105400"/>
              <a:ext cx="320039" cy="320040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</p:sp>
      </p:grp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8/4/2025</a:t>
            </a:fld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65192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85913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533400"/>
            <a:ext cx="1914525" cy="5638800"/>
          </a:xfrm>
        </p:spPr>
        <p:txBody>
          <a:bodyPr vert="eaVert"/>
          <a:lstStyle>
            <a:lvl1pPr>
              <a:defRPr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00100" y="533400"/>
            <a:ext cx="5629275" cy="5638800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74848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/>
          <p:cNvGrpSpPr/>
          <p:nvPr/>
        </p:nvGrpSpPr>
        <p:grpSpPr>
          <a:xfrm>
            <a:off x="8522664" y="6255258"/>
            <a:ext cx="393192" cy="393192"/>
            <a:chOff x="8532189" y="5068824"/>
            <a:chExt cx="393192" cy="393192"/>
          </a:xfrm>
        </p:grpSpPr>
        <p:sp>
          <p:nvSpPr>
            <p:cNvPr id="8" name="Oval 7"/>
            <p:cNvSpPr>
              <a:spLocks noChangeAspect="1"/>
            </p:cNvSpPr>
            <p:nvPr/>
          </p:nvSpPr>
          <p:spPr>
            <a:xfrm>
              <a:off x="8532189" y="5068824"/>
              <a:ext cx="393192" cy="393192"/>
            </a:xfrm>
            <a:prstGeom prst="ellipse">
              <a:avLst/>
            </a:prstGeom>
            <a:blipFill dpi="0" rotWithShape="1">
              <a:blip r:embed="rId1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14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9" name="Oval 8"/>
            <p:cNvSpPr>
              <a:spLocks noChangeAspect="1"/>
            </p:cNvSpPr>
            <p:nvPr/>
          </p:nvSpPr>
          <p:spPr>
            <a:xfrm>
              <a:off x="8568766" y="5105400"/>
              <a:ext cx="320039" cy="320040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0" y="484632"/>
            <a:ext cx="7772400" cy="1609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121408"/>
            <a:ext cx="7772400" cy="4050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992368" y="6272785"/>
            <a:ext cx="24551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272785"/>
            <a:ext cx="474573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483346" y="6272785"/>
            <a:ext cx="4800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 b="1" spc="-70" baseline="0">
                <a:solidFill>
                  <a:srgbClr val="FFFFFF"/>
                </a:solidFill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40683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8" r:id="rId1"/>
    <p:sldLayoutId id="2147483779" r:id="rId2"/>
    <p:sldLayoutId id="2147483780" r:id="rId3"/>
    <p:sldLayoutId id="2147483781" r:id="rId4"/>
    <p:sldLayoutId id="2147483782" r:id="rId5"/>
    <p:sldLayoutId id="2147483783" r:id="rId6"/>
    <p:sldLayoutId id="2147483784" r:id="rId7"/>
    <p:sldLayoutId id="2147483785" r:id="rId8"/>
    <p:sldLayoutId id="2147483786" r:id="rId9"/>
    <p:sldLayoutId id="2147483787" r:id="rId10"/>
    <p:sldLayoutId id="2147483788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200" b="0" kern="1200" cap="all" baseline="0">
          <a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tile tx="6350" ty="-127000" sx="65000" sy="64000" flip="none" algn="tl"/>
          </a:blip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Advanced Basic UNIX Commands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Essential commands for efficient UNIX/Linux usage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grep Command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Search for patterns in text</a:t>
            </a:r>
          </a:p>
          <a:p>
            <a:r>
              <a:t>Example:</a:t>
            </a:r>
          </a:p>
          <a:p>
            <a:r>
              <a:t>  grep "pattern" filename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find Command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Search for files and directories</a:t>
            </a:r>
          </a:p>
          <a:p>
            <a:r>
              <a:t>Example:</a:t>
            </a:r>
          </a:p>
          <a:p>
            <a:r>
              <a:t>  find /path -name "filename"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kill / killall Command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Terminate processes</a:t>
            </a:r>
          </a:p>
          <a:p>
            <a:r>
              <a:rPr dirty="0"/>
              <a:t>Examples:</a:t>
            </a:r>
          </a:p>
          <a:p>
            <a:r>
              <a:rPr dirty="0"/>
              <a:t>  kill PID</a:t>
            </a:r>
          </a:p>
          <a:p>
            <a:r>
              <a:rPr dirty="0"/>
              <a:t>  </a:t>
            </a:r>
            <a:r>
              <a:rPr dirty="0" err="1"/>
              <a:t>killall</a:t>
            </a:r>
            <a:r>
              <a:rPr dirty="0"/>
              <a:t> </a:t>
            </a:r>
            <a:r>
              <a:rPr dirty="0" err="1" smtClean="0"/>
              <a:t>processname</a:t>
            </a:r>
            <a:endParaRPr lang="en-IN" dirty="0" smtClean="0"/>
          </a:p>
          <a:p>
            <a:endParaRPr lang="en-IN" dirty="0"/>
          </a:p>
          <a:p>
            <a:endParaRPr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8459" y="3428999"/>
            <a:ext cx="2644369" cy="166892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tar Command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Archive and compress files</a:t>
            </a:r>
          </a:p>
          <a:p>
            <a:r>
              <a:rPr dirty="0"/>
              <a:t>Example:</a:t>
            </a:r>
          </a:p>
          <a:p>
            <a:r>
              <a:rPr dirty="0"/>
              <a:t>  tar -</a:t>
            </a:r>
            <a:r>
              <a:rPr dirty="0" err="1"/>
              <a:t>czvf</a:t>
            </a:r>
            <a:r>
              <a:rPr dirty="0"/>
              <a:t> archive.tar.gz </a:t>
            </a:r>
            <a:r>
              <a:rPr dirty="0" err="1"/>
              <a:t>foldername</a:t>
            </a:r>
            <a:r>
              <a:rPr dirty="0" smtClean="0"/>
              <a:t>/</a:t>
            </a:r>
            <a:endParaRPr lang="en-IN" dirty="0" smtClean="0"/>
          </a:p>
          <a:p>
            <a:endParaRPr lang="en-IN" dirty="0"/>
          </a:p>
          <a:p>
            <a:endParaRPr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762879"/>
            <a:ext cx="4016088" cy="163082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wget Command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Download files from the web</a:t>
            </a:r>
          </a:p>
          <a:p>
            <a:r>
              <a:t>Example:</a:t>
            </a:r>
          </a:p>
          <a:p>
            <a:r>
              <a:t>  wget http://example.com/file.txt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5267" y="2952521"/>
            <a:ext cx="3025402" cy="169940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df &amp; du Command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Check disk usage</a:t>
            </a:r>
          </a:p>
          <a:p>
            <a:r>
              <a:rPr dirty="0"/>
              <a:t>Examples:</a:t>
            </a:r>
          </a:p>
          <a:p>
            <a:r>
              <a:rPr dirty="0"/>
              <a:t>  </a:t>
            </a:r>
            <a:r>
              <a:rPr dirty="0" err="1"/>
              <a:t>df</a:t>
            </a:r>
            <a:r>
              <a:rPr dirty="0"/>
              <a:t> -h</a:t>
            </a:r>
          </a:p>
          <a:p>
            <a:r>
              <a:rPr dirty="0"/>
              <a:t>  du -</a:t>
            </a:r>
            <a:r>
              <a:rPr dirty="0" err="1"/>
              <a:t>sh</a:t>
            </a:r>
            <a:r>
              <a:rPr dirty="0"/>
              <a:t> </a:t>
            </a:r>
            <a:r>
              <a:rPr dirty="0" smtClean="0"/>
              <a:t>*</a:t>
            </a:r>
            <a:endParaRPr lang="en-IN" dirty="0" smtClean="0"/>
          </a:p>
          <a:p>
            <a:endParaRPr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8802" y="4212633"/>
            <a:ext cx="4359018" cy="141744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alias Command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Create command shortcuts</a:t>
            </a:r>
          </a:p>
          <a:p>
            <a:r>
              <a:rPr dirty="0"/>
              <a:t>Example:</a:t>
            </a:r>
          </a:p>
          <a:p>
            <a:r>
              <a:rPr dirty="0"/>
              <a:t>  alias </a:t>
            </a:r>
            <a:r>
              <a:rPr dirty="0" err="1"/>
              <a:t>ll</a:t>
            </a:r>
            <a:r>
              <a:rPr dirty="0"/>
              <a:t>='ls -</a:t>
            </a:r>
            <a:r>
              <a:rPr dirty="0" err="1"/>
              <a:t>alF</a:t>
            </a:r>
            <a:r>
              <a:rPr dirty="0" smtClean="0"/>
              <a:t>'</a:t>
            </a:r>
            <a:endParaRPr lang="en-IN" dirty="0" smtClean="0"/>
          </a:p>
          <a:p>
            <a:endParaRPr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3493" y="3317205"/>
            <a:ext cx="4221846" cy="1790855"/>
          </a:xfrm>
          <a:prstGeom prst="rect">
            <a:avLst/>
          </a:prstGeom>
        </p:spPr>
      </p:pic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Wood Type">
  <a:themeElements>
    <a:clrScheme name="Wood Type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Wood Type">
      <a:majorFont>
        <a:latin typeface="Rockwell Condensed" panose="02060603050405020104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微軟正黑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Rockwell" panose="02060603020205020403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Wood Type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hade val="63000"/>
              </a:schemeClr>
              <a:schemeClr val="phClr">
                <a:tint val="10000"/>
                <a:satMod val="150000"/>
              </a:schemeClr>
            </a:duotone>
          </a:blip>
          <a:tile tx="0" ty="0" sx="60000" sy="59000" flip="none" algn="tl"/>
        </a:blipFill>
        <a:blipFill rotWithShape="1">
          <a:blip xmlns:r="http://schemas.openxmlformats.org/officeDocument/2006/relationships" r:embed="rId1">
            <a:duotone>
              <a:schemeClr val="phClr">
                <a:shade val="36000"/>
                <a:satMod val="120000"/>
              </a:schemeClr>
              <a:schemeClr val="phClr">
                <a:tint val="40000"/>
              </a:schemeClr>
            </a:duotone>
          </a:blip>
          <a:tile tx="0" ty="0" sx="60000" sy="59000" flip="none" algn="tl"/>
        </a:blip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shade val="97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5000"/>
                <a:shade val="58000"/>
                <a:satMod val="120000"/>
              </a:schemeClr>
              <a:schemeClr val="phClr">
                <a:tint val="50000"/>
                <a:shade val="96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ood Type" id="{7ACABC62-BF99-48CF-A9DC-4DB89C7B13DC}" vid="{142A1326-48AB-42A9-8428-CB14AA30176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Wood Type</Template>
  <TotalTime>11</TotalTime>
  <Words>119</Words>
  <Application>Microsoft Office PowerPoint</Application>
  <PresentationFormat>On-screen Show (4:3)</PresentationFormat>
  <Paragraphs>32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Rockwell</vt:lpstr>
      <vt:lpstr>Rockwell Condensed</vt:lpstr>
      <vt:lpstr>Wingdings</vt:lpstr>
      <vt:lpstr>Wood Type</vt:lpstr>
      <vt:lpstr>Advanced Basic UNIX Commands</vt:lpstr>
      <vt:lpstr>grep Command</vt:lpstr>
      <vt:lpstr>find Command</vt:lpstr>
      <vt:lpstr>kill / killall Command</vt:lpstr>
      <vt:lpstr>tar Command</vt:lpstr>
      <vt:lpstr>wget Command</vt:lpstr>
      <vt:lpstr>df &amp; du Command</vt:lpstr>
      <vt:lpstr>alias Command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Advanced Basic UNIX Commands</dc:title>
  <dc:subject/>
  <dc:creator/>
  <cp:keywords/>
  <dc:description>generated using python-pptx</dc:description>
  <cp:lastModifiedBy>Tarun Agrawal</cp:lastModifiedBy>
  <cp:revision>2</cp:revision>
  <dcterms:created xsi:type="dcterms:W3CDTF">2013-01-27T09:14:16Z</dcterms:created>
  <dcterms:modified xsi:type="dcterms:W3CDTF">2025-08-04T14:14:24Z</dcterms:modified>
  <cp:category/>
</cp:coreProperties>
</file>